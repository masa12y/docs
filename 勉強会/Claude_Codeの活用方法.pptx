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86" r:id="rId2"/>
    <p:sldId id="289" r:id="rId3"/>
    <p:sldId id="258" r:id="rId4"/>
    <p:sldId id="259" r:id="rId5"/>
    <p:sldId id="287" r:id="rId6"/>
    <p:sldId id="261" r:id="rId7"/>
    <p:sldId id="281" r:id="rId8"/>
    <p:sldId id="262" r:id="rId9"/>
    <p:sldId id="263" r:id="rId10"/>
    <p:sldId id="264" r:id="rId11"/>
    <p:sldId id="282" r:id="rId12"/>
    <p:sldId id="266" r:id="rId13"/>
    <p:sldId id="280" r:id="rId14"/>
    <p:sldId id="267" r:id="rId15"/>
    <p:sldId id="268" r:id="rId16"/>
    <p:sldId id="269" r:id="rId17"/>
    <p:sldId id="283" r:id="rId18"/>
    <p:sldId id="271" r:id="rId19"/>
    <p:sldId id="272" r:id="rId20"/>
    <p:sldId id="273" r:id="rId21"/>
    <p:sldId id="274" r:id="rId22"/>
    <p:sldId id="275" r:id="rId23"/>
    <p:sldId id="276" r:id="rId24"/>
    <p:sldId id="277" r:id="rId25"/>
    <p:sldId id="284" r:id="rId26"/>
    <p:sldId id="285"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52"/>
    <p:restoredTop sz="94648"/>
  </p:normalViewPr>
  <p:slideViewPr>
    <p:cSldViewPr snapToGrid="0" snapToObjects="1">
      <p:cViewPr varScale="1">
        <p:scale>
          <a:sx n="107" d="100"/>
          <a:sy n="107" d="100"/>
        </p:scale>
        <p:origin x="640"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2464A5-CF00-2B4A-A840-72A2DCD4AF71}" type="datetimeFigureOut">
              <a:rPr kumimoji="1" lang="ja-JP" altLang="en-US" smtClean="0"/>
              <a:t>2026/8/23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E25507-1054-AB40-B7E3-6689F3D4D250}" type="slidenum">
              <a:rPr kumimoji="1" lang="ja-JP" altLang="en-US" smtClean="0"/>
              <a:t>‹#›</a:t>
            </a:fld>
            <a:endParaRPr kumimoji="1" lang="ja-JP" altLang="en-US"/>
          </a:p>
        </p:txBody>
      </p:sp>
    </p:spTree>
    <p:extLst>
      <p:ext uri="{BB962C8B-B14F-4D97-AF65-F5344CB8AC3E}">
        <p14:creationId xmlns:p14="http://schemas.microsoft.com/office/powerpoint/2010/main" val="139870767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10694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1920240"/>
            <a:ext cx="5486400" cy="365760"/>
          </a:xfrm>
          <a:prstGeom prst="rect">
            <a:avLst/>
          </a:prstGeom>
          <a:noFill/>
          <a:ln/>
        </p:spPr>
        <p:txBody>
          <a:bodyPr wrap="square" rtlCol="0" anchor="ctr"/>
          <a:lstStyle/>
          <a:p>
            <a:pPr marL="0" indent="0">
              <a:buNone/>
            </a:pPr>
            <a:r>
              <a:rPr lang="en-US" sz="1500" b="1" kern="0" spc="200" dirty="0" err="1">
                <a:solidFill>
                  <a:srgbClr val="C1613F"/>
                </a:solidFill>
                <a:latin typeface="Yu Gothic" pitchFamily="34" charset="0"/>
                <a:ea typeface="Yu Gothic" pitchFamily="34" charset="-122"/>
                <a:cs typeface="Yu Gothic" pitchFamily="34" charset="-120"/>
              </a:rPr>
              <a:t>勉強会</a:t>
            </a:r>
            <a:r>
              <a:rPr lang="en-US" sz="1500" b="1" kern="0" spc="200" dirty="0">
                <a:solidFill>
                  <a:srgbClr val="C1613F"/>
                </a:solidFill>
                <a:latin typeface="Yu Gothic" pitchFamily="34" charset="0"/>
                <a:ea typeface="Yu Gothic" pitchFamily="34" charset="-122"/>
                <a:cs typeface="Yu Gothic" pitchFamily="34" charset="-120"/>
              </a:rPr>
              <a:t> 発表資料</a:t>
            </a:r>
            <a:endParaRPr lang="en-US" sz="1500" dirty="0"/>
          </a:p>
        </p:txBody>
      </p:sp>
      <p:sp>
        <p:nvSpPr>
          <p:cNvPr id="3" name="Text 1"/>
          <p:cNvSpPr/>
          <p:nvPr/>
        </p:nvSpPr>
        <p:spPr>
          <a:xfrm>
            <a:off x="777240" y="2331720"/>
            <a:ext cx="10058400" cy="1554480"/>
          </a:xfrm>
          <a:prstGeom prst="rect">
            <a:avLst/>
          </a:prstGeom>
          <a:noFill/>
          <a:ln/>
        </p:spPr>
        <p:txBody>
          <a:bodyPr wrap="square" rtlCol="0" anchor="ctr"/>
          <a:lstStyle/>
          <a:p>
            <a:pPr marL="0" indent="0">
              <a:buNone/>
            </a:pPr>
            <a:r>
              <a:rPr lang="en-US" sz="5400" b="1" dirty="0">
                <a:solidFill>
                  <a:srgbClr val="3B322B"/>
                </a:solidFill>
                <a:latin typeface="Yu Gothic" pitchFamily="34" charset="0"/>
                <a:ea typeface="Yu Gothic" pitchFamily="34" charset="-122"/>
                <a:cs typeface="Yu Gothic" pitchFamily="34" charset="-120"/>
              </a:rPr>
              <a:t>Claude Codeの活用方法</a:t>
            </a:r>
            <a:endParaRPr lang="en-US" sz="5400" dirty="0"/>
          </a:p>
        </p:txBody>
      </p:sp>
      <p:sp>
        <p:nvSpPr>
          <p:cNvPr id="4" name="Text 2"/>
          <p:cNvSpPr/>
          <p:nvPr/>
        </p:nvSpPr>
        <p:spPr>
          <a:xfrm>
            <a:off x="822960" y="3749040"/>
            <a:ext cx="8686800" cy="548640"/>
          </a:xfrm>
          <a:prstGeom prst="rect">
            <a:avLst/>
          </a:prstGeom>
          <a:noFill/>
          <a:ln/>
        </p:spPr>
        <p:txBody>
          <a:bodyPr wrap="square" rtlCol="0" anchor="ctr"/>
          <a:lstStyle/>
          <a:p>
            <a:pPr marL="0" indent="0">
              <a:buNone/>
            </a:pPr>
            <a:r>
              <a:rPr lang="en-US" sz="2000" dirty="0">
                <a:solidFill>
                  <a:srgbClr val="8C8074"/>
                </a:solidFill>
                <a:latin typeface="Yu Gothic" pitchFamily="34" charset="0"/>
                <a:ea typeface="Yu Gothic" pitchFamily="34" charset="-122"/>
                <a:cs typeface="Yu Gothic" pitchFamily="34" charset="-120"/>
              </a:rPr>
              <a:t>〜使い始めた人が、次の一歩を踏み出すために〜</a:t>
            </a:r>
            <a:endParaRPr lang="en-US" sz="2000" dirty="0"/>
          </a:p>
        </p:txBody>
      </p:sp>
      <p:sp>
        <p:nvSpPr>
          <p:cNvPr id="5" name="Shape 3"/>
          <p:cNvSpPr/>
          <p:nvPr/>
        </p:nvSpPr>
        <p:spPr>
          <a:xfrm>
            <a:off x="822960" y="4434840"/>
            <a:ext cx="1097280" cy="0"/>
          </a:xfrm>
          <a:prstGeom prst="line">
            <a:avLst/>
          </a:prstGeom>
          <a:noFill/>
          <a:ln w="38100">
            <a:solidFill>
              <a:srgbClr val="C1613F"/>
            </a:solidFill>
            <a:prstDash val="solid"/>
          </a:ln>
        </p:spPr>
      </p:sp>
      <p:sp>
        <p:nvSpPr>
          <p:cNvPr id="6" name="Shape 4"/>
          <p:cNvSpPr/>
          <p:nvPr/>
        </p:nvSpPr>
        <p:spPr>
          <a:xfrm>
            <a:off x="10515600" y="548640"/>
            <a:ext cx="1371600" cy="1371600"/>
          </a:xfrm>
          <a:prstGeom prst="ellipse">
            <a:avLst/>
          </a:prstGeom>
          <a:solidFill>
            <a:srgbClr val="FBEEE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640080" y="1993392"/>
            <a:ext cx="54864" cy="548640"/>
          </a:xfrm>
          <a:prstGeom prst="rect">
            <a:avLst/>
          </a:prstGeom>
          <a:solidFill>
            <a:srgbClr val="C1613F"/>
          </a:solidFill>
          <a:ln/>
        </p:spPr>
      </p:sp>
      <p:sp>
        <p:nvSpPr>
          <p:cNvPr id="4" name="Text 2"/>
          <p:cNvSpPr/>
          <p:nvPr/>
        </p:nvSpPr>
        <p:spPr>
          <a:xfrm>
            <a:off x="914400" y="1965960"/>
            <a:ext cx="1828800" cy="594360"/>
          </a:xfrm>
          <a:prstGeom prst="rect">
            <a:avLst/>
          </a:prstGeom>
          <a:noFill/>
          <a:ln/>
        </p:spPr>
        <p:txBody>
          <a:bodyPr wrap="square" rtlCol="0" anchor="ctr"/>
          <a:lstStyle/>
          <a:p>
            <a:pPr marL="0" indent="0">
              <a:buNone/>
            </a:pPr>
            <a:r>
              <a:rPr lang="en-US" sz="1900" b="1" dirty="0">
                <a:solidFill>
                  <a:srgbClr val="C1613F"/>
                </a:solidFill>
                <a:latin typeface="Yu Gothic" pitchFamily="34" charset="0"/>
                <a:ea typeface="Yu Gothic" pitchFamily="34" charset="-122"/>
                <a:cs typeface="Yu Gothic" pitchFamily="34" charset="-120"/>
              </a:rPr>
              <a:t>対象</a:t>
            </a:r>
            <a:endParaRPr lang="en-US" sz="1900" dirty="0"/>
          </a:p>
        </p:txBody>
      </p:sp>
      <p:sp>
        <p:nvSpPr>
          <p:cNvPr id="5" name="Text 3"/>
          <p:cNvSpPr/>
          <p:nvPr/>
        </p:nvSpPr>
        <p:spPr>
          <a:xfrm>
            <a:off x="2834640" y="1965960"/>
            <a:ext cx="8503920" cy="594360"/>
          </a:xfrm>
          <a:prstGeom prst="rect">
            <a:avLst/>
          </a:prstGeom>
          <a:noFill/>
          <a:ln/>
        </p:spPr>
        <p:txBody>
          <a:bodyPr wrap="square" rtlCol="0" anchor="ctr"/>
          <a:lstStyle/>
          <a:p>
            <a:pPr marL="0" indent="0">
              <a:buNone/>
            </a:pPr>
            <a:r>
              <a:rPr lang="en-US" sz="1700" dirty="0">
                <a:solidFill>
                  <a:srgbClr val="3B322B"/>
                </a:solidFill>
                <a:latin typeface="Yu Gothic" pitchFamily="34" charset="0"/>
                <a:ea typeface="Yu Gothic" pitchFamily="34" charset="-122"/>
                <a:cs typeface="Yu Gothic" pitchFamily="34" charset="-120"/>
              </a:rPr>
              <a:t>Claude Codeを使い始めた人／活用に悩んでいる人</a:t>
            </a:r>
            <a:endParaRPr lang="en-US" sz="1700" dirty="0"/>
          </a:p>
        </p:txBody>
      </p:sp>
      <p:sp>
        <p:nvSpPr>
          <p:cNvPr id="6" name="Shape 4"/>
          <p:cNvSpPr/>
          <p:nvPr/>
        </p:nvSpPr>
        <p:spPr>
          <a:xfrm>
            <a:off x="640080" y="2880360"/>
            <a:ext cx="10881360" cy="0"/>
          </a:xfrm>
          <a:prstGeom prst="line">
            <a:avLst/>
          </a:prstGeom>
          <a:noFill/>
          <a:ln w="12700">
            <a:solidFill>
              <a:srgbClr val="E7E1DA"/>
            </a:solidFill>
            <a:prstDash val="solid"/>
          </a:ln>
        </p:spPr>
      </p:sp>
      <p:sp>
        <p:nvSpPr>
          <p:cNvPr id="7" name="Shape 5"/>
          <p:cNvSpPr/>
          <p:nvPr/>
        </p:nvSpPr>
        <p:spPr>
          <a:xfrm>
            <a:off x="640080" y="3227832"/>
            <a:ext cx="54864" cy="548640"/>
          </a:xfrm>
          <a:prstGeom prst="rect">
            <a:avLst/>
          </a:prstGeom>
          <a:solidFill>
            <a:srgbClr val="C1613F"/>
          </a:solidFill>
          <a:ln/>
        </p:spPr>
      </p:sp>
      <p:sp>
        <p:nvSpPr>
          <p:cNvPr id="8" name="Text 6"/>
          <p:cNvSpPr/>
          <p:nvPr/>
        </p:nvSpPr>
        <p:spPr>
          <a:xfrm>
            <a:off x="914400" y="3200400"/>
            <a:ext cx="1828800" cy="594360"/>
          </a:xfrm>
          <a:prstGeom prst="rect">
            <a:avLst/>
          </a:prstGeom>
          <a:noFill/>
          <a:ln/>
        </p:spPr>
        <p:txBody>
          <a:bodyPr wrap="square" rtlCol="0" anchor="ctr"/>
          <a:lstStyle/>
          <a:p>
            <a:pPr marL="0" indent="0">
              <a:buNone/>
            </a:pPr>
            <a:r>
              <a:rPr lang="en-US" sz="1900" b="1" dirty="0">
                <a:solidFill>
                  <a:srgbClr val="C1613F"/>
                </a:solidFill>
                <a:latin typeface="Yu Gothic" pitchFamily="34" charset="0"/>
                <a:ea typeface="Yu Gothic" pitchFamily="34" charset="-122"/>
                <a:cs typeface="Yu Gothic" pitchFamily="34" charset="-120"/>
              </a:rPr>
              <a:t>前提</a:t>
            </a:r>
            <a:endParaRPr lang="en-US" sz="1900" dirty="0"/>
          </a:p>
        </p:txBody>
      </p:sp>
      <p:sp>
        <p:nvSpPr>
          <p:cNvPr id="9" name="Text 7"/>
          <p:cNvSpPr/>
          <p:nvPr/>
        </p:nvSpPr>
        <p:spPr>
          <a:xfrm>
            <a:off x="2834640" y="3200400"/>
            <a:ext cx="8503920" cy="594360"/>
          </a:xfrm>
          <a:prstGeom prst="rect">
            <a:avLst/>
          </a:prstGeom>
          <a:noFill/>
          <a:ln/>
        </p:spPr>
        <p:txBody>
          <a:bodyPr wrap="square" rtlCol="0" anchor="ctr"/>
          <a:lstStyle/>
          <a:p>
            <a:pPr>
              <a:spcAft>
                <a:spcPts val="700"/>
              </a:spcAft>
              <a:buSzPct val="100000"/>
            </a:pPr>
            <a:r>
              <a:rPr lang="en-US" altLang="ja-JP" dirty="0">
                <a:solidFill>
                  <a:srgbClr val="3B322B"/>
                </a:solidFill>
                <a:latin typeface="Yu Gothic" pitchFamily="34" charset="0"/>
                <a:ea typeface="Yu Gothic" pitchFamily="34" charset="-122"/>
                <a:cs typeface="Yu Gothic" pitchFamily="34" charset="-120"/>
              </a:rPr>
              <a:t>Claude Code </a:t>
            </a:r>
            <a:r>
              <a:rPr lang="en-US" altLang="ja-JP" dirty="0" err="1">
                <a:solidFill>
                  <a:srgbClr val="3B322B"/>
                </a:solidFill>
                <a:latin typeface="Yu Gothic" pitchFamily="34" charset="0"/>
                <a:ea typeface="Yu Gothic" pitchFamily="34" charset="-122"/>
                <a:cs typeface="Yu Gothic" pitchFamily="34" charset="-120"/>
              </a:rPr>
              <a:t>CLIの基本操作は経験がある前提で進めます</a:t>
            </a:r>
            <a:endParaRPr lang="en-US" altLang="ja-JP" dirty="0"/>
          </a:p>
        </p:txBody>
      </p:sp>
      <p:sp>
        <p:nvSpPr>
          <p:cNvPr id="10" name="Shape 8"/>
          <p:cNvSpPr/>
          <p:nvPr/>
        </p:nvSpPr>
        <p:spPr>
          <a:xfrm>
            <a:off x="640080" y="4114800"/>
            <a:ext cx="10881360" cy="0"/>
          </a:xfrm>
          <a:prstGeom prst="line">
            <a:avLst/>
          </a:prstGeom>
          <a:noFill/>
          <a:ln w="12700">
            <a:solidFill>
              <a:srgbClr val="E7E1DA"/>
            </a:solidFill>
            <a:prstDash val="solid"/>
          </a:ln>
        </p:spPr>
      </p:sp>
      <p:sp>
        <p:nvSpPr>
          <p:cNvPr id="16" name="TextBox 1">
            <a:extLst>
              <a:ext uri="{FF2B5EF4-FFF2-40B4-BE49-F238E27FC236}">
                <a16:creationId xmlns:a16="http://schemas.microsoft.com/office/drawing/2014/main" id="{D4700B7F-9B8B-ECC3-293F-52ED45A16610}"/>
              </a:ext>
            </a:extLst>
          </p:cNvPr>
          <p:cNvSpPr txBox="1"/>
          <p:nvPr/>
        </p:nvSpPr>
        <p:spPr>
          <a:xfrm>
            <a:off x="640080" y="530352"/>
            <a:ext cx="11064240" cy="584775"/>
          </a:xfrm>
          <a:prstGeom prst="rect">
            <a:avLst/>
          </a:prstGeom>
        </p:spPr>
        <p:txBody>
          <a:bodyPr wrap="square">
            <a:spAutoFit/>
          </a:bodyPr>
          <a:lstStyle/>
          <a:p>
            <a:r>
              <a:rPr lang="ja-JP" altLang="en-US" sz="3200" b="1">
                <a:solidFill>
                  <a:srgbClr val="3B322B"/>
                </a:solidFill>
                <a:latin typeface="Yu Gothic" pitchFamily="34" charset="0"/>
                <a:ea typeface="Yu Gothic" pitchFamily="34" charset="-122"/>
              </a:rPr>
              <a:t>対象と前提</a:t>
            </a:r>
            <a:endParaRPr lang="en-US" altLang="ja-JP" sz="3200" dirty="0"/>
          </a:p>
        </p:txBody>
      </p:sp>
      <p:sp>
        <p:nvSpPr>
          <p:cNvPr id="17" name="Rectangle 2">
            <a:extLst>
              <a:ext uri="{FF2B5EF4-FFF2-40B4-BE49-F238E27FC236}">
                <a16:creationId xmlns:a16="http://schemas.microsoft.com/office/drawing/2014/main" id="{CA1751B2-4867-64EF-BC4A-6C0629F9D040}"/>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76656" y="1481328"/>
            <a:ext cx="10881360" cy="1017907"/>
          </a:xfrm>
          <a:prstGeom prst="rect">
            <a:avLst/>
          </a:prstGeom>
          <a:noFill/>
        </p:spPr>
        <p:txBody>
          <a:bodyPr wrap="square">
            <a:spAutoFit/>
          </a:bodyPr>
          <a:lstStyle/>
          <a:p>
            <a:pPr marL="274320" indent="0">
              <a:lnSpc>
                <a:spcPct val="113000"/>
              </a:lnSpc>
              <a:spcAft>
                <a:spcPts val="350"/>
              </a:spcAft>
            </a:pPr>
            <a:r>
              <a:rPr lang="en-US" altLang="ja-JP" sz="1600" dirty="0">
                <a:latin typeface="Yu Gothic"/>
                <a:ea typeface="Yu Gothic"/>
                <a:cs typeface="Yu Gothic"/>
              </a:rPr>
              <a:t>•</a:t>
            </a:r>
            <a:r>
              <a:rPr sz="1550" b="0" dirty="0">
                <a:solidFill>
                  <a:srgbClr val="2E74B5"/>
                </a:solidFill>
                <a:latin typeface="Yu Gothic"/>
                <a:ea typeface="Yu Gothic"/>
                <a:cs typeface="Yu Gothic"/>
              </a:rPr>
              <a:t> </a:t>
            </a:r>
            <a:r>
              <a:rPr sz="1550" b="0" dirty="0" err="1">
                <a:solidFill>
                  <a:srgbClr val="404040"/>
                </a:solidFill>
                <a:latin typeface="Yu Gothic"/>
                <a:ea typeface="Yu Gothic"/>
                <a:cs typeface="Yu Gothic"/>
              </a:rPr>
              <a:t>名前</a:t>
            </a:r>
            <a:r>
              <a:rPr sz="1550" b="0" dirty="0">
                <a:solidFill>
                  <a:srgbClr val="404040"/>
                </a:solidFill>
                <a:latin typeface="Yu Gothic"/>
                <a:ea typeface="Yu Gothic"/>
                <a:cs typeface="Yu Gothic"/>
              </a:rPr>
              <a:t>：</a:t>
            </a:r>
          </a:p>
          <a:p>
            <a:pPr marL="274320" indent="0">
              <a:lnSpc>
                <a:spcPct val="113000"/>
              </a:lnSpc>
              <a:spcAft>
                <a:spcPts val="350"/>
              </a:spcAft>
            </a:pPr>
            <a:r>
              <a:rPr lang="en-US" altLang="ja-JP" sz="1600" dirty="0">
                <a:latin typeface="Yu Gothic"/>
                <a:ea typeface="Yu Gothic"/>
                <a:cs typeface="Yu Gothic"/>
              </a:rPr>
              <a:t>•</a:t>
            </a:r>
            <a:r>
              <a:rPr sz="1550" b="0" dirty="0">
                <a:solidFill>
                  <a:srgbClr val="2E74B5"/>
                </a:solidFill>
                <a:latin typeface="Yu Gothic"/>
                <a:ea typeface="Yu Gothic"/>
                <a:cs typeface="Yu Gothic"/>
              </a:rPr>
              <a:t> </a:t>
            </a:r>
            <a:r>
              <a:rPr sz="1550" b="0" dirty="0" err="1">
                <a:solidFill>
                  <a:srgbClr val="404040"/>
                </a:solidFill>
                <a:latin typeface="Yu Gothic"/>
                <a:ea typeface="Yu Gothic"/>
                <a:cs typeface="Yu Gothic"/>
              </a:rPr>
              <a:t>所属／役割</a:t>
            </a:r>
            <a:r>
              <a:rPr sz="1550" b="0" dirty="0">
                <a:solidFill>
                  <a:srgbClr val="404040"/>
                </a:solidFill>
                <a:latin typeface="Yu Gothic"/>
                <a:ea typeface="Yu Gothic"/>
                <a:cs typeface="Yu Gothic"/>
              </a:rPr>
              <a:t>：</a:t>
            </a:r>
          </a:p>
          <a:p>
            <a:pPr marL="274320" indent="0">
              <a:lnSpc>
                <a:spcPct val="113000"/>
              </a:lnSpc>
              <a:spcAft>
                <a:spcPts val="350"/>
              </a:spcAft>
            </a:pPr>
            <a:r>
              <a:rPr lang="en-US" altLang="ja-JP" sz="1600" dirty="0">
                <a:latin typeface="Yu Gothic"/>
                <a:ea typeface="Yu Gothic"/>
                <a:cs typeface="Yu Gothic"/>
              </a:rPr>
              <a:t>•</a:t>
            </a:r>
            <a:r>
              <a:rPr sz="1550" b="0" dirty="0">
                <a:solidFill>
                  <a:srgbClr val="2E74B5"/>
                </a:solidFill>
                <a:latin typeface="Yu Gothic"/>
                <a:ea typeface="Yu Gothic"/>
                <a:cs typeface="Yu Gothic"/>
              </a:rPr>
              <a:t> </a:t>
            </a:r>
            <a:r>
              <a:rPr sz="1550" b="0" dirty="0">
                <a:solidFill>
                  <a:srgbClr val="404040"/>
                </a:solidFill>
                <a:latin typeface="Yu Gothic"/>
                <a:ea typeface="Yu Gothic"/>
                <a:cs typeface="Yu Gothic"/>
              </a:rPr>
              <a:t>Claude </a:t>
            </a:r>
            <a:r>
              <a:rPr sz="1550" b="0" dirty="0" err="1">
                <a:solidFill>
                  <a:srgbClr val="404040"/>
                </a:solidFill>
                <a:latin typeface="Yu Gothic"/>
                <a:ea typeface="Yu Gothic"/>
                <a:cs typeface="Yu Gothic"/>
              </a:rPr>
              <a:t>Codeの利用歴・普段の使い方</a:t>
            </a:r>
            <a:r>
              <a:rPr sz="1550" b="0" dirty="0">
                <a:solidFill>
                  <a:srgbClr val="404040"/>
                </a:solidFill>
                <a:latin typeface="Yu Gothic"/>
                <a:ea typeface="Yu Gothic"/>
                <a:cs typeface="Yu Gothic"/>
              </a:rPr>
              <a:t>：（</a:t>
            </a:r>
            <a:r>
              <a:rPr sz="1550" b="0" dirty="0" err="1">
                <a:solidFill>
                  <a:srgbClr val="404040"/>
                </a:solidFill>
                <a:latin typeface="Yu Gothic"/>
                <a:ea typeface="Yu Gothic"/>
                <a:cs typeface="Yu Gothic"/>
              </a:rPr>
              <a:t>一言</a:t>
            </a:r>
            <a:r>
              <a:rPr sz="1550" b="0" dirty="0">
                <a:solidFill>
                  <a:srgbClr val="404040"/>
                </a:solidFill>
                <a:latin typeface="Yu Gothic"/>
                <a:ea typeface="Yu Gothic"/>
                <a:cs typeface="Yu Gothic"/>
              </a:rPr>
              <a:t>）</a:t>
            </a:r>
          </a:p>
        </p:txBody>
      </p:sp>
      <p:sp>
        <p:nvSpPr>
          <p:cNvPr id="9" name="TextBox 1">
            <a:extLst>
              <a:ext uri="{FF2B5EF4-FFF2-40B4-BE49-F238E27FC236}">
                <a16:creationId xmlns:a16="http://schemas.microsoft.com/office/drawing/2014/main" id="{71198215-9604-3967-203A-4014C69489EB}"/>
              </a:ext>
            </a:extLst>
          </p:cNvPr>
          <p:cNvSpPr txBox="1"/>
          <p:nvPr/>
        </p:nvSpPr>
        <p:spPr>
          <a:xfrm>
            <a:off x="640080" y="530352"/>
            <a:ext cx="11064240" cy="584775"/>
          </a:xfrm>
          <a:prstGeom prst="rect">
            <a:avLst/>
          </a:prstGeom>
        </p:spPr>
        <p:txBody>
          <a:bodyPr wrap="square">
            <a:spAutoFit/>
          </a:bodyPr>
          <a:lstStyle/>
          <a:p>
            <a:r>
              <a:rPr lang="ja-JP" altLang="en-US" sz="3200" b="1">
                <a:solidFill>
                  <a:srgbClr val="3B322B"/>
                </a:solidFill>
                <a:latin typeface="Yu Gothic" pitchFamily="34" charset="0"/>
                <a:ea typeface="Yu Gothic" pitchFamily="34" charset="-122"/>
                <a:cs typeface="Yu Gothic" pitchFamily="34" charset="-120"/>
              </a:rPr>
              <a:t>自己紹介</a:t>
            </a:r>
            <a:endParaRPr lang="en-US" altLang="ja-JP"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530352"/>
            <a:ext cx="11064240" cy="584775"/>
          </a:xfrm>
          <a:prstGeom prst="rect">
            <a:avLst/>
          </a:prstGeom>
          <a:noFill/>
        </p:spPr>
        <p:txBody>
          <a:bodyPr wrap="square">
            <a:spAutoFit/>
          </a:bodyPr>
          <a:lstStyle/>
          <a:p>
            <a:r>
              <a:rPr sz="3200" b="1" dirty="0" err="1">
                <a:latin typeface="Yu Gothic" panose="020B0400000000000000" pitchFamily="34" charset="-128"/>
                <a:ea typeface="Yu Gothic" panose="020B0400000000000000" pitchFamily="34" charset="-128"/>
                <a:cs typeface="Meiryo"/>
              </a:rPr>
              <a:t>今日話すこと</a:t>
            </a:r>
            <a:endParaRPr sz="3200" b="1" dirty="0">
              <a:latin typeface="Yu Gothic" panose="020B0400000000000000" pitchFamily="34" charset="-128"/>
              <a:ea typeface="Yu Gothic" panose="020B0400000000000000" pitchFamily="34" charset="-128"/>
              <a:cs typeface="Meiryo"/>
            </a:endParaRPr>
          </a:p>
        </p:txBody>
      </p:sp>
      <p:sp>
        <p:nvSpPr>
          <p:cNvPr id="3" name="Rectangle 2"/>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1025" y="1486797"/>
            <a:ext cx="10881360" cy="1485150"/>
          </a:xfrm>
          <a:prstGeom prst="rect">
            <a:avLst/>
          </a:prstGeom>
          <a:noFill/>
        </p:spPr>
        <p:txBody>
          <a:bodyPr wrap="square">
            <a:spAutoFit/>
          </a:bodyPr>
          <a:lstStyle/>
          <a:p>
            <a:pPr marL="274320" indent="0">
              <a:lnSpc>
                <a:spcPct val="113000"/>
              </a:lnSpc>
              <a:spcAft>
                <a:spcPts val="350"/>
              </a:spcAft>
            </a:pP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を使っていく中で、多くの人が最初にぶつかる壁</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指示は明確に書いているのに、思ったような結果にならない</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毎回同じ説明をし直している</a:t>
            </a:r>
          </a:p>
          <a:p>
            <a:pPr marL="548640" indent="0">
              <a:lnSpc>
                <a:spcPct val="113000"/>
              </a:lnSpc>
              <a:spcAft>
                <a:spcPts val="350"/>
              </a:spcAft>
            </a:pPr>
            <a:r>
              <a:rPr lang="en-US" altLang="ja-JP" dirty="0">
                <a:latin typeface="Yu Gothic"/>
                <a:ea typeface="Yu Gothic"/>
                <a:cs typeface="Yu Gothic"/>
              </a:rPr>
              <a:t>•</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長い作業をさせると、途中で崩れる</a:t>
            </a:r>
          </a:p>
        </p:txBody>
      </p:sp>
      <p:sp>
        <p:nvSpPr>
          <p:cNvPr id="15" name="Text 4">
            <a:extLst>
              <a:ext uri="{FF2B5EF4-FFF2-40B4-BE49-F238E27FC236}">
                <a16:creationId xmlns:a16="http://schemas.microsoft.com/office/drawing/2014/main" id="{752695C4-80CD-B6E0-0DAC-B9287F346F84}"/>
              </a:ext>
            </a:extLst>
          </p:cNvPr>
          <p:cNvSpPr/>
          <p:nvPr/>
        </p:nvSpPr>
        <p:spPr>
          <a:xfrm>
            <a:off x="640080" y="3188998"/>
            <a:ext cx="10881360" cy="365760"/>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その壁を越えるための工夫を、4つの観点に分けて紹介します</a:t>
            </a:r>
            <a:endParaRPr lang="en-US" sz="1800" dirty="0"/>
          </a:p>
        </p:txBody>
      </p:sp>
      <p:sp>
        <p:nvSpPr>
          <p:cNvPr id="16" name="Shape 5">
            <a:extLst>
              <a:ext uri="{FF2B5EF4-FFF2-40B4-BE49-F238E27FC236}">
                <a16:creationId xmlns:a16="http://schemas.microsoft.com/office/drawing/2014/main" id="{13D2AA17-745E-24C2-73EF-C31CAC641928}"/>
              </a:ext>
            </a:extLst>
          </p:cNvPr>
          <p:cNvSpPr/>
          <p:nvPr/>
        </p:nvSpPr>
        <p:spPr>
          <a:xfrm>
            <a:off x="640080" y="3701062"/>
            <a:ext cx="5160422" cy="1328138"/>
          </a:xfrm>
          <a:prstGeom prst="roundRect">
            <a:avLst>
              <a:gd name="adj" fmla="val 4651"/>
            </a:avLst>
          </a:prstGeom>
          <a:solidFill>
            <a:srgbClr val="FFFFFF"/>
          </a:solidFill>
          <a:ln w="15240">
            <a:solidFill>
              <a:srgbClr val="E7E1DA"/>
            </a:solidFill>
            <a:prstDash val="solid"/>
          </a:ln>
        </p:spPr>
      </p:sp>
      <p:sp>
        <p:nvSpPr>
          <p:cNvPr id="17" name="Text 6">
            <a:extLst>
              <a:ext uri="{FF2B5EF4-FFF2-40B4-BE49-F238E27FC236}">
                <a16:creationId xmlns:a16="http://schemas.microsoft.com/office/drawing/2014/main" id="{891DA474-C986-0418-0639-47D702379420}"/>
              </a:ext>
            </a:extLst>
          </p:cNvPr>
          <p:cNvSpPr/>
          <p:nvPr/>
        </p:nvSpPr>
        <p:spPr>
          <a:xfrm>
            <a:off x="868680" y="3847366"/>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01</a:t>
            </a:r>
            <a:endParaRPr lang="en-US" sz="4400" dirty="0"/>
          </a:p>
        </p:txBody>
      </p:sp>
      <p:sp>
        <p:nvSpPr>
          <p:cNvPr id="18" name="Text 7">
            <a:extLst>
              <a:ext uri="{FF2B5EF4-FFF2-40B4-BE49-F238E27FC236}">
                <a16:creationId xmlns:a16="http://schemas.microsoft.com/office/drawing/2014/main" id="{5365E0EE-8213-0601-43A8-979E9476471C}"/>
              </a:ext>
            </a:extLst>
          </p:cNvPr>
          <p:cNvSpPr/>
          <p:nvPr/>
        </p:nvSpPr>
        <p:spPr>
          <a:xfrm>
            <a:off x="2057401" y="3701062"/>
            <a:ext cx="345873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コンテキストをどう渡し、</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維持するか</a:t>
            </a:r>
            <a:endParaRPr lang="en-US" sz="1700" dirty="0"/>
          </a:p>
        </p:txBody>
      </p:sp>
      <p:sp>
        <p:nvSpPr>
          <p:cNvPr id="19" name="Shape 8">
            <a:extLst>
              <a:ext uri="{FF2B5EF4-FFF2-40B4-BE49-F238E27FC236}">
                <a16:creationId xmlns:a16="http://schemas.microsoft.com/office/drawing/2014/main" id="{638B75F0-3942-0AA7-2DF0-E819C3B129F3}"/>
              </a:ext>
            </a:extLst>
          </p:cNvPr>
          <p:cNvSpPr/>
          <p:nvPr/>
        </p:nvSpPr>
        <p:spPr>
          <a:xfrm>
            <a:off x="6263640" y="3701062"/>
            <a:ext cx="5160422" cy="1328138"/>
          </a:xfrm>
          <a:prstGeom prst="roundRect">
            <a:avLst>
              <a:gd name="adj" fmla="val 4651"/>
            </a:avLst>
          </a:prstGeom>
          <a:solidFill>
            <a:srgbClr val="FFFFFF"/>
          </a:solidFill>
          <a:ln w="15240">
            <a:solidFill>
              <a:srgbClr val="E7E1DA"/>
            </a:solidFill>
            <a:prstDash val="solid"/>
          </a:ln>
        </p:spPr>
      </p:sp>
      <p:sp>
        <p:nvSpPr>
          <p:cNvPr id="20" name="Text 9">
            <a:extLst>
              <a:ext uri="{FF2B5EF4-FFF2-40B4-BE49-F238E27FC236}">
                <a16:creationId xmlns:a16="http://schemas.microsoft.com/office/drawing/2014/main" id="{21E2398F-1F0E-1A39-86FA-9E9BA9FCDEC3}"/>
              </a:ext>
            </a:extLst>
          </p:cNvPr>
          <p:cNvSpPr/>
          <p:nvPr/>
        </p:nvSpPr>
        <p:spPr>
          <a:xfrm>
            <a:off x="6492240" y="3847366"/>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02</a:t>
            </a:r>
            <a:endParaRPr lang="en-US" sz="4400" dirty="0"/>
          </a:p>
        </p:txBody>
      </p:sp>
      <p:sp>
        <p:nvSpPr>
          <p:cNvPr id="21" name="Text 10">
            <a:extLst>
              <a:ext uri="{FF2B5EF4-FFF2-40B4-BE49-F238E27FC236}">
                <a16:creationId xmlns:a16="http://schemas.microsoft.com/office/drawing/2014/main" id="{6D822906-63C8-1CAB-ED93-5A22AF7071AA}"/>
              </a:ext>
            </a:extLst>
          </p:cNvPr>
          <p:cNvSpPr/>
          <p:nvPr/>
        </p:nvSpPr>
        <p:spPr>
          <a:xfrm>
            <a:off x="7680960" y="3701062"/>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環境・道具として</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何を整えるか</a:t>
            </a:r>
            <a:endParaRPr lang="en-US" sz="1700" dirty="0"/>
          </a:p>
        </p:txBody>
      </p:sp>
      <p:sp>
        <p:nvSpPr>
          <p:cNvPr id="22" name="Shape 11">
            <a:extLst>
              <a:ext uri="{FF2B5EF4-FFF2-40B4-BE49-F238E27FC236}">
                <a16:creationId xmlns:a16="http://schemas.microsoft.com/office/drawing/2014/main" id="{0E962AB3-31F9-2180-C238-3EC51D18FC90}"/>
              </a:ext>
            </a:extLst>
          </p:cNvPr>
          <p:cNvSpPr/>
          <p:nvPr/>
        </p:nvSpPr>
        <p:spPr>
          <a:xfrm>
            <a:off x="640080" y="5161730"/>
            <a:ext cx="5160422" cy="1328138"/>
          </a:xfrm>
          <a:prstGeom prst="roundRect">
            <a:avLst>
              <a:gd name="adj" fmla="val 4651"/>
            </a:avLst>
          </a:prstGeom>
          <a:solidFill>
            <a:srgbClr val="FFFFFF"/>
          </a:solidFill>
          <a:ln w="15240">
            <a:solidFill>
              <a:srgbClr val="E7E1DA"/>
            </a:solidFill>
            <a:prstDash val="solid"/>
          </a:ln>
        </p:spPr>
      </p:sp>
      <p:sp>
        <p:nvSpPr>
          <p:cNvPr id="23" name="Text 12">
            <a:extLst>
              <a:ext uri="{FF2B5EF4-FFF2-40B4-BE49-F238E27FC236}">
                <a16:creationId xmlns:a16="http://schemas.microsoft.com/office/drawing/2014/main" id="{9585E573-25EE-77B8-D411-273C93FCF014}"/>
              </a:ext>
            </a:extLst>
          </p:cNvPr>
          <p:cNvSpPr/>
          <p:nvPr/>
        </p:nvSpPr>
        <p:spPr>
          <a:xfrm>
            <a:off x="868680" y="5308034"/>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03</a:t>
            </a:r>
            <a:endParaRPr lang="en-US" sz="4400" dirty="0"/>
          </a:p>
        </p:txBody>
      </p:sp>
      <p:sp>
        <p:nvSpPr>
          <p:cNvPr id="24" name="Text 13">
            <a:extLst>
              <a:ext uri="{FF2B5EF4-FFF2-40B4-BE49-F238E27FC236}">
                <a16:creationId xmlns:a16="http://schemas.microsoft.com/office/drawing/2014/main" id="{FF2DA397-6D99-2604-A1FC-BAF8DADAE6C0}"/>
              </a:ext>
            </a:extLst>
          </p:cNvPr>
          <p:cNvSpPr/>
          <p:nvPr/>
        </p:nvSpPr>
        <p:spPr>
          <a:xfrm>
            <a:off x="2057400" y="5161730"/>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検証のループを</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どう回すか</a:t>
            </a:r>
            <a:endParaRPr lang="en-US" sz="1700" dirty="0"/>
          </a:p>
        </p:txBody>
      </p:sp>
      <p:sp>
        <p:nvSpPr>
          <p:cNvPr id="25" name="Shape 14">
            <a:extLst>
              <a:ext uri="{FF2B5EF4-FFF2-40B4-BE49-F238E27FC236}">
                <a16:creationId xmlns:a16="http://schemas.microsoft.com/office/drawing/2014/main" id="{FE3470B9-92A1-9B74-828B-6520BE166AF9}"/>
              </a:ext>
            </a:extLst>
          </p:cNvPr>
          <p:cNvSpPr/>
          <p:nvPr/>
        </p:nvSpPr>
        <p:spPr>
          <a:xfrm>
            <a:off x="6263640" y="5161730"/>
            <a:ext cx="5160422" cy="1328138"/>
          </a:xfrm>
          <a:prstGeom prst="roundRect">
            <a:avLst>
              <a:gd name="adj" fmla="val 4651"/>
            </a:avLst>
          </a:prstGeom>
          <a:solidFill>
            <a:srgbClr val="FFFFFF"/>
          </a:solidFill>
          <a:ln w="15240">
            <a:solidFill>
              <a:srgbClr val="E7E1DA"/>
            </a:solidFill>
            <a:prstDash val="solid"/>
          </a:ln>
        </p:spPr>
      </p:sp>
      <p:sp>
        <p:nvSpPr>
          <p:cNvPr id="26" name="Text 15">
            <a:extLst>
              <a:ext uri="{FF2B5EF4-FFF2-40B4-BE49-F238E27FC236}">
                <a16:creationId xmlns:a16="http://schemas.microsoft.com/office/drawing/2014/main" id="{43F38E34-D341-0231-D65F-65081DFD8C75}"/>
              </a:ext>
            </a:extLst>
          </p:cNvPr>
          <p:cNvSpPr/>
          <p:nvPr/>
        </p:nvSpPr>
        <p:spPr>
          <a:xfrm>
            <a:off x="6492240" y="5308034"/>
            <a:ext cx="987211" cy="772173"/>
          </a:xfrm>
          <a:prstGeom prst="rect">
            <a:avLst/>
          </a:prstGeom>
          <a:noFill/>
          <a:ln/>
        </p:spPr>
        <p:txBody>
          <a:bodyPr wrap="square" rtlCol="0" anchor="ctr"/>
          <a:lstStyle/>
          <a:p>
            <a:pPr marL="0" indent="0">
              <a:buNone/>
            </a:pPr>
            <a:r>
              <a:rPr lang="en-US" sz="4400" b="1" dirty="0">
                <a:solidFill>
                  <a:srgbClr val="C1613F"/>
                </a:solidFill>
                <a:latin typeface="Yu Gothic" pitchFamily="34" charset="0"/>
                <a:ea typeface="Yu Gothic" pitchFamily="34" charset="-122"/>
                <a:cs typeface="Yu Gothic" pitchFamily="34" charset="-120"/>
              </a:rPr>
              <a:t>04</a:t>
            </a:r>
            <a:endParaRPr lang="en-US" sz="4400" dirty="0"/>
          </a:p>
        </p:txBody>
      </p:sp>
      <p:sp>
        <p:nvSpPr>
          <p:cNvPr id="27" name="Text 16">
            <a:extLst>
              <a:ext uri="{FF2B5EF4-FFF2-40B4-BE49-F238E27FC236}">
                <a16:creationId xmlns:a16="http://schemas.microsoft.com/office/drawing/2014/main" id="{B584DBC3-97D6-8694-FB8F-1FFE73B95B12}"/>
              </a:ext>
            </a:extLst>
          </p:cNvPr>
          <p:cNvSpPr/>
          <p:nvPr/>
        </p:nvSpPr>
        <p:spPr>
          <a:xfrm>
            <a:off x="7680960" y="5161730"/>
            <a:ext cx="3544986" cy="1328138"/>
          </a:xfrm>
          <a:prstGeom prst="rect">
            <a:avLst/>
          </a:prstGeom>
          <a:noFill/>
          <a:ln/>
        </p:spPr>
        <p:txBody>
          <a:bodyPr wrap="square" rtlCol="0" anchor="ctr"/>
          <a:lstStyle/>
          <a:p>
            <a:pPr marL="0" indent="0">
              <a:buNone/>
            </a:pPr>
            <a:r>
              <a:rPr lang="en-US" sz="1700" b="1" dirty="0">
                <a:solidFill>
                  <a:srgbClr val="3B322B"/>
                </a:solidFill>
                <a:latin typeface="Yu Gothic" pitchFamily="34" charset="0"/>
                <a:ea typeface="Yu Gothic" pitchFamily="34" charset="-122"/>
                <a:cs typeface="Yu Gothic" pitchFamily="34" charset="-120"/>
              </a:rPr>
              <a:t>セッションを超えて</a:t>
            </a:r>
            <a:endParaRPr lang="en-US" sz="1700" dirty="0"/>
          </a:p>
          <a:p>
            <a:pPr marL="0" indent="0">
              <a:buNone/>
            </a:pPr>
            <a:r>
              <a:rPr lang="en-US" sz="1700" b="1" dirty="0">
                <a:solidFill>
                  <a:srgbClr val="3B322B"/>
                </a:solidFill>
                <a:latin typeface="Yu Gothic" pitchFamily="34" charset="0"/>
                <a:ea typeface="Yu Gothic" pitchFamily="34" charset="-122"/>
                <a:cs typeface="Yu Gothic" pitchFamily="34" charset="-120"/>
              </a:rPr>
              <a:t>どう設計するか</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502920"/>
            <a:ext cx="7315200" cy="731520"/>
          </a:xfrm>
          <a:prstGeom prst="rect">
            <a:avLst/>
          </a:prstGeom>
          <a:noFill/>
          <a:ln/>
        </p:spPr>
        <p:txBody>
          <a:bodyPr wrap="square" rtlCol="0" anchor="ctr"/>
          <a:lstStyle/>
          <a:p>
            <a:pPr marL="0" indent="0">
              <a:buNone/>
            </a:pPr>
            <a:r>
              <a:rPr lang="en-US" sz="3200" b="1" dirty="0">
                <a:solidFill>
                  <a:srgbClr val="3B322B"/>
                </a:solidFill>
                <a:latin typeface="Yu Gothic" pitchFamily="34" charset="0"/>
                <a:ea typeface="Yu Gothic" pitchFamily="34" charset="-122"/>
                <a:cs typeface="Yu Gothic" pitchFamily="34" charset="-120"/>
              </a:rPr>
              <a:t>本題に入る前に</a:t>
            </a:r>
            <a:endParaRPr lang="en-US" sz="3200" dirty="0"/>
          </a:p>
        </p:txBody>
      </p:sp>
      <p:sp>
        <p:nvSpPr>
          <p:cNvPr id="3" name="Shape 1"/>
          <p:cNvSpPr/>
          <p:nvPr/>
        </p:nvSpPr>
        <p:spPr>
          <a:xfrm>
            <a:off x="640080" y="1828800"/>
            <a:ext cx="10881360" cy="3657600"/>
          </a:xfrm>
          <a:prstGeom prst="roundRect">
            <a:avLst>
              <a:gd name="adj" fmla="val 2500"/>
            </a:avLst>
          </a:prstGeom>
          <a:solidFill>
            <a:srgbClr val="FBEEE7"/>
          </a:solidFill>
          <a:ln/>
        </p:spPr>
      </p:sp>
      <p:sp>
        <p:nvSpPr>
          <p:cNvPr id="4" name="Text 2"/>
          <p:cNvSpPr/>
          <p:nvPr/>
        </p:nvSpPr>
        <p:spPr>
          <a:xfrm>
            <a:off x="914400" y="1691640"/>
            <a:ext cx="1097280" cy="1097280"/>
          </a:xfrm>
          <a:prstGeom prst="rect">
            <a:avLst/>
          </a:prstGeom>
          <a:noFill/>
          <a:ln/>
        </p:spPr>
        <p:txBody>
          <a:bodyPr wrap="square" rtlCol="0" anchor="ctr"/>
          <a:lstStyle/>
          <a:p>
            <a:pPr marL="0" indent="0">
              <a:buNone/>
            </a:pPr>
            <a:r>
              <a:rPr lang="en-US" sz="9000" b="1" dirty="0">
                <a:solidFill>
                  <a:srgbClr val="C1613F"/>
                </a:solidFill>
                <a:latin typeface="Yu Gothic" pitchFamily="34" charset="0"/>
                <a:ea typeface="Yu Gothic" pitchFamily="34" charset="-122"/>
                <a:cs typeface="Yu Gothic" pitchFamily="34" charset="-120"/>
              </a:rPr>
              <a:t>“</a:t>
            </a:r>
            <a:endParaRPr lang="en-US" sz="9000" dirty="0"/>
          </a:p>
        </p:txBody>
      </p:sp>
      <p:sp>
        <p:nvSpPr>
          <p:cNvPr id="5" name="Text 3"/>
          <p:cNvSpPr/>
          <p:nvPr/>
        </p:nvSpPr>
        <p:spPr>
          <a:xfrm>
            <a:off x="1371600" y="2240280"/>
            <a:ext cx="9601200" cy="2834640"/>
          </a:xfrm>
          <a:prstGeom prst="rect">
            <a:avLst/>
          </a:prstGeom>
          <a:noFill/>
          <a:ln/>
        </p:spPr>
        <p:txBody>
          <a:bodyPr wrap="square" rtlCol="0" anchor="t"/>
          <a:lstStyle/>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ここで話す内容がすべて正しいとは限りません。あくまで私が実践している内容の紹介です</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AI活用は日々アップデートされているので、最新の情報は公式ドキュメント等で確認してください</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a:p>
            <a:pPr>
              <a:spcAft>
                <a:spcPts val="2400"/>
              </a:spcAft>
              <a:buSzPct val="100000"/>
            </a:pPr>
            <a:r>
              <a:rPr lang="en-US" altLang="ja-JP" dirty="0">
                <a:latin typeface="Yu Gothic" panose="020B0400000000000000" pitchFamily="34" charset="-128"/>
                <a:ea typeface="Yu Gothic" panose="020B0400000000000000" pitchFamily="34" charset="-128"/>
                <a:cs typeface="Yu Gothic"/>
              </a:rPr>
              <a:t>• </a:t>
            </a:r>
            <a:r>
              <a:rPr lang="en-US" altLang="ja-JP" dirty="0" err="1">
                <a:solidFill>
                  <a:srgbClr val="3B322B"/>
                </a:solidFill>
                <a:latin typeface="Yu Gothic" panose="020B0400000000000000" pitchFamily="34" charset="-128"/>
                <a:ea typeface="Yu Gothic" panose="020B0400000000000000" pitchFamily="34" charset="-128"/>
                <a:cs typeface="Yu Gothic" pitchFamily="34" charset="-120"/>
              </a:rPr>
              <a:t>何か一つでも、皆さんのヒントになる部分があれば嬉しいです</a:t>
            </a:r>
            <a:r>
              <a:rPr lang="en-US" altLang="ja-JP" dirty="0">
                <a:solidFill>
                  <a:srgbClr val="3B322B"/>
                </a:solidFill>
                <a:latin typeface="Yu Gothic" panose="020B0400000000000000" pitchFamily="34" charset="-128"/>
                <a:ea typeface="Yu Gothic" panose="020B0400000000000000" pitchFamily="34" charset="-128"/>
                <a:cs typeface="Yu Gothic" pitchFamily="34" charset="-120"/>
              </a:rPr>
              <a:t>。</a:t>
            </a:r>
            <a:endParaRPr lang="en-US" altLang="ja-JP" dirty="0">
              <a:latin typeface="Yu Gothic" panose="020B0400000000000000" pitchFamily="34" charset="-128"/>
              <a:ea typeface="Yu Gothic" panose="020B0400000000000000" pitchFamily="34" charset="-128"/>
            </a:endParaRPr>
          </a:p>
        </p:txBody>
      </p:sp>
      <p:sp>
        <p:nvSpPr>
          <p:cNvPr id="8" name="Rectangle 3">
            <a:extLst>
              <a:ext uri="{FF2B5EF4-FFF2-40B4-BE49-F238E27FC236}">
                <a16:creationId xmlns:a16="http://schemas.microsoft.com/office/drawing/2014/main" id="{83F94C17-B737-89A1-3ACA-8D7C67ED1E82}"/>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40080" y="1309250"/>
            <a:ext cx="10881360" cy="365760"/>
          </a:xfrm>
          <a:prstGeom prst="rect">
            <a:avLst/>
          </a:prstGeom>
          <a:noFill/>
          <a:ln/>
        </p:spPr>
        <p:txBody>
          <a:bodyPr wrap="square" rtlCol="0" anchor="ctr"/>
          <a:lstStyle/>
          <a:p>
            <a:pPr marL="0" indent="0">
              <a:buNone/>
            </a:pPr>
            <a:r>
              <a:rPr lang="en-US" dirty="0">
                <a:latin typeface="Yu Gothic" pitchFamily="34" charset="0"/>
                <a:ea typeface="Yu Gothic" pitchFamily="34" charset="-122"/>
                <a:cs typeface="Yu Gothic" pitchFamily="34" charset="-120"/>
              </a:rPr>
              <a:t>このあと繰り返し出てくる基本用語を、先に簡単に整理しておきます</a:t>
            </a:r>
            <a:endParaRPr lang="en-US" dirty="0"/>
          </a:p>
        </p:txBody>
      </p:sp>
      <p:sp>
        <p:nvSpPr>
          <p:cNvPr id="4" name="Shape 2"/>
          <p:cNvSpPr/>
          <p:nvPr/>
        </p:nvSpPr>
        <p:spPr>
          <a:xfrm>
            <a:off x="640080" y="1798515"/>
            <a:ext cx="3413760" cy="2240280"/>
          </a:xfrm>
          <a:prstGeom prst="roundRect">
            <a:avLst>
              <a:gd name="adj" fmla="val 3265"/>
            </a:avLst>
          </a:prstGeom>
          <a:solidFill>
            <a:srgbClr val="FFFFFF"/>
          </a:solidFill>
          <a:ln w="15240">
            <a:solidFill>
              <a:srgbClr val="E7E1DA"/>
            </a:solidFill>
            <a:prstDash val="solid"/>
          </a:ln>
        </p:spPr>
      </p:sp>
      <p:sp>
        <p:nvSpPr>
          <p:cNvPr id="5" name="Shape 3"/>
          <p:cNvSpPr/>
          <p:nvPr/>
        </p:nvSpPr>
        <p:spPr>
          <a:xfrm>
            <a:off x="868680" y="2027115"/>
            <a:ext cx="54864" cy="292608"/>
          </a:xfrm>
          <a:prstGeom prst="rect">
            <a:avLst/>
          </a:prstGeom>
          <a:solidFill>
            <a:srgbClr val="C1613F"/>
          </a:solidFill>
          <a:ln/>
        </p:spPr>
      </p:sp>
      <p:sp>
        <p:nvSpPr>
          <p:cNvPr id="6" name="Text 4"/>
          <p:cNvSpPr/>
          <p:nvPr/>
        </p:nvSpPr>
        <p:spPr>
          <a:xfrm>
            <a:off x="10515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トークン</a:t>
            </a:r>
            <a:endParaRPr lang="en-US" sz="1800" dirty="0"/>
          </a:p>
        </p:txBody>
      </p:sp>
      <p:sp>
        <p:nvSpPr>
          <p:cNvPr id="7" name="Text 5"/>
          <p:cNvSpPr/>
          <p:nvPr/>
        </p:nvSpPr>
        <p:spPr>
          <a:xfrm>
            <a:off x="8686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AIがテキストを処理する際の最小単位。文章の長さや処理コストの目安になる</a:t>
            </a:r>
            <a:endParaRPr lang="en-US" sz="1600" dirty="0"/>
          </a:p>
        </p:txBody>
      </p:sp>
      <p:sp>
        <p:nvSpPr>
          <p:cNvPr id="8" name="Shape 6"/>
          <p:cNvSpPr/>
          <p:nvPr/>
        </p:nvSpPr>
        <p:spPr>
          <a:xfrm>
            <a:off x="4373880" y="1798515"/>
            <a:ext cx="3413760" cy="2240280"/>
          </a:xfrm>
          <a:prstGeom prst="roundRect">
            <a:avLst>
              <a:gd name="adj" fmla="val 3265"/>
            </a:avLst>
          </a:prstGeom>
          <a:solidFill>
            <a:srgbClr val="FFFFFF"/>
          </a:solidFill>
          <a:ln w="15240">
            <a:solidFill>
              <a:srgbClr val="E7E1DA"/>
            </a:solidFill>
            <a:prstDash val="solid"/>
          </a:ln>
        </p:spPr>
      </p:sp>
      <p:sp>
        <p:nvSpPr>
          <p:cNvPr id="9" name="Shape 7"/>
          <p:cNvSpPr/>
          <p:nvPr/>
        </p:nvSpPr>
        <p:spPr>
          <a:xfrm>
            <a:off x="4602480" y="2027115"/>
            <a:ext cx="54864" cy="292608"/>
          </a:xfrm>
          <a:prstGeom prst="rect">
            <a:avLst/>
          </a:prstGeom>
          <a:solidFill>
            <a:srgbClr val="C1613F"/>
          </a:solidFill>
          <a:ln/>
        </p:spPr>
      </p:sp>
      <p:sp>
        <p:nvSpPr>
          <p:cNvPr id="10" name="Text 8"/>
          <p:cNvSpPr/>
          <p:nvPr/>
        </p:nvSpPr>
        <p:spPr>
          <a:xfrm>
            <a:off x="47853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コンテキスト</a:t>
            </a:r>
            <a:endParaRPr lang="en-US" sz="1800" dirty="0"/>
          </a:p>
        </p:txBody>
      </p:sp>
      <p:sp>
        <p:nvSpPr>
          <p:cNvPr id="11" name="Text 9"/>
          <p:cNvSpPr/>
          <p:nvPr/>
        </p:nvSpPr>
        <p:spPr>
          <a:xfrm>
            <a:off x="46024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AIが会話の中で保持している、文脈・指示・履歴などの情報全体のこと</a:t>
            </a:r>
            <a:endParaRPr lang="en-US" sz="1600" dirty="0"/>
          </a:p>
        </p:txBody>
      </p:sp>
      <p:sp>
        <p:nvSpPr>
          <p:cNvPr id="12" name="Shape 10"/>
          <p:cNvSpPr/>
          <p:nvPr/>
        </p:nvSpPr>
        <p:spPr>
          <a:xfrm>
            <a:off x="8107680" y="1798515"/>
            <a:ext cx="3413760" cy="2240280"/>
          </a:xfrm>
          <a:prstGeom prst="roundRect">
            <a:avLst>
              <a:gd name="adj" fmla="val 3265"/>
            </a:avLst>
          </a:prstGeom>
          <a:solidFill>
            <a:srgbClr val="FFFFFF"/>
          </a:solidFill>
          <a:ln w="15240">
            <a:solidFill>
              <a:srgbClr val="E7E1DA"/>
            </a:solidFill>
            <a:prstDash val="solid"/>
          </a:ln>
        </p:spPr>
      </p:sp>
      <p:sp>
        <p:nvSpPr>
          <p:cNvPr id="13" name="Shape 11"/>
          <p:cNvSpPr/>
          <p:nvPr/>
        </p:nvSpPr>
        <p:spPr>
          <a:xfrm>
            <a:off x="8336280" y="2027115"/>
            <a:ext cx="54864" cy="292608"/>
          </a:xfrm>
          <a:prstGeom prst="rect">
            <a:avLst/>
          </a:prstGeom>
          <a:solidFill>
            <a:srgbClr val="C1613F"/>
          </a:solidFill>
          <a:ln/>
        </p:spPr>
      </p:sp>
      <p:sp>
        <p:nvSpPr>
          <p:cNvPr id="14" name="Text 12"/>
          <p:cNvSpPr/>
          <p:nvPr/>
        </p:nvSpPr>
        <p:spPr>
          <a:xfrm>
            <a:off x="8519160" y="1981395"/>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セッション</a:t>
            </a:r>
            <a:endParaRPr lang="en-US" sz="1800" dirty="0"/>
          </a:p>
        </p:txBody>
      </p:sp>
      <p:sp>
        <p:nvSpPr>
          <p:cNvPr id="15" name="Text 13"/>
          <p:cNvSpPr/>
          <p:nvPr/>
        </p:nvSpPr>
        <p:spPr>
          <a:xfrm>
            <a:off x="8336280" y="2456883"/>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Claude Codeとの一連の会話・作業のまとまり。区切ると文脈がリセットされる</a:t>
            </a:r>
            <a:endParaRPr lang="en-US" sz="1600" dirty="0"/>
          </a:p>
        </p:txBody>
      </p:sp>
      <p:sp>
        <p:nvSpPr>
          <p:cNvPr id="16" name="Shape 14"/>
          <p:cNvSpPr/>
          <p:nvPr/>
        </p:nvSpPr>
        <p:spPr>
          <a:xfrm>
            <a:off x="640080" y="4206240"/>
            <a:ext cx="3413760" cy="2240280"/>
          </a:xfrm>
          <a:prstGeom prst="roundRect">
            <a:avLst>
              <a:gd name="adj" fmla="val 3265"/>
            </a:avLst>
          </a:prstGeom>
          <a:solidFill>
            <a:srgbClr val="FFFFFF"/>
          </a:solidFill>
          <a:ln w="15240">
            <a:solidFill>
              <a:srgbClr val="E7E1DA"/>
            </a:solidFill>
            <a:prstDash val="solid"/>
          </a:ln>
        </p:spPr>
      </p:sp>
      <p:sp>
        <p:nvSpPr>
          <p:cNvPr id="17" name="Shape 15"/>
          <p:cNvSpPr/>
          <p:nvPr/>
        </p:nvSpPr>
        <p:spPr>
          <a:xfrm>
            <a:off x="868680" y="4434840"/>
            <a:ext cx="54864" cy="292608"/>
          </a:xfrm>
          <a:prstGeom prst="rect">
            <a:avLst/>
          </a:prstGeom>
          <a:solidFill>
            <a:srgbClr val="C1613F"/>
          </a:solidFill>
          <a:ln/>
        </p:spPr>
      </p:sp>
      <p:sp>
        <p:nvSpPr>
          <p:cNvPr id="18" name="Text 16"/>
          <p:cNvSpPr/>
          <p:nvPr/>
        </p:nvSpPr>
        <p:spPr>
          <a:xfrm>
            <a:off x="10515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システムプロンプト</a:t>
            </a:r>
            <a:endParaRPr lang="en-US" sz="1800" dirty="0"/>
          </a:p>
        </p:txBody>
      </p:sp>
      <p:sp>
        <p:nvSpPr>
          <p:cNvPr id="19" name="Text 17"/>
          <p:cNvSpPr/>
          <p:nvPr/>
        </p:nvSpPr>
        <p:spPr>
          <a:xfrm>
            <a:off x="868680" y="4864608"/>
            <a:ext cx="2956560" cy="1371600"/>
          </a:xfrm>
          <a:prstGeom prst="rect">
            <a:avLst/>
          </a:prstGeom>
          <a:noFill/>
          <a:ln/>
        </p:spPr>
        <p:txBody>
          <a:bodyPr wrap="square" rtlCol="0" anchor="t"/>
          <a:lstStyle/>
          <a:p>
            <a:r>
              <a:rPr lang="en-US" altLang="ja-JP" sz="1600" dirty="0" err="1">
                <a:latin typeface="Yu Gothic" pitchFamily="34" charset="0"/>
                <a:ea typeface="Yu Gothic" pitchFamily="34" charset="-122"/>
                <a:cs typeface="Yu Gothic" pitchFamily="34" charset="-120"/>
              </a:rPr>
              <a:t>個別の指示（ユーザプロンプト）より前に、AIの役割や振る舞いの土台として与える基本指示</a:t>
            </a:r>
            <a:endParaRPr lang="en-US" altLang="ja-JP" sz="1600" dirty="0"/>
          </a:p>
        </p:txBody>
      </p:sp>
      <p:sp>
        <p:nvSpPr>
          <p:cNvPr id="20" name="Shape 18"/>
          <p:cNvSpPr/>
          <p:nvPr/>
        </p:nvSpPr>
        <p:spPr>
          <a:xfrm>
            <a:off x="4373880" y="4206240"/>
            <a:ext cx="3413760" cy="2240280"/>
          </a:xfrm>
          <a:prstGeom prst="roundRect">
            <a:avLst>
              <a:gd name="adj" fmla="val 3265"/>
            </a:avLst>
          </a:prstGeom>
          <a:solidFill>
            <a:srgbClr val="FFFFFF"/>
          </a:solidFill>
          <a:ln w="15240">
            <a:solidFill>
              <a:srgbClr val="E7E1DA"/>
            </a:solidFill>
            <a:prstDash val="solid"/>
          </a:ln>
        </p:spPr>
      </p:sp>
      <p:sp>
        <p:nvSpPr>
          <p:cNvPr id="21" name="Shape 19"/>
          <p:cNvSpPr/>
          <p:nvPr/>
        </p:nvSpPr>
        <p:spPr>
          <a:xfrm>
            <a:off x="4602480" y="4434840"/>
            <a:ext cx="54864" cy="292608"/>
          </a:xfrm>
          <a:prstGeom prst="rect">
            <a:avLst/>
          </a:prstGeom>
          <a:solidFill>
            <a:srgbClr val="C1613F"/>
          </a:solidFill>
          <a:ln/>
        </p:spPr>
      </p:sp>
      <p:sp>
        <p:nvSpPr>
          <p:cNvPr id="22" name="Text 20"/>
          <p:cNvSpPr/>
          <p:nvPr/>
        </p:nvSpPr>
        <p:spPr>
          <a:xfrm>
            <a:off x="47853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スキル</a:t>
            </a:r>
            <a:endParaRPr lang="en-US" sz="1800" dirty="0"/>
          </a:p>
        </p:txBody>
      </p:sp>
      <p:sp>
        <p:nvSpPr>
          <p:cNvPr id="23" name="Text 21"/>
          <p:cNvSpPr/>
          <p:nvPr/>
        </p:nvSpPr>
        <p:spPr>
          <a:xfrm>
            <a:off x="4602480" y="4864608"/>
            <a:ext cx="2956560" cy="1371600"/>
          </a:xfrm>
          <a:prstGeom prst="rect">
            <a:avLst/>
          </a:prstGeom>
          <a:noFill/>
          <a:ln/>
        </p:spPr>
        <p:txBody>
          <a:bodyPr wrap="square" rtlCol="0" anchor="t"/>
          <a:lstStyle/>
          <a:p>
            <a:pPr marL="0" indent="0">
              <a:buNone/>
            </a:pPr>
            <a:r>
              <a:rPr lang="en-US" sz="1600" dirty="0">
                <a:latin typeface="Yu Gothic" pitchFamily="34" charset="0"/>
                <a:ea typeface="Yu Gothic" pitchFamily="34" charset="-122"/>
                <a:cs typeface="Yu Gothic" pitchFamily="34" charset="-120"/>
              </a:rPr>
              <a:t>定型的な作業手順をまとめ、繰り返し呼び出せるようにしたもの</a:t>
            </a:r>
            <a:endParaRPr lang="en-US" sz="1600" dirty="0"/>
          </a:p>
        </p:txBody>
      </p:sp>
      <p:sp>
        <p:nvSpPr>
          <p:cNvPr id="24" name="Shape 22"/>
          <p:cNvSpPr/>
          <p:nvPr/>
        </p:nvSpPr>
        <p:spPr>
          <a:xfrm>
            <a:off x="8107680" y="4206240"/>
            <a:ext cx="3413760" cy="2240280"/>
          </a:xfrm>
          <a:prstGeom prst="roundRect">
            <a:avLst>
              <a:gd name="adj" fmla="val 3265"/>
            </a:avLst>
          </a:prstGeom>
          <a:solidFill>
            <a:srgbClr val="FFFFFF"/>
          </a:solidFill>
          <a:ln w="15240">
            <a:solidFill>
              <a:srgbClr val="E7E1DA"/>
            </a:solidFill>
            <a:prstDash val="solid"/>
          </a:ln>
        </p:spPr>
      </p:sp>
      <p:sp>
        <p:nvSpPr>
          <p:cNvPr id="25" name="Shape 23"/>
          <p:cNvSpPr/>
          <p:nvPr/>
        </p:nvSpPr>
        <p:spPr>
          <a:xfrm>
            <a:off x="8336280" y="4434840"/>
            <a:ext cx="54864" cy="292608"/>
          </a:xfrm>
          <a:prstGeom prst="rect">
            <a:avLst/>
          </a:prstGeom>
          <a:solidFill>
            <a:srgbClr val="C1613F"/>
          </a:solidFill>
          <a:ln/>
        </p:spPr>
      </p:sp>
      <p:sp>
        <p:nvSpPr>
          <p:cNvPr id="26" name="Text 24"/>
          <p:cNvSpPr/>
          <p:nvPr/>
        </p:nvSpPr>
        <p:spPr>
          <a:xfrm>
            <a:off x="8519160" y="4389120"/>
            <a:ext cx="2819400" cy="384048"/>
          </a:xfrm>
          <a:prstGeom prst="rect">
            <a:avLst/>
          </a:prstGeom>
          <a:noFill/>
          <a:ln/>
        </p:spPr>
        <p:txBody>
          <a:bodyPr wrap="square" rtlCol="0" anchor="ctr"/>
          <a:lstStyle/>
          <a:p>
            <a:pPr marL="0" indent="0">
              <a:buNone/>
            </a:pPr>
            <a:r>
              <a:rPr lang="en-US" sz="1800" b="1" dirty="0">
                <a:solidFill>
                  <a:srgbClr val="3B322B"/>
                </a:solidFill>
                <a:latin typeface="Yu Gothic" pitchFamily="34" charset="0"/>
                <a:ea typeface="Yu Gothic" pitchFamily="34" charset="-122"/>
                <a:cs typeface="Yu Gothic" pitchFamily="34" charset="-120"/>
              </a:rPr>
              <a:t>サブエージェント</a:t>
            </a:r>
            <a:endParaRPr lang="en-US" sz="1800" dirty="0"/>
          </a:p>
        </p:txBody>
      </p:sp>
      <p:sp>
        <p:nvSpPr>
          <p:cNvPr id="27" name="Text 25"/>
          <p:cNvSpPr/>
          <p:nvPr/>
        </p:nvSpPr>
        <p:spPr>
          <a:xfrm>
            <a:off x="8336280" y="4864608"/>
            <a:ext cx="2956560" cy="1371600"/>
          </a:xfrm>
          <a:prstGeom prst="rect">
            <a:avLst/>
          </a:prstGeom>
          <a:noFill/>
          <a:ln/>
        </p:spPr>
        <p:txBody>
          <a:bodyPr wrap="square" rtlCol="0" anchor="t"/>
          <a:lstStyle/>
          <a:p>
            <a:pPr marL="0" indent="0">
              <a:buNone/>
            </a:pPr>
            <a:r>
              <a:rPr lang="en-US" sz="1600" dirty="0" err="1">
                <a:latin typeface="Yu Gothic" pitchFamily="34" charset="0"/>
                <a:ea typeface="Yu Gothic" pitchFamily="34" charset="-122"/>
                <a:cs typeface="Yu Gothic" pitchFamily="34" charset="-120"/>
              </a:rPr>
              <a:t>メインの会話から呼び出され、独立して特定の作業を実行するAIエージェント</a:t>
            </a:r>
            <a:endParaRPr lang="en-US" sz="1600" dirty="0"/>
          </a:p>
        </p:txBody>
      </p:sp>
      <p:sp>
        <p:nvSpPr>
          <p:cNvPr id="29" name="Text 27"/>
          <p:cNvSpPr/>
          <p:nvPr/>
        </p:nvSpPr>
        <p:spPr>
          <a:xfrm>
            <a:off x="11277295" y="6510528"/>
            <a:ext cx="457200" cy="274320"/>
          </a:xfrm>
          <a:prstGeom prst="rect">
            <a:avLst/>
          </a:prstGeom>
          <a:noFill/>
          <a:ln/>
        </p:spPr>
        <p:txBody>
          <a:bodyPr wrap="square" rtlCol="0" anchor="ctr"/>
          <a:lstStyle/>
          <a:p>
            <a:pPr marL="0" indent="0" algn="r">
              <a:buNone/>
            </a:pPr>
            <a:r>
              <a:rPr lang="en-US" sz="1000" dirty="0">
                <a:solidFill>
                  <a:srgbClr val="8C8074"/>
                </a:solidFill>
                <a:latin typeface="Yu Gothic" pitchFamily="34" charset="0"/>
                <a:ea typeface="Yu Gothic" pitchFamily="34" charset="-122"/>
                <a:cs typeface="Yu Gothic" pitchFamily="34" charset="-120"/>
              </a:rPr>
              <a:t>6</a:t>
            </a:r>
            <a:endParaRPr lang="en-US" sz="1000" dirty="0"/>
          </a:p>
        </p:txBody>
      </p:sp>
      <p:sp>
        <p:nvSpPr>
          <p:cNvPr id="30" name="Text 0">
            <a:extLst>
              <a:ext uri="{FF2B5EF4-FFF2-40B4-BE49-F238E27FC236}">
                <a16:creationId xmlns:a16="http://schemas.microsoft.com/office/drawing/2014/main" id="{7D274965-4FBD-544A-9A32-BC95E79681EF}"/>
              </a:ext>
            </a:extLst>
          </p:cNvPr>
          <p:cNvSpPr/>
          <p:nvPr/>
        </p:nvSpPr>
        <p:spPr>
          <a:xfrm>
            <a:off x="640080" y="502920"/>
            <a:ext cx="7315200" cy="731520"/>
          </a:xfrm>
          <a:prstGeom prst="rect">
            <a:avLst/>
          </a:prstGeom>
          <a:noFill/>
          <a:ln/>
        </p:spPr>
        <p:txBody>
          <a:bodyPr wrap="square" rtlCol="0" anchor="ctr"/>
          <a:lstStyle/>
          <a:p>
            <a:pPr marL="0" indent="0">
              <a:buNone/>
            </a:pPr>
            <a:r>
              <a:rPr lang="en-US" sz="3200" b="1" dirty="0" err="1">
                <a:solidFill>
                  <a:srgbClr val="3B322B"/>
                </a:solidFill>
                <a:latin typeface="Yu Gothic" pitchFamily="34" charset="0"/>
                <a:ea typeface="Yu Gothic" pitchFamily="34" charset="-122"/>
              </a:rPr>
              <a:t>用語の確認</a:t>
            </a:r>
            <a:endParaRPr lang="en-US" sz="3200" dirty="0"/>
          </a:p>
        </p:txBody>
      </p:sp>
      <p:sp>
        <p:nvSpPr>
          <p:cNvPr id="31" name="Rectangle 3">
            <a:extLst>
              <a:ext uri="{FF2B5EF4-FFF2-40B4-BE49-F238E27FC236}">
                <a16:creationId xmlns:a16="http://schemas.microsoft.com/office/drawing/2014/main" id="{C86A4A49-C887-3C25-4F11-969BA6FE2EB5}"/>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01</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コンテキストをどう渡し、維持するか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毎回同じようなプロンプトを入力している／コンテキストが肥大化すると意図が薄れる／会話はセッションが終われば消えてしまう。</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ここでは「情報をどう渡し、どう持たせ続けるか」という工夫を3つ紹介します。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①〜③</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① </a:t>
            </a:r>
            <a:r>
              <a:rPr sz="3200" b="1" dirty="0" err="1">
                <a:latin typeface="Yu Gothic" panose="020B0400000000000000" pitchFamily="34" charset="-128"/>
                <a:ea typeface="Yu Gothic" panose="020B0400000000000000" pitchFamily="34" charset="-128"/>
                <a:cs typeface="Meiryo"/>
              </a:rPr>
              <a:t>作業の単位でセッションを分ける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69453"/>
            <a:ext cx="10881360" cy="4592411"/>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つのセッションで作業し続けると、コンテキストが圧迫し出力の質が下がっていく</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会話が長くなるほど、古い情報と新しい情報が混在し、指示の意図が薄れていく</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調査、設計、実装、レビューなど、作業の単位ごとにセッションを明確に分ける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clear </a:t>
            </a:r>
            <a:r>
              <a:rPr lang="ja-JP" altLang="en-US">
                <a:solidFill>
                  <a:srgbClr val="404040"/>
                </a:solidFill>
                <a:latin typeface="Yu Gothic"/>
                <a:ea typeface="Yu Gothic"/>
                <a:cs typeface="Yu Gothic"/>
              </a:rPr>
              <a:t>コマンドを使う</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新しくセッションを開き直す</a:t>
            </a:r>
          </a:p>
          <a:p>
            <a:pPr>
              <a:lnSpc>
                <a:spcPct val="110000"/>
              </a:lnSpc>
              <a:spcBef>
                <a:spcPts val="0"/>
              </a:spcBef>
              <a:spcAft>
                <a:spcPts val="300"/>
              </a:spcAft>
            </a:pPr>
            <a:endParaRPr lang="ja-JP" altLang="en-US">
              <a:solidFill>
                <a:srgbClr val="595959"/>
              </a:solidFill>
              <a:latin typeface="Yu Gothic" panose="020B0400000000000000" pitchFamily="34" charset="-128"/>
              <a:ea typeface="Yu Gothic" panose="020B0400000000000000" pitchFamily="34" charset="-128"/>
              <a:cs typeface="Meiryo"/>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a:lnSpc>
                <a:spcPct val="110000"/>
              </a:lnSpc>
              <a:spcAft>
                <a:spcPts val="300"/>
              </a:spcAft>
            </a:pPr>
            <a:r>
              <a:rPr lang="ja-JP" altLang="en-US">
                <a:solidFill>
                  <a:srgbClr val="2E74B5"/>
                </a:solidFill>
                <a:latin typeface="Yu Gothic"/>
                <a:ea typeface="Yu Gothic"/>
                <a:cs typeface="Yu Gothic"/>
              </a:rPr>
              <a:t>   </a:t>
            </a: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セッション＝</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目的」を意識するだけで出力の安定感が大きく変わる</a:t>
            </a:r>
          </a:p>
          <a:p>
            <a:pPr>
              <a:lnSpc>
                <a:spcPct val="110000"/>
              </a:lnSpc>
              <a:spcAft>
                <a:spcPts val="300"/>
              </a:spcAft>
            </a:pPr>
            <a:r>
              <a:rPr lang="ja-JP" altLang="en-US">
                <a:solidFill>
                  <a:srgbClr val="404040"/>
                </a:solidFill>
                <a:latin typeface="Yu Gothic"/>
                <a:ea typeface="Yu Gothic"/>
                <a:cs typeface="Yu Gothic"/>
              </a:rPr>
              <a:t>   </a:t>
            </a: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compact </a:t>
            </a:r>
            <a:r>
              <a:rPr lang="ja-JP" altLang="en-US">
                <a:solidFill>
                  <a:srgbClr val="404040"/>
                </a:solidFill>
                <a:latin typeface="Yu Gothic"/>
                <a:ea typeface="Yu Gothic"/>
                <a:cs typeface="Yu Gothic"/>
              </a:rPr>
              <a:t>コマンドは要約の精度に依存し重要な文脈が欠落するリスクがあるため</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clear </a:t>
            </a:r>
            <a:r>
              <a:rPr lang="ja-JP" altLang="en-US">
                <a:solidFill>
                  <a:srgbClr val="404040"/>
                </a:solidFill>
                <a:latin typeface="Yu Gothic"/>
                <a:ea typeface="Yu Gothic"/>
                <a:cs typeface="Yu Gothic"/>
              </a:rPr>
              <a:t>や別セッション立ち上げの方がおすすめ</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② </a:t>
            </a:r>
            <a:r>
              <a:rPr sz="3200" b="1" dirty="0" err="1">
                <a:latin typeface="Yu Gothic" panose="020B0400000000000000" pitchFamily="34" charset="-128"/>
                <a:ea typeface="Yu Gothic" panose="020B0400000000000000" pitchFamily="34" charset="-128"/>
                <a:cs typeface="Meiryo"/>
              </a:rPr>
              <a:t>出力をMarkdownファイルにさせる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285019"/>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会話の中だけで出力させると、セッションが終わった瞬間にその内容が失われる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長い出力ほど、後から見返す・引き継ぐことが難しい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調査結果・設計方針・作業ログなどを、</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ファイルとして出力させる</a:t>
            </a:r>
          </a:p>
          <a:p>
            <a:pPr marL="274320" indent="0">
              <a:lnSpc>
                <a:spcPct val="113000"/>
              </a:lnSpc>
              <a:spcAft>
                <a:spcPts val="350"/>
              </a:spcAft>
            </a:pPr>
            <a:r>
              <a:rPr lang="en-US" altLang="ja-JP" dirty="0">
                <a:latin typeface="Yu Gothic"/>
                <a:ea typeface="Yu Gothic"/>
                <a:cs typeface="Yu Gothic"/>
              </a:rPr>
              <a:t>•</a:t>
            </a:r>
            <a:r>
              <a:rPr lang="ja-JP" altLang="en-US">
                <a:solidFill>
                  <a:srgbClr val="404040"/>
                </a:solidFill>
                <a:latin typeface="Yu Gothic"/>
                <a:ea typeface="Yu Gothic"/>
                <a:cs typeface="Yu Gothic"/>
              </a:rPr>
              <a:t>出力された</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ファイルを新しいセッションで読み込ませて作業を引き継ぐ</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消えない形で残すことが、様々な活用方法における土台になる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人間の視認性・レビューのしやすさを高めたい場合は、</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に加えて</a:t>
            </a:r>
            <a:r>
              <a:rPr lang="en" altLang="ja-JP" dirty="0">
                <a:solidFill>
                  <a:srgbClr val="404040"/>
                </a:solidFill>
                <a:latin typeface="Yu Gothic"/>
                <a:ea typeface="Yu Gothic"/>
                <a:cs typeface="Yu Gothic"/>
              </a:rPr>
              <a:t>HTML</a:t>
            </a:r>
            <a:r>
              <a:rPr lang="ja-JP" altLang="en-US">
                <a:solidFill>
                  <a:srgbClr val="404040"/>
                </a:solidFill>
                <a:latin typeface="Yu Gothic"/>
                <a:ea typeface="Yu Gothic"/>
                <a:cs typeface="Yu Gothic"/>
              </a:rPr>
              <a:t>ファイルとして出力させるのもおすすめ</a:t>
            </a:r>
          </a:p>
        </p:txBody>
      </p:sp>
      <p:sp>
        <p:nvSpPr>
          <p:cNvPr id="7" name="TextBox 1">
            <a:extLst>
              <a:ext uri="{FF2B5EF4-FFF2-40B4-BE49-F238E27FC236}">
                <a16:creationId xmlns:a16="http://schemas.microsoft.com/office/drawing/2014/main" id="{D912BD5F-C73D-84E5-6F23-6744B32C318D}"/>
              </a:ext>
            </a:extLst>
          </p:cNvPr>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③ </a:t>
            </a:r>
            <a:r>
              <a:rPr sz="3200" b="1" dirty="0" err="1">
                <a:latin typeface="Yu Gothic" panose="020B0400000000000000" pitchFamily="34" charset="-128"/>
                <a:ea typeface="Yu Gothic" panose="020B0400000000000000" pitchFamily="34" charset="-128"/>
                <a:cs typeface="Meiryo"/>
              </a:rPr>
              <a:t>MEMORY.mdで汎用スキルを個別最適化する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859792"/>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プロジェクトやチームで用意されているスキル・ルールは汎用的に作られており、自分向けの設定を毎回指定し直す手間が発生する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自分専用の </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を活用し、自分のやり方・環境に合わせて個別最適化する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会話中に「今後も常に〇〇して」「記憶しておいて」と指示すると、</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自身が自動で </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に書き込んで記憶してくれる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例：スキル実行時に「所属チーム」を指定する場合、</a:t>
            </a:r>
            <a:r>
              <a:rPr lang="en" altLang="ja-JP" dirty="0" err="1">
                <a:solidFill>
                  <a:srgbClr val="404040"/>
                </a:solidFill>
                <a:latin typeface="Yu Gothic"/>
                <a:ea typeface="Yu Gothic"/>
                <a:cs typeface="Yu Gothic"/>
              </a:rPr>
              <a:t>MEMORY.md</a:t>
            </a:r>
            <a:r>
              <a:rPr lang="en" altLang="ja-JP" dirty="0">
                <a:solidFill>
                  <a:srgbClr val="404040"/>
                </a:solidFill>
                <a:latin typeface="Yu Gothic"/>
                <a:ea typeface="Yu Gothic"/>
                <a:cs typeface="Yu Gothic"/>
              </a:rPr>
              <a:t> </a:t>
            </a:r>
            <a:r>
              <a:rPr lang="ja-JP" altLang="en-US">
                <a:solidFill>
                  <a:srgbClr val="404040"/>
                </a:solidFill>
                <a:latin typeface="Yu Gothic"/>
                <a:ea typeface="Yu Gothic"/>
                <a:cs typeface="Yu Gothic"/>
              </a:rPr>
              <a:t>に記録させておくことで次回以降の指示が不要になる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プロジェクト共通の汎用ルールや、一時的なセッション固有の情報まで何でも書き込みすぎると、毎セッションのコンテキストを圧迫する原因になるため、記録する情報の見極めが重要</a:t>
            </a:r>
          </a:p>
        </p:txBody>
      </p:sp>
      <p:sp>
        <p:nvSpPr>
          <p:cNvPr id="7" name="TextBox 1">
            <a:extLst>
              <a:ext uri="{FF2B5EF4-FFF2-40B4-BE49-F238E27FC236}">
                <a16:creationId xmlns:a16="http://schemas.microsoft.com/office/drawing/2014/main" id="{A035DA42-BACC-90FB-B942-5707037BC2A0}"/>
              </a:ext>
            </a:extLst>
          </p:cNvPr>
          <p:cNvSpPr txBox="1"/>
          <p:nvPr/>
        </p:nvSpPr>
        <p:spPr>
          <a:xfrm>
            <a:off x="658368" y="274320"/>
            <a:ext cx="3533340" cy="307777"/>
          </a:xfrm>
          <a:prstGeom prst="rect">
            <a:avLst/>
          </a:prstGeom>
          <a:noFill/>
        </p:spPr>
        <p:txBody>
          <a:bodyPr wrap="none">
            <a:spAutoFit/>
          </a:bodyPr>
          <a:lstStyle/>
          <a:p>
            <a:r>
              <a:rPr lang="en-US" sz="1400" dirty="0">
                <a:solidFill>
                  <a:schemeClr val="bg1">
                    <a:lumMod val="65000"/>
                  </a:schemeClr>
                </a:solidFill>
                <a:latin typeface="Yu Gothic" panose="020B0400000000000000" pitchFamily="34" charset="-128"/>
                <a:ea typeface="Yu Gothic" panose="020B0400000000000000" pitchFamily="34" charset="-128"/>
                <a:cs typeface="Meiryo"/>
              </a:rPr>
              <a:t>01</a:t>
            </a:r>
            <a:r>
              <a:rPr sz="1400" dirty="0">
                <a:solidFill>
                  <a:schemeClr val="bg1">
                    <a:lumMod val="65000"/>
                  </a:schemeClr>
                </a:solidFill>
                <a:latin typeface="Yu Gothic" panose="020B0400000000000000" pitchFamily="34" charset="-128"/>
                <a:ea typeface="Yu Gothic" panose="020B0400000000000000" pitchFamily="34" charset="-128"/>
                <a:cs typeface="Meiryo"/>
              </a:rPr>
              <a:t>.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コンテキストをどう渡し、維持するか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02</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環境・道具として何を整えるか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コンテキストの渡し方を工夫しても、「Claude Codeという道具自体の設定」を見直すことで、さらに質と効率が上がります。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ここでは環境・ツールのチューニングという観点の工夫を4つ紹介します。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④〜⑦</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2975495"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Ⅱ.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④ </a:t>
            </a:r>
            <a:r>
              <a:rPr sz="3200" b="1" dirty="0" err="1">
                <a:latin typeface="Yu Gothic" panose="020B0400000000000000" pitchFamily="34" charset="-128"/>
                <a:ea typeface="Yu Gothic" panose="020B0400000000000000" pitchFamily="34" charset="-128"/>
                <a:cs typeface="Meiryo"/>
              </a:rPr>
              <a:t>モデルとeffortを使い分ける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3993144"/>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常に同じモデル・</a:t>
            </a:r>
            <a:r>
              <a:rPr lang="en" altLang="ja-JP" dirty="0">
                <a:solidFill>
                  <a:srgbClr val="404040"/>
                </a:solidFill>
                <a:latin typeface="Yu Gothic"/>
                <a:ea typeface="Yu Gothic"/>
                <a:cs typeface="Yu Gothic"/>
              </a:rPr>
              <a:t>effort</a:t>
            </a:r>
            <a:r>
              <a:rPr lang="ja-JP" altLang="en-US">
                <a:solidFill>
                  <a:srgbClr val="404040"/>
                </a:solidFill>
                <a:latin typeface="Yu Gothic"/>
                <a:ea typeface="Yu Gothic"/>
                <a:cs typeface="Yu Gothic"/>
              </a:rPr>
              <a:t>だと、能力不足になったり、コストや時間を浪費してしまう</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結果がうまくいかないときにモデルの能力不足なのか探索・作業量の不足なのか切り分けが難しい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モデルの使い分け</a:t>
            </a:r>
          </a:p>
          <a:p>
            <a:pPr marL="548640" indent="0">
              <a:lnSpc>
                <a:spcPct val="113000"/>
              </a:lnSpc>
              <a:spcAft>
                <a:spcPts val="350"/>
              </a:spcAft>
            </a:pPr>
            <a:r>
              <a:rPr lang="en-US" altLang="ja-JP" dirty="0">
                <a:solidFill>
                  <a:srgbClr val="8C8C8C"/>
                </a:solidFill>
                <a:latin typeface="Yu Gothic"/>
                <a:ea typeface="Yu Gothic"/>
                <a:cs typeface="Yu Gothic"/>
              </a:rPr>
              <a:t>– </a:t>
            </a:r>
            <a:r>
              <a:rPr lang="en" altLang="ja-JP" dirty="0">
                <a:solidFill>
                  <a:srgbClr val="404040"/>
                </a:solidFill>
                <a:latin typeface="Yu Gothic"/>
                <a:ea typeface="Yu Gothic"/>
                <a:cs typeface="Yu Gothic"/>
              </a:rPr>
              <a:t>Sonnet</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日常の開発、明確な指示のある変更、高速な反復に最適</a:t>
            </a:r>
          </a:p>
          <a:p>
            <a:pPr marL="548640" indent="0">
              <a:lnSpc>
                <a:spcPct val="113000"/>
              </a:lnSpc>
              <a:spcAft>
                <a:spcPts val="350"/>
              </a:spcAft>
            </a:pPr>
            <a:r>
              <a:rPr lang="en-US" altLang="ja-JP" dirty="0">
                <a:solidFill>
                  <a:srgbClr val="8C8C8C"/>
                </a:solidFill>
                <a:latin typeface="Yu Gothic"/>
                <a:ea typeface="Yu Gothic"/>
                <a:cs typeface="Yu Gothic"/>
              </a:rPr>
              <a:t>– </a:t>
            </a:r>
            <a:r>
              <a:rPr lang="en" altLang="ja-JP" dirty="0">
                <a:solidFill>
                  <a:srgbClr val="404040"/>
                </a:solidFill>
                <a:latin typeface="Yu Gothic"/>
                <a:ea typeface="Yu Gothic"/>
                <a:cs typeface="Yu Gothic"/>
              </a:rPr>
              <a:t>Opus / Fable</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複雑なバグ調査、アーキテクチャ設計、多段階の大規模タスクに活用</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 altLang="ja-JP" dirty="0">
                <a:solidFill>
                  <a:srgbClr val="404040"/>
                </a:solidFill>
                <a:latin typeface="Yu Gothic"/>
                <a:ea typeface="Yu Gothic"/>
                <a:cs typeface="Yu Gothic"/>
              </a:rPr>
              <a:t>effort</a:t>
            </a:r>
            <a:r>
              <a:rPr lang="ja-JP" altLang="en-US">
                <a:solidFill>
                  <a:srgbClr val="404040"/>
                </a:solidFill>
                <a:latin typeface="Yu Gothic"/>
                <a:ea typeface="Yu Gothic"/>
                <a:cs typeface="Yu Gothic"/>
              </a:rPr>
              <a:t>の使い分け</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単なる思考時間ではなく「読むファイル数・ツール実行数・自律的に検証を重ねる深さ」を制御</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基本はデフォルトを維持し、作業スタイルや徹底度に応じて調整</a:t>
            </a:r>
          </a:p>
        </p:txBody>
      </p:sp>
      <p:sp>
        <p:nvSpPr>
          <p:cNvPr id="6" name="TextBox 5"/>
          <p:cNvSpPr txBox="1"/>
          <p:nvPr/>
        </p:nvSpPr>
        <p:spPr>
          <a:xfrm>
            <a:off x="676656" y="6199632"/>
            <a:ext cx="10881360" cy="457200"/>
          </a:xfrm>
          <a:prstGeom prst="rect">
            <a:avLst/>
          </a:prstGeom>
          <a:noFill/>
        </p:spPr>
        <p:txBody>
          <a:bodyPr wrap="square">
            <a:spAutoFit/>
          </a:bodyPr>
          <a:lstStyle/>
          <a:p>
            <a:r>
              <a:rPr sz="900" b="0" dirty="0" err="1">
                <a:solidFill>
                  <a:srgbClr val="8C8C8C"/>
                </a:solidFill>
                <a:latin typeface="Yu Gothic"/>
                <a:ea typeface="Yu Gothic"/>
                <a:cs typeface="Yu Gothic"/>
              </a:rPr>
              <a:t>参考：Anthropic公式ブログ「Choosing</a:t>
            </a:r>
            <a:r>
              <a:rPr sz="900" b="0" dirty="0">
                <a:solidFill>
                  <a:srgbClr val="8C8C8C"/>
                </a:solidFill>
                <a:latin typeface="Yu Gothic"/>
                <a:ea typeface="Yu Gothic"/>
                <a:cs typeface="Yu Gothic"/>
              </a:rPr>
              <a:t> a Claude model and effort level in Claude Code」 https://</a:t>
            </a:r>
            <a:r>
              <a:rPr sz="900" b="0" dirty="0" err="1">
                <a:solidFill>
                  <a:srgbClr val="8C8C8C"/>
                </a:solidFill>
                <a:latin typeface="Yu Gothic"/>
                <a:ea typeface="Yu Gothic"/>
                <a:cs typeface="Yu Gothic"/>
              </a:rPr>
              <a:t>claude.com</a:t>
            </a:r>
            <a:r>
              <a:rPr sz="900" b="0" dirty="0">
                <a:solidFill>
                  <a:srgbClr val="8C8C8C"/>
                </a:solidFill>
                <a:latin typeface="Yu Gothic"/>
                <a:ea typeface="Yu Gothic"/>
                <a:cs typeface="Yu Gothic"/>
              </a:rPr>
              <a:t>/blog/</a:t>
            </a:r>
            <a:r>
              <a:rPr sz="900" b="0" dirty="0" err="1">
                <a:solidFill>
                  <a:srgbClr val="8C8C8C"/>
                </a:solidFill>
                <a:latin typeface="Yu Gothic"/>
                <a:ea typeface="Yu Gothic"/>
                <a:cs typeface="Yu Gothic"/>
              </a:rPr>
              <a:t>claude</a:t>
            </a:r>
            <a:r>
              <a:rPr sz="900" b="0" dirty="0">
                <a:solidFill>
                  <a:srgbClr val="8C8C8C"/>
                </a:solidFill>
                <a:latin typeface="Yu Gothic"/>
                <a:ea typeface="Yu Gothic"/>
                <a:cs typeface="Yu Gothic"/>
              </a:rPr>
              <a:t>-model-and-effort-level-in-</a:t>
            </a:r>
            <a:r>
              <a:rPr sz="900" b="0" dirty="0" err="1">
                <a:solidFill>
                  <a:srgbClr val="8C8C8C"/>
                </a:solidFill>
                <a:latin typeface="Yu Gothic"/>
                <a:ea typeface="Yu Gothic"/>
                <a:cs typeface="Yu Gothic"/>
              </a:rPr>
              <a:t>claude</a:t>
            </a:r>
            <a:r>
              <a:rPr sz="900" b="0" dirty="0">
                <a:solidFill>
                  <a:srgbClr val="8C8C8C"/>
                </a:solidFill>
                <a:latin typeface="Yu Gothic"/>
                <a:ea typeface="Yu Gothic"/>
                <a:cs typeface="Yu Gothic"/>
              </a:rPr>
              <a:t>-code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EEF97-B969-CA34-BBD5-A398E1AFF0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22FB51E-5867-8DDD-D8F4-47314C722739}"/>
              </a:ext>
            </a:extLst>
          </p:cNvPr>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④ </a:t>
            </a:r>
            <a:r>
              <a:rPr sz="3200" b="1" dirty="0" err="1">
                <a:latin typeface="Yu Gothic" panose="020B0400000000000000" pitchFamily="34" charset="-128"/>
                <a:ea typeface="Yu Gothic" panose="020B0400000000000000" pitchFamily="34" charset="-128"/>
                <a:cs typeface="Meiryo"/>
              </a:rPr>
              <a:t>モデルとeffortを使い分ける</a:t>
            </a:r>
            <a:endParaRPr sz="3200" b="1" dirty="0">
              <a:latin typeface="Yu Gothic" panose="020B0400000000000000" pitchFamily="34" charset="-128"/>
              <a:ea typeface="Yu Gothic" panose="020B0400000000000000" pitchFamily="34" charset="-128"/>
              <a:cs typeface="Meiryo"/>
            </a:endParaRPr>
          </a:p>
        </p:txBody>
      </p:sp>
      <p:sp>
        <p:nvSpPr>
          <p:cNvPr id="4" name="Rectangle 3">
            <a:extLst>
              <a:ext uri="{FF2B5EF4-FFF2-40B4-BE49-F238E27FC236}">
                <a16:creationId xmlns:a16="http://schemas.microsoft.com/office/drawing/2014/main" id="{B139D7CA-ADED-1044-2B17-1D3848E26622}"/>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3A67EFC6-10D0-C85B-8149-484920533D98}"/>
              </a:ext>
            </a:extLst>
          </p:cNvPr>
          <p:cNvSpPr txBox="1"/>
          <p:nvPr/>
        </p:nvSpPr>
        <p:spPr>
          <a:xfrm>
            <a:off x="676656" y="1481328"/>
            <a:ext cx="10881360" cy="3577518"/>
          </a:xfrm>
          <a:prstGeom prst="rect">
            <a:avLst/>
          </a:prstGeom>
          <a:noFill/>
        </p:spPr>
        <p:txBody>
          <a:bodyPr wrap="square">
            <a:spAutoFit/>
          </a:bodyPr>
          <a:lstStyle/>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失敗したときの見極め</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知識・理解が足りない（十分な文脈を渡したのに論理破綻・誤答） </a:t>
            </a:r>
          </a:p>
          <a:p>
            <a:pPr marL="548640" indent="0">
              <a:lnSpc>
                <a:spcPct val="113000"/>
              </a:lnSpc>
              <a:spcAft>
                <a:spcPts val="350"/>
              </a:spcAft>
            </a:pPr>
            <a:r>
              <a:rPr lang="ja-JP" altLang="en-US">
                <a:solidFill>
                  <a:srgbClr val="404040"/>
                </a:solidFill>
                <a:latin typeface="Yu Gothic"/>
                <a:ea typeface="Yu Gothic"/>
                <a:cs typeface="Yu Gothic"/>
              </a:rPr>
              <a:t>    → モデルを上げる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頑張り・検証が足りない（ファイルの見落とし、テスト未実行、途中で放棄） </a:t>
            </a:r>
          </a:p>
          <a:p>
            <a:pPr marL="548640" indent="0">
              <a:lnSpc>
                <a:spcPct val="113000"/>
              </a:lnSpc>
              <a:spcAft>
                <a:spcPts val="350"/>
              </a:spcAft>
            </a:pPr>
            <a:r>
              <a:rPr lang="ja-JP" altLang="en-US">
                <a:solidFill>
                  <a:srgbClr val="404040"/>
                </a:solidFill>
                <a:latin typeface="Yu Gothic"/>
                <a:ea typeface="Yu Gothic"/>
                <a:cs typeface="Yu Gothic"/>
              </a:rPr>
              <a:t>    → </a:t>
            </a:r>
            <a:r>
              <a:rPr lang="en" altLang="ja-JP" dirty="0">
                <a:solidFill>
                  <a:srgbClr val="404040"/>
                </a:solidFill>
                <a:latin typeface="Yu Gothic"/>
                <a:ea typeface="Yu Gothic"/>
                <a:cs typeface="Yu Gothic"/>
              </a:rPr>
              <a:t>effort</a:t>
            </a:r>
            <a:r>
              <a:rPr lang="ja-JP" altLang="en-US">
                <a:solidFill>
                  <a:srgbClr val="404040"/>
                </a:solidFill>
                <a:latin typeface="Yu Gothic"/>
                <a:ea typeface="Yu Gothic"/>
                <a:cs typeface="Yu Gothic"/>
              </a:rPr>
              <a:t>を上げる</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難易度が高い作業では、上位モデルの方が少ない試行ステップで正解に達し、トータルのトークン消費や作業時間が抑えられることもある</a:t>
            </a:r>
          </a:p>
        </p:txBody>
      </p:sp>
      <p:sp>
        <p:nvSpPr>
          <p:cNvPr id="6" name="TextBox 5">
            <a:extLst>
              <a:ext uri="{FF2B5EF4-FFF2-40B4-BE49-F238E27FC236}">
                <a16:creationId xmlns:a16="http://schemas.microsoft.com/office/drawing/2014/main" id="{D0DB43CF-034E-844B-3D4E-7E4B3674C4FE}"/>
              </a:ext>
            </a:extLst>
          </p:cNvPr>
          <p:cNvSpPr txBox="1"/>
          <p:nvPr/>
        </p:nvSpPr>
        <p:spPr>
          <a:xfrm>
            <a:off x="676656" y="6199632"/>
            <a:ext cx="10881360" cy="457200"/>
          </a:xfrm>
          <a:prstGeom prst="rect">
            <a:avLst/>
          </a:prstGeom>
          <a:noFill/>
        </p:spPr>
        <p:txBody>
          <a:bodyPr wrap="square">
            <a:spAutoFit/>
          </a:bodyPr>
          <a:lstStyle/>
          <a:p>
            <a:r>
              <a:rPr sz="900" b="0">
                <a:solidFill>
                  <a:srgbClr val="8C8C8C"/>
                </a:solidFill>
                <a:latin typeface="Yu Gothic"/>
                <a:ea typeface="Yu Gothic"/>
                <a:cs typeface="Yu Gothic"/>
              </a:rPr>
              <a:t>参考：Anthropic公式ブログ「Choosing a Claude model and effort level in Claude Code」 https://claude.com/blog/claude-model-and-effort-level-in-claude-code</a:t>
            </a:r>
          </a:p>
        </p:txBody>
      </p:sp>
      <p:sp>
        <p:nvSpPr>
          <p:cNvPr id="8" name="TextBox 1">
            <a:extLst>
              <a:ext uri="{FF2B5EF4-FFF2-40B4-BE49-F238E27FC236}">
                <a16:creationId xmlns:a16="http://schemas.microsoft.com/office/drawing/2014/main" id="{FC2CEDCB-D865-EDA7-AABA-BE793EF76149}"/>
              </a:ext>
            </a:extLst>
          </p:cNvPr>
          <p:cNvSpPr txBox="1"/>
          <p:nvPr/>
        </p:nvSpPr>
        <p:spPr>
          <a:xfrm>
            <a:off x="658368" y="274320"/>
            <a:ext cx="2975495"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Ⅱ.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extLst>
      <p:ext uri="{BB962C8B-B14F-4D97-AF65-F5344CB8AC3E}">
        <p14:creationId xmlns:p14="http://schemas.microsoft.com/office/powerpoint/2010/main" val="965778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⑤ output </a:t>
            </a:r>
            <a:r>
              <a:rPr sz="3200" b="1" dirty="0" err="1">
                <a:latin typeface="Yu Gothic" panose="020B0400000000000000" pitchFamily="34" charset="-128"/>
                <a:ea typeface="Yu Gothic" panose="020B0400000000000000" pitchFamily="34" charset="-128"/>
                <a:cs typeface="Meiryo"/>
              </a:rPr>
              <a:t>styleで出力形式をカスタマイズする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064976"/>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デフォルトの応答だと前置きや装飾が多く、必要な情報に素早くアクセスしづらい</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会話の中で「簡潔に答えて」と指示しても、会話が長くなると指示が薄れてしまいやすい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 altLang="ja-JP" dirty="0">
                <a:solidFill>
                  <a:srgbClr val="404040"/>
                </a:solidFill>
                <a:latin typeface="Yu Gothic"/>
                <a:ea typeface="Yu Gothic"/>
                <a:cs typeface="Yu Gothic"/>
              </a:rPr>
              <a:t>output style</a:t>
            </a:r>
            <a:r>
              <a:rPr lang="ja-JP" altLang="en-US">
                <a:solidFill>
                  <a:srgbClr val="404040"/>
                </a:solidFill>
                <a:latin typeface="Yu Gothic"/>
                <a:ea typeface="Yu Gothic"/>
                <a:cs typeface="Yu Gothic"/>
              </a:rPr>
              <a:t>を活用し、</a:t>
            </a: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の応答の「役割・トーン・出力フォーマット」を変更する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システムプロンプトに追加されるため、セッション全体を通じて強力に出力形式を固定できる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config </a:t>
            </a:r>
            <a:r>
              <a:rPr lang="ja-JP" altLang="en-US">
                <a:solidFill>
                  <a:srgbClr val="404040"/>
                </a:solidFill>
                <a:latin typeface="Yu Gothic"/>
                <a:ea typeface="Yu Gothic"/>
                <a:cs typeface="Yu Gothic"/>
              </a:rPr>
              <a:t>から選択するほか、</a:t>
            </a:r>
            <a:r>
              <a:rPr lang="en-US" altLang="ja-JP" dirty="0">
                <a:solidFill>
                  <a:srgbClr val="404040"/>
                </a:solidFill>
                <a:latin typeface="Yu Gothic"/>
                <a:ea typeface="Yu Gothic"/>
                <a:cs typeface="Yu Gothic"/>
              </a:rPr>
              <a:t>.</a:t>
            </a:r>
            <a:r>
              <a:rPr lang="en" altLang="ja-JP" dirty="0" err="1">
                <a:solidFill>
                  <a:srgbClr val="404040"/>
                </a:solidFill>
                <a:latin typeface="Yu Gothic"/>
                <a:ea typeface="Yu Gothic"/>
                <a:cs typeface="Yu Gothic"/>
              </a:rPr>
              <a:t>claude</a:t>
            </a:r>
            <a:r>
              <a:rPr lang="en" altLang="ja-JP" dirty="0">
                <a:solidFill>
                  <a:srgbClr val="404040"/>
                </a:solidFill>
                <a:latin typeface="Yu Gothic"/>
                <a:ea typeface="Yu Gothic"/>
                <a:cs typeface="Yu Gothic"/>
              </a:rPr>
              <a:t>/output-styles/ </a:t>
            </a:r>
            <a:r>
              <a:rPr lang="ja-JP" altLang="en-US">
                <a:solidFill>
                  <a:srgbClr val="404040"/>
                </a:solidFill>
                <a:latin typeface="Yu Gothic"/>
                <a:ea typeface="Yu Gothic"/>
                <a:cs typeface="Yu Gothic"/>
              </a:rPr>
              <a:t>に</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ファイルを置いて自作可能</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例：</a:t>
            </a:r>
            <a:r>
              <a:rPr lang="en" altLang="ja-JP" dirty="0" err="1">
                <a:solidFill>
                  <a:srgbClr val="404040"/>
                </a:solidFill>
                <a:latin typeface="Yu Gothic"/>
                <a:ea typeface="Yu Gothic"/>
                <a:cs typeface="Yu Gothic"/>
              </a:rPr>
              <a:t>genshijin</a:t>
            </a:r>
            <a:r>
              <a:rPr lang="ja-JP" altLang="en-US">
                <a:solidFill>
                  <a:srgbClr val="404040"/>
                </a:solidFill>
                <a:latin typeface="Yu Gothic"/>
                <a:ea typeface="Yu Gothic"/>
                <a:cs typeface="Yu Gothic"/>
              </a:rPr>
              <a:t>スキルと同等の内容を</a:t>
            </a:r>
            <a:r>
              <a:rPr lang="en" altLang="ja-JP" dirty="0">
                <a:solidFill>
                  <a:srgbClr val="404040"/>
                </a:solidFill>
                <a:latin typeface="Yu Gothic"/>
                <a:ea typeface="Yu Gothic"/>
                <a:cs typeface="Yu Gothic"/>
              </a:rPr>
              <a:t>output style</a:t>
            </a:r>
            <a:r>
              <a:rPr lang="ja-JP" altLang="en-US">
                <a:solidFill>
                  <a:srgbClr val="404040"/>
                </a:solidFill>
                <a:latin typeface="Yu Gothic"/>
                <a:ea typeface="Yu Gothic"/>
                <a:cs typeface="Yu Gothic"/>
              </a:rPr>
              <a:t>に設定し、余計な前置きを削って簡潔に出力させる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設定時に必須のオプション：</a:t>
            </a:r>
            <a:r>
              <a:rPr lang="en" altLang="ja-JP" dirty="0">
                <a:solidFill>
                  <a:srgbClr val="404040"/>
                </a:solidFill>
                <a:latin typeface="Yu Gothic"/>
                <a:ea typeface="Yu Gothic"/>
                <a:cs typeface="Yu Gothic"/>
              </a:rPr>
              <a:t>keep-coding-instructions: true</a:t>
            </a:r>
          </a:p>
          <a:p>
            <a:pPr marL="548640" indent="0">
              <a:lnSpc>
                <a:spcPct val="113000"/>
              </a:lnSpc>
              <a:spcAft>
                <a:spcPts val="350"/>
              </a:spcAft>
            </a:pPr>
            <a:r>
              <a:rPr lang="en" altLang="ja-JP" dirty="0">
                <a:solidFill>
                  <a:srgbClr val="8C8C8C"/>
                </a:solidFill>
                <a:latin typeface="Yu Gothic"/>
                <a:ea typeface="Yu Gothic"/>
                <a:cs typeface="Yu Gothic"/>
              </a:rPr>
              <a:t>–</a:t>
            </a:r>
            <a:r>
              <a:rPr lang="en" altLang="ja-JP" dirty="0">
                <a:solidFill>
                  <a:srgbClr val="404040"/>
                </a:solidFill>
                <a:latin typeface="Yu Gothic"/>
                <a:ea typeface="Yu Gothic"/>
                <a:cs typeface="Yu Gothic"/>
              </a:rPr>
              <a:t>Claude Code</a:t>
            </a:r>
            <a:r>
              <a:rPr lang="ja-JP" altLang="en-US">
                <a:solidFill>
                  <a:srgbClr val="404040"/>
                </a:solidFill>
                <a:latin typeface="Yu Gothic"/>
                <a:ea typeface="Yu Gothic"/>
                <a:cs typeface="Yu Gothic"/>
              </a:rPr>
              <a:t>が元々持っているソフトウェアエンジニアリングの振る舞いが失われてしまう</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最近追加された</a:t>
            </a:r>
            <a:r>
              <a:rPr lang="en" altLang="ja-JP" dirty="0">
                <a:solidFill>
                  <a:srgbClr val="404040"/>
                </a:solidFill>
                <a:latin typeface="Yu Gothic"/>
                <a:ea typeface="Yu Gothic"/>
                <a:cs typeface="Yu Gothic"/>
              </a:rPr>
              <a:t>Concise</a:t>
            </a:r>
            <a:r>
              <a:rPr lang="ja-JP" altLang="en-US">
                <a:solidFill>
                  <a:srgbClr val="404040"/>
                </a:solidFill>
                <a:latin typeface="Yu Gothic"/>
                <a:ea typeface="Yu Gothic"/>
                <a:cs typeface="Yu Gothic"/>
              </a:rPr>
              <a:t>を設定することで、出力形式を簡潔にすることができる</a:t>
            </a:r>
          </a:p>
        </p:txBody>
      </p:sp>
      <p:sp>
        <p:nvSpPr>
          <p:cNvPr id="7" name="TextBox 1">
            <a:extLst>
              <a:ext uri="{FF2B5EF4-FFF2-40B4-BE49-F238E27FC236}">
                <a16:creationId xmlns:a16="http://schemas.microsoft.com/office/drawing/2014/main" id="{304D4168-7F81-9309-E865-D1F0E7186684}"/>
              </a:ext>
            </a:extLst>
          </p:cNvPr>
          <p:cNvSpPr txBox="1"/>
          <p:nvPr/>
        </p:nvSpPr>
        <p:spPr>
          <a:xfrm>
            <a:off x="658368" y="274320"/>
            <a:ext cx="2975495"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Ⅱ.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⑥ </a:t>
            </a:r>
            <a:r>
              <a:rPr sz="3200" b="1" dirty="0" err="1">
                <a:latin typeface="Yu Gothic" panose="020B0400000000000000" pitchFamily="34" charset="-128"/>
                <a:ea typeface="Yu Gothic" panose="020B0400000000000000" pitchFamily="34" charset="-128"/>
                <a:cs typeface="Meiryo"/>
              </a:rPr>
              <a:t>advisorを設定する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233723"/>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メインモデル（</a:t>
            </a:r>
            <a:r>
              <a:rPr lang="en" altLang="ja-JP" dirty="0">
                <a:solidFill>
                  <a:srgbClr val="404040"/>
                </a:solidFill>
                <a:latin typeface="Yu Gothic"/>
                <a:ea typeface="Yu Gothic"/>
                <a:cs typeface="Yu Gothic"/>
              </a:rPr>
              <a:t>Sonnet</a:t>
            </a:r>
            <a:r>
              <a:rPr lang="ja-JP" altLang="en-US">
                <a:solidFill>
                  <a:srgbClr val="404040"/>
                </a:solidFill>
                <a:latin typeface="Yu Gothic"/>
                <a:ea typeface="Yu Gothic"/>
                <a:cs typeface="Yu Gothic"/>
              </a:rPr>
              <a:t>等）だけで進めると、難度の高い設計や複雑なエラーループで詰まってしまうことがある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 altLang="ja-JP" dirty="0">
                <a:solidFill>
                  <a:srgbClr val="404040"/>
                </a:solidFill>
                <a:latin typeface="Yu Gothic"/>
                <a:ea typeface="Yu Gothic"/>
                <a:cs typeface="Yu Gothic"/>
              </a:rPr>
              <a:t>advisor</a:t>
            </a:r>
            <a:r>
              <a:rPr lang="ja-JP" altLang="en-US">
                <a:solidFill>
                  <a:srgbClr val="404040"/>
                </a:solidFill>
                <a:latin typeface="Yu Gothic"/>
                <a:ea typeface="Yu Gothic"/>
                <a:cs typeface="Yu Gothic"/>
              </a:rPr>
              <a:t>を設定し、要所要所でメインとは別の「もう一段階強いモデル（</a:t>
            </a:r>
            <a:r>
              <a:rPr lang="en" altLang="ja-JP" dirty="0">
                <a:solidFill>
                  <a:srgbClr val="404040"/>
                </a:solidFill>
                <a:latin typeface="Yu Gothic"/>
                <a:ea typeface="Yu Gothic"/>
                <a:cs typeface="Yu Gothic"/>
              </a:rPr>
              <a:t>Opus</a:t>
            </a:r>
            <a:r>
              <a:rPr lang="ja-JP" altLang="en-US">
                <a:solidFill>
                  <a:srgbClr val="404040"/>
                </a:solidFill>
                <a:latin typeface="Yu Gothic"/>
                <a:ea typeface="Yu Gothic"/>
                <a:cs typeface="Yu Gothic"/>
              </a:rPr>
              <a:t>等）」に相談させる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大きなリファクタ、同じエラーの連続発生、タスク完了を宣言する前のチェックなどで効果を発揮</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設定方法：</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advisor opus</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設定ファイルに </a:t>
            </a:r>
            <a:r>
              <a:rPr lang="en-US" altLang="ja-JP" dirty="0">
                <a:solidFill>
                  <a:srgbClr val="404040"/>
                </a:solidFill>
                <a:latin typeface="Yu Gothic"/>
                <a:ea typeface="Yu Gothic"/>
                <a:cs typeface="Yu Gothic"/>
              </a:rPr>
              <a:t>"</a:t>
            </a:r>
            <a:r>
              <a:rPr lang="en" altLang="ja-JP" dirty="0" err="1">
                <a:solidFill>
                  <a:srgbClr val="404040"/>
                </a:solidFill>
                <a:latin typeface="Yu Gothic"/>
                <a:ea typeface="Yu Gothic"/>
                <a:cs typeface="Yu Gothic"/>
              </a:rPr>
              <a:t>advisorModel</a:t>
            </a:r>
            <a:r>
              <a:rPr lang="en" altLang="ja-JP" dirty="0">
                <a:solidFill>
                  <a:srgbClr val="404040"/>
                </a:solidFill>
                <a:latin typeface="Yu Gothic"/>
                <a:ea typeface="Yu Gothic"/>
                <a:cs typeface="Yu Gothic"/>
              </a:rPr>
              <a:t>": "opus”</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など</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普段は</a:t>
            </a:r>
            <a:r>
              <a:rPr lang="en" altLang="ja-JP" dirty="0">
                <a:solidFill>
                  <a:srgbClr val="404040"/>
                </a:solidFill>
                <a:latin typeface="Yu Gothic"/>
                <a:ea typeface="Yu Gothic"/>
                <a:cs typeface="Yu Gothic"/>
              </a:rPr>
              <a:t>Sonnet</a:t>
            </a:r>
            <a:r>
              <a:rPr lang="ja-JP" altLang="en-US">
                <a:solidFill>
                  <a:srgbClr val="404040"/>
                </a:solidFill>
                <a:latin typeface="Yu Gothic"/>
                <a:ea typeface="Yu Gothic"/>
                <a:cs typeface="Yu Gothic"/>
              </a:rPr>
              <a:t>で高速・低コストに進め、難所や最終チェックのみ</a:t>
            </a:r>
            <a:r>
              <a:rPr lang="en" altLang="ja-JP" dirty="0">
                <a:solidFill>
                  <a:srgbClr val="404040"/>
                </a:solidFill>
                <a:latin typeface="Yu Gothic"/>
                <a:ea typeface="Yu Gothic"/>
                <a:cs typeface="Yu Gothic"/>
              </a:rPr>
              <a:t>Opus</a:t>
            </a:r>
            <a:r>
              <a:rPr lang="ja-JP" altLang="en-US">
                <a:solidFill>
                  <a:srgbClr val="404040"/>
                </a:solidFill>
                <a:latin typeface="Yu Gothic"/>
                <a:ea typeface="Yu Gothic"/>
                <a:cs typeface="Yu Gothic"/>
              </a:rPr>
              <a:t>に相談させる構成にすることで、スピード・コスト・品質のベストバランスを作れる</a:t>
            </a:r>
          </a:p>
        </p:txBody>
      </p:sp>
      <p:sp>
        <p:nvSpPr>
          <p:cNvPr id="7" name="TextBox 1">
            <a:extLst>
              <a:ext uri="{FF2B5EF4-FFF2-40B4-BE49-F238E27FC236}">
                <a16:creationId xmlns:a16="http://schemas.microsoft.com/office/drawing/2014/main" id="{9E6B0D1D-E64F-00DF-86E9-587EB02BD4FB}"/>
              </a:ext>
            </a:extLst>
          </p:cNvPr>
          <p:cNvSpPr txBox="1"/>
          <p:nvPr/>
        </p:nvSpPr>
        <p:spPr>
          <a:xfrm>
            <a:off x="658368" y="274320"/>
            <a:ext cx="2975495"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Ⅱ.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⑦ </a:t>
            </a:r>
            <a:r>
              <a:rPr sz="3200" b="1" dirty="0" err="1">
                <a:latin typeface="Yu Gothic" panose="020B0400000000000000" pitchFamily="34" charset="-128"/>
                <a:ea typeface="Yu Gothic" panose="020B0400000000000000" pitchFamily="34" charset="-128"/>
                <a:cs typeface="Meiryo"/>
              </a:rPr>
              <a:t>スキルを作成・改善する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962192"/>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同じような定型作業を繰り返すたびに、毎回プロンプトを組み立てるのは非効率でばらつきが出る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定型作業をどんどんスキル化する：細かい設計に悩みすぎるより、繰り返し行う作業をスキルとして切り出すだけで開発効率が大きく向上する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作成したスキルを</a:t>
            </a:r>
            <a:r>
              <a:rPr lang="en-US" altLang="ja-JP" dirty="0">
                <a:solidFill>
                  <a:srgbClr val="404040"/>
                </a:solidFill>
                <a:latin typeface="Yu Gothic"/>
                <a:ea typeface="Yu Gothic"/>
                <a:cs typeface="Yu Gothic"/>
              </a:rPr>
              <a:t>3</a:t>
            </a:r>
            <a:r>
              <a:rPr lang="ja-JP" altLang="en-US">
                <a:solidFill>
                  <a:srgbClr val="404040"/>
                </a:solidFill>
                <a:latin typeface="Yu Gothic"/>
                <a:ea typeface="Yu Gothic"/>
                <a:cs typeface="Yu Gothic"/>
              </a:rPr>
              <a:t>つの観点で改善・高度化する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スクリプト化：定型処理はスクリプトに落とし込み、</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に都度考えさせず確実に実行させる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ファイル切り出し（段階的開示）：必要なタイミングで必要な情報だけを読ませる設計にする</a:t>
            </a:r>
          </a:p>
          <a:p>
            <a:pPr marL="548640" indent="0">
              <a:lnSpc>
                <a:spcPct val="113000"/>
              </a:lnSpc>
              <a:spcAft>
                <a:spcPts val="350"/>
              </a:spcAft>
            </a:pPr>
            <a:r>
              <a:rPr lang="en-US" altLang="ja-JP" dirty="0">
                <a:solidFill>
                  <a:srgbClr val="8C8C8C"/>
                </a:solidFill>
                <a:latin typeface="Yu Gothic"/>
                <a:ea typeface="Yu Gothic"/>
                <a:cs typeface="Yu Gothic"/>
              </a:rPr>
              <a:t>– </a:t>
            </a:r>
            <a:r>
              <a:rPr lang="en-US" altLang="ja-JP" dirty="0">
                <a:solidFill>
                  <a:srgbClr val="404040"/>
                </a:solidFill>
                <a:latin typeface="Yu Gothic"/>
                <a:ea typeface="Yu Gothic"/>
                <a:cs typeface="Yu Gothic"/>
              </a:rPr>
              <a:t>2</a:t>
            </a:r>
            <a:r>
              <a:rPr lang="ja-JP" altLang="en-US">
                <a:solidFill>
                  <a:srgbClr val="404040"/>
                </a:solidFill>
                <a:latin typeface="Yu Gothic"/>
                <a:ea typeface="Yu Gothic"/>
                <a:cs typeface="Yu Gothic"/>
              </a:rPr>
              <a:t>段階検証：スキルの実行結果自体をもう一段階チェックする仕組みを組み込む</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スクリプト化や段階的開示を取り入れることで、</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の挙動が安定するだけでなく、無駄なコンテキスト読み込みを防ぎトークン消費の削減にもつながる</a:t>
            </a:r>
          </a:p>
        </p:txBody>
      </p:sp>
      <p:sp>
        <p:nvSpPr>
          <p:cNvPr id="7" name="TextBox 1">
            <a:extLst>
              <a:ext uri="{FF2B5EF4-FFF2-40B4-BE49-F238E27FC236}">
                <a16:creationId xmlns:a16="http://schemas.microsoft.com/office/drawing/2014/main" id="{190D6C1E-FB32-C83C-759C-ECD7FE5C0A85}"/>
              </a:ext>
            </a:extLst>
          </p:cNvPr>
          <p:cNvSpPr txBox="1"/>
          <p:nvPr/>
        </p:nvSpPr>
        <p:spPr>
          <a:xfrm>
            <a:off x="658368" y="274320"/>
            <a:ext cx="2975495"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Ⅱ. </a:t>
            </a:r>
            <a:r>
              <a:rPr sz="1400" dirty="0" err="1">
                <a:solidFill>
                  <a:schemeClr val="bg1">
                    <a:lumMod val="65000"/>
                  </a:schemeClr>
                </a:solidFill>
                <a:latin typeface="Yu Gothic" panose="020B0400000000000000" pitchFamily="34" charset="-128"/>
                <a:ea typeface="Yu Gothic" panose="020B0400000000000000" pitchFamily="34" charset="-128"/>
                <a:cs typeface="Meiryo"/>
              </a:rPr>
              <a:t>環境・道具として何を整えるか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03</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検証のループをどう回すか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どれだけ環境を整えても、Claude Codeの出力を一発で完璧にするのは難しいものです。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「一発勝負」ではなく「検証・修正を繰り返す」という考え方への転換が必要です。ここでは工夫を2つ紹介します。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⑧〜⑨</a:t>
            </a:r>
            <a:endParaRPr lang="en-US" sz="1450" dirty="0"/>
          </a:p>
        </p:txBody>
      </p:sp>
      <p:sp>
        <p:nvSpPr>
          <p:cNvPr id="7" name="Text 5"/>
          <p:cNvSpPr/>
          <p:nvPr/>
        </p:nvSpPr>
        <p:spPr>
          <a:xfrm>
            <a:off x="457200" y="6510528"/>
            <a:ext cx="5486400" cy="274320"/>
          </a:xfrm>
          <a:prstGeom prst="rect">
            <a:avLst/>
          </a:prstGeom>
          <a:noFill/>
          <a:ln/>
        </p:spPr>
        <p:txBody>
          <a:bodyPr wrap="square" rtlCol="0" anchor="ctr"/>
          <a:lstStyle/>
          <a:p>
            <a:pPr marL="0" indent="0" algn="l">
              <a:buNone/>
            </a:pPr>
            <a:r>
              <a:rPr lang="en-US" sz="1000" dirty="0">
                <a:solidFill>
                  <a:srgbClr val="8C8074"/>
                </a:solidFill>
                <a:latin typeface="Yu Gothic" pitchFamily="34" charset="0"/>
                <a:ea typeface="Yu Gothic" pitchFamily="34" charset="-122"/>
                <a:cs typeface="Yu Gothic" pitchFamily="34" charset="-120"/>
              </a:rPr>
              <a:t>Claude Codeの活用方法</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2616422"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Ⅲ. </a:t>
            </a:r>
            <a:r>
              <a:rPr sz="1400" dirty="0" err="1">
                <a:solidFill>
                  <a:schemeClr val="bg1">
                    <a:lumMod val="65000"/>
                  </a:schemeClr>
                </a:solidFill>
                <a:latin typeface="Yu Gothic" panose="020B0400000000000000" pitchFamily="34" charset="-128"/>
                <a:ea typeface="Yu Gothic" panose="020B0400000000000000" pitchFamily="34" charset="-128"/>
                <a:cs typeface="Meiryo"/>
              </a:rPr>
              <a:t>検証のループをどう回すか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⑧ </a:t>
            </a:r>
            <a:r>
              <a:rPr sz="3200" b="1" dirty="0" err="1">
                <a:latin typeface="Yu Gothic" panose="020B0400000000000000" pitchFamily="34" charset="-128"/>
                <a:ea typeface="Yu Gothic" panose="020B0400000000000000" pitchFamily="34" charset="-128"/>
                <a:cs typeface="Meiryo"/>
              </a:rPr>
              <a:t>検証のループを回す</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911088"/>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生成された成果物をそのまま採用すると、見落としや誤りに気づけないまま進んでしまう</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「生成 → 検証 → 修正」のループを</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回で終わらせず、意図的に検証サイクルを組み込む</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スキルやプロンプトに組み込む：「コード変更後に必ずテストや</a:t>
            </a:r>
            <a:r>
              <a:rPr lang="en" altLang="ja-JP" dirty="0">
                <a:solidFill>
                  <a:srgbClr val="404040"/>
                </a:solidFill>
                <a:latin typeface="Yu Gothic"/>
                <a:ea typeface="Yu Gothic"/>
                <a:cs typeface="Yu Gothic"/>
              </a:rPr>
              <a:t>lint</a:t>
            </a:r>
            <a:r>
              <a:rPr lang="ja-JP" altLang="en-US">
                <a:solidFill>
                  <a:srgbClr val="404040"/>
                </a:solidFill>
                <a:latin typeface="Yu Gothic"/>
                <a:ea typeface="Yu Gothic"/>
                <a:cs typeface="Yu Gothic"/>
              </a:rPr>
              <a:t>を実行し、失敗があれば修正する」までを</a:t>
            </a:r>
            <a:r>
              <a:rPr lang="en-US" altLang="ja-JP" dirty="0">
                <a:solidFill>
                  <a:srgbClr val="404040"/>
                </a:solidFill>
                <a:latin typeface="Yu Gothic"/>
                <a:ea typeface="Yu Gothic"/>
                <a:cs typeface="Yu Gothic"/>
              </a:rPr>
              <a:t>1</a:t>
            </a:r>
            <a:r>
              <a:rPr lang="ja-JP" altLang="en-US">
                <a:solidFill>
                  <a:srgbClr val="404040"/>
                </a:solidFill>
                <a:latin typeface="Yu Gothic"/>
                <a:ea typeface="Yu Gothic"/>
                <a:cs typeface="Yu Gothic"/>
              </a:rPr>
              <a:t>つの手順として指示・スキル化する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goal </a:t>
            </a:r>
            <a:r>
              <a:rPr lang="ja-JP" altLang="en-US">
                <a:solidFill>
                  <a:srgbClr val="404040"/>
                </a:solidFill>
                <a:latin typeface="Yu Gothic"/>
                <a:ea typeface="Yu Gothic"/>
                <a:cs typeface="Yu Gothic"/>
              </a:rPr>
              <a:t>コマンドを活用する：完了条件を設定し、条件を満たすまで</a:t>
            </a:r>
            <a:r>
              <a:rPr lang="en" altLang="ja-JP" dirty="0">
                <a:solidFill>
                  <a:srgbClr val="404040"/>
                </a:solidFill>
                <a:latin typeface="Yu Gothic"/>
                <a:ea typeface="Yu Gothic"/>
                <a:cs typeface="Yu Gothic"/>
              </a:rPr>
              <a:t>Claude</a:t>
            </a:r>
            <a:r>
              <a:rPr lang="ja-JP" altLang="en-US">
                <a:solidFill>
                  <a:srgbClr val="404040"/>
                </a:solidFill>
                <a:latin typeface="Yu Gothic"/>
                <a:ea typeface="Yu Gothic"/>
                <a:cs typeface="Yu Gothic"/>
              </a:rPr>
              <a:t>に自律的にターンを重ねさせる</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例：</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goal test/ </a:t>
            </a:r>
            <a:r>
              <a:rPr lang="ja-JP" altLang="en-US">
                <a:solidFill>
                  <a:srgbClr val="404040"/>
                </a:solidFill>
                <a:latin typeface="Yu Gothic"/>
                <a:ea typeface="Yu Gothic"/>
                <a:cs typeface="Yu Gothic"/>
              </a:rPr>
              <a:t>配下のすべてのテストが通り、かつ</a:t>
            </a:r>
            <a:r>
              <a:rPr lang="en" altLang="ja-JP" dirty="0">
                <a:solidFill>
                  <a:srgbClr val="404040"/>
                </a:solidFill>
                <a:latin typeface="Yu Gothic"/>
                <a:ea typeface="Yu Gothic"/>
                <a:cs typeface="Yu Gothic"/>
              </a:rPr>
              <a:t>lint</a:t>
            </a:r>
            <a:r>
              <a:rPr lang="ja-JP" altLang="en-US">
                <a:solidFill>
                  <a:srgbClr val="404040"/>
                </a:solidFill>
                <a:latin typeface="Yu Gothic"/>
                <a:ea typeface="Yu Gothic"/>
                <a:cs typeface="Yu Gothic"/>
              </a:rPr>
              <a:t>エラーが</a:t>
            </a:r>
            <a:r>
              <a:rPr lang="en-US" altLang="ja-JP" dirty="0">
                <a:solidFill>
                  <a:srgbClr val="404040"/>
                </a:solidFill>
                <a:latin typeface="Yu Gothic"/>
                <a:ea typeface="Yu Gothic"/>
                <a:cs typeface="Yu Gothic"/>
              </a:rPr>
              <a:t>0</a:t>
            </a:r>
            <a:r>
              <a:rPr lang="ja-JP" altLang="en-US">
                <a:solidFill>
                  <a:srgbClr val="404040"/>
                </a:solidFill>
                <a:latin typeface="Yu Gothic"/>
                <a:ea typeface="Yu Gothic"/>
                <a:cs typeface="Yu Gothic"/>
              </a:rPr>
              <a:t>件であること</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人がすべてを目視確認するのではなく、自動テストや検証ステップを</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自身に担わせることで手戻りを減らせる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⑨ </a:t>
            </a:r>
            <a:r>
              <a:rPr sz="3200" b="1" dirty="0" err="1">
                <a:latin typeface="Yu Gothic" panose="020B0400000000000000" pitchFamily="34" charset="-128"/>
                <a:ea typeface="Yu Gothic" panose="020B0400000000000000" pitchFamily="34" charset="-128"/>
                <a:cs typeface="Meiryo"/>
              </a:rPr>
              <a:t>成果物を別セッションでレビューする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4911088"/>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同じセッションの中で自己レビューさせると、直前の会話の流れに引きずられ評価が甘くなりやすい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成果物を作ったセッションとは別のセッションを立ち上げ、まっさらな状態で客観的にレビューさせる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ja-JP" altLang="en-US">
                <a:solidFill>
                  <a:srgbClr val="404040"/>
                </a:solidFill>
                <a:latin typeface="Yu Gothic"/>
                <a:ea typeface="Yu Gothic"/>
                <a:cs typeface="Yu Gothic"/>
              </a:rPr>
              <a:t>成果物を別セッションで読み込ませてレビューさせる</a:t>
            </a:r>
          </a:p>
          <a:p>
            <a:pPr marL="274320" indent="0">
              <a:lnSpc>
                <a:spcPct val="113000"/>
              </a:lnSpc>
              <a:spcAft>
                <a:spcPts val="350"/>
              </a:spcAft>
            </a:pPr>
            <a:r>
              <a:rPr lang="ja-JP" altLang="en-US">
                <a:solidFill>
                  <a:srgbClr val="8C8C8C"/>
                </a:solidFill>
                <a:latin typeface="Yu Gothic"/>
                <a:ea typeface="Yu Gothic"/>
                <a:cs typeface="Yu Gothic"/>
              </a:rPr>
              <a:t>    </a:t>
            </a:r>
            <a:r>
              <a:rPr lang="en-US" altLang="ja-JP" dirty="0">
                <a:solidFill>
                  <a:srgbClr val="8C8C8C"/>
                </a:solidFill>
                <a:latin typeface="Yu Gothic"/>
                <a:ea typeface="Yu Gothic"/>
                <a:cs typeface="Yu Gothic"/>
              </a:rPr>
              <a:t>–</a:t>
            </a:r>
            <a:r>
              <a:rPr lang="ja-JP" altLang="en-US">
                <a:solidFill>
                  <a:srgbClr val="2E74B5"/>
                </a:solidFill>
                <a:latin typeface="Yu Gothic"/>
                <a:ea typeface="Yu Gothic"/>
                <a:cs typeface="Yu Gothic"/>
              </a:rPr>
              <a:t> </a:t>
            </a:r>
            <a:r>
              <a:rPr lang="en" altLang="ja-JP" dirty="0" err="1">
                <a:solidFill>
                  <a:srgbClr val="404040"/>
                </a:solidFill>
                <a:latin typeface="Yu Gothic"/>
                <a:ea typeface="Yu Gothic"/>
                <a:cs typeface="Yu Gothic"/>
              </a:rPr>
              <a:t>SendMessage</a:t>
            </a:r>
            <a:r>
              <a:rPr lang="ja-JP" altLang="en-US">
                <a:solidFill>
                  <a:srgbClr val="404040"/>
                </a:solidFill>
                <a:latin typeface="Yu Gothic"/>
                <a:ea typeface="Yu Gothic"/>
                <a:cs typeface="Yu Gothic"/>
              </a:rPr>
              <a:t>ツールを使ってセッション間でやり取りさせ、レビューさせる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en-US" altLang="ja-JP" dirty="0">
                <a:solidFill>
                  <a:srgbClr val="404040"/>
                </a:solidFill>
                <a:latin typeface="Yu Gothic"/>
                <a:ea typeface="Yu Gothic"/>
                <a:cs typeface="Yu Gothic"/>
              </a:rPr>
              <a:t>①</a:t>
            </a:r>
            <a:r>
              <a:rPr lang="ja-JP" altLang="en-US">
                <a:solidFill>
                  <a:srgbClr val="404040"/>
                </a:solidFill>
                <a:latin typeface="Yu Gothic"/>
                <a:ea typeface="Yu Gothic"/>
                <a:cs typeface="Yu Gothic"/>
              </a:rPr>
              <a:t>セッション分割・</a:t>
            </a:r>
            <a:r>
              <a:rPr lang="en-US" altLang="ja-JP" dirty="0">
                <a:solidFill>
                  <a:srgbClr val="404040"/>
                </a:solidFill>
                <a:latin typeface="Yu Gothic"/>
                <a:ea typeface="Yu Gothic"/>
                <a:cs typeface="Yu Gothic"/>
              </a:rPr>
              <a:t>②</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出力・</a:t>
            </a:r>
            <a:r>
              <a:rPr lang="en-US" altLang="ja-JP" dirty="0">
                <a:solidFill>
                  <a:srgbClr val="404040"/>
                </a:solidFill>
                <a:latin typeface="Yu Gothic"/>
                <a:ea typeface="Yu Gothic"/>
                <a:cs typeface="Yu Gothic"/>
              </a:rPr>
              <a:t>⑧</a:t>
            </a:r>
            <a:r>
              <a:rPr lang="ja-JP" altLang="en-US">
                <a:solidFill>
                  <a:srgbClr val="404040"/>
                </a:solidFill>
                <a:latin typeface="Yu Gothic"/>
                <a:ea typeface="Yu Gothic"/>
                <a:cs typeface="Yu Gothic"/>
              </a:rPr>
              <a:t>検証ループの組み合わせ</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作成時の会話コンテキストを一度完全にリセットすることで、</a:t>
            </a:r>
            <a:r>
              <a:rPr lang="en" altLang="ja-JP" dirty="0">
                <a:solidFill>
                  <a:srgbClr val="404040"/>
                </a:solidFill>
                <a:latin typeface="Yu Gothic"/>
                <a:ea typeface="Yu Gothic"/>
                <a:cs typeface="Yu Gothic"/>
              </a:rPr>
              <a:t>AI</a:t>
            </a:r>
            <a:r>
              <a:rPr lang="ja-JP" altLang="en-US">
                <a:solidFill>
                  <a:srgbClr val="404040"/>
                </a:solidFill>
                <a:latin typeface="Yu Gothic"/>
                <a:ea typeface="Yu Gothic"/>
                <a:cs typeface="Yu Gothic"/>
              </a:rPr>
              <a:t>自身の思い込みや甘さを排除した厳密なレビューが可能になる</a:t>
            </a:r>
          </a:p>
        </p:txBody>
      </p:sp>
      <p:sp>
        <p:nvSpPr>
          <p:cNvPr id="7" name="TextBox 1">
            <a:extLst>
              <a:ext uri="{FF2B5EF4-FFF2-40B4-BE49-F238E27FC236}">
                <a16:creationId xmlns:a16="http://schemas.microsoft.com/office/drawing/2014/main" id="{C1F09150-F0E7-772E-85DF-EDC7DAB32416}"/>
              </a:ext>
            </a:extLst>
          </p:cNvPr>
          <p:cNvSpPr txBox="1"/>
          <p:nvPr/>
        </p:nvSpPr>
        <p:spPr>
          <a:xfrm>
            <a:off x="658368" y="274320"/>
            <a:ext cx="2616422"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Ⅲ. </a:t>
            </a:r>
            <a:r>
              <a:rPr sz="1400" dirty="0" err="1">
                <a:solidFill>
                  <a:schemeClr val="bg1">
                    <a:lumMod val="65000"/>
                  </a:schemeClr>
                </a:solidFill>
                <a:latin typeface="Yu Gothic" panose="020B0400000000000000" pitchFamily="34" charset="-128"/>
                <a:ea typeface="Yu Gothic" panose="020B0400000000000000" pitchFamily="34" charset="-128"/>
                <a:cs typeface="Meiryo"/>
              </a:rPr>
              <a:t>検証のループをどう回すか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822960"/>
            <a:ext cx="3657600" cy="2377440"/>
          </a:xfrm>
          <a:prstGeom prst="rect">
            <a:avLst/>
          </a:prstGeom>
          <a:noFill/>
          <a:ln/>
        </p:spPr>
        <p:txBody>
          <a:bodyPr wrap="square" rtlCol="0" anchor="ctr"/>
          <a:lstStyle/>
          <a:p>
            <a:pPr marL="0" indent="0">
              <a:buNone/>
            </a:pPr>
            <a:r>
              <a:rPr lang="en-US" sz="13000" b="1" dirty="0">
                <a:solidFill>
                  <a:srgbClr val="C1613F"/>
                </a:solidFill>
                <a:latin typeface="Yu Gothic" pitchFamily="34" charset="0"/>
                <a:ea typeface="Yu Gothic" pitchFamily="34" charset="-122"/>
                <a:cs typeface="Yu Gothic" pitchFamily="34" charset="-120"/>
              </a:rPr>
              <a:t>04</a:t>
            </a:r>
            <a:endParaRPr lang="en-US" sz="13000" dirty="0"/>
          </a:p>
        </p:txBody>
      </p:sp>
      <p:sp>
        <p:nvSpPr>
          <p:cNvPr id="3" name="Text 1"/>
          <p:cNvSpPr/>
          <p:nvPr/>
        </p:nvSpPr>
        <p:spPr>
          <a:xfrm>
            <a:off x="777240" y="3246120"/>
            <a:ext cx="9875520" cy="914400"/>
          </a:xfrm>
          <a:prstGeom prst="rect">
            <a:avLst/>
          </a:prstGeom>
          <a:noFill/>
          <a:ln/>
        </p:spPr>
        <p:txBody>
          <a:bodyPr wrap="square" rtlCol="0" anchor="ctr"/>
          <a:lstStyle/>
          <a:p>
            <a:pPr marL="0" indent="0">
              <a:buNone/>
            </a:pPr>
            <a:r>
              <a:rPr lang="en-US" sz="3400" b="1" dirty="0">
                <a:solidFill>
                  <a:srgbClr val="3B322B"/>
                </a:solidFill>
                <a:latin typeface="Yu Gothic" pitchFamily="34" charset="0"/>
                <a:ea typeface="Yu Gothic" pitchFamily="34" charset="-122"/>
                <a:cs typeface="Yu Gothic" pitchFamily="34" charset="-120"/>
              </a:rPr>
              <a:t>セッションを超えてどう設計するか</a:t>
            </a:r>
            <a:endParaRPr lang="en-US" sz="3400" dirty="0"/>
          </a:p>
        </p:txBody>
      </p:sp>
      <p:sp>
        <p:nvSpPr>
          <p:cNvPr id="4" name="Text 2"/>
          <p:cNvSpPr/>
          <p:nvPr/>
        </p:nvSpPr>
        <p:spPr>
          <a:xfrm>
            <a:off x="822960" y="4096512"/>
            <a:ext cx="9601200" cy="1097280"/>
          </a:xfrm>
          <a:prstGeom prst="rect">
            <a:avLst/>
          </a:prstGeom>
          <a:noFill/>
          <a:ln/>
        </p:spPr>
        <p:txBody>
          <a:bodyPr wrap="square" rtlCol="0" anchor="t"/>
          <a:lstStyle/>
          <a:p>
            <a:pPr marL="0" indent="0">
              <a:buNone/>
            </a:pPr>
            <a:r>
              <a:rPr lang="en-US" sz="1700" dirty="0">
                <a:solidFill>
                  <a:srgbClr val="8C8074"/>
                </a:solidFill>
                <a:latin typeface="Yu Gothic" pitchFamily="34" charset="0"/>
                <a:ea typeface="Yu Gothic" pitchFamily="34" charset="-122"/>
                <a:cs typeface="Yu Gothic" pitchFamily="34" charset="-120"/>
              </a:rPr>
              <a:t>1セッション内で最適化しても、作業がぶつ切りになると文脈のつながりや全体の進捗が見失われやすいものです。</a:t>
            </a:r>
            <a:endParaRPr lang="en-US" sz="1700" dirty="0"/>
          </a:p>
          <a:p>
            <a:pPr marL="0" indent="0">
              <a:buNone/>
            </a:pPr>
            <a:r>
              <a:rPr lang="en-US" sz="1700" dirty="0">
                <a:solidFill>
                  <a:srgbClr val="8C8074"/>
                </a:solidFill>
                <a:latin typeface="Yu Gothic" pitchFamily="34" charset="0"/>
                <a:ea typeface="Yu Gothic" pitchFamily="34" charset="-122"/>
                <a:cs typeface="Yu Gothic" pitchFamily="34" charset="-120"/>
              </a:rPr>
              <a:t>単発のタスクで終わらせず、複数セッションや一連の工程をどう束ねて設計するかという視座への転換が必要です。</a:t>
            </a:r>
            <a:endParaRPr lang="en-US" sz="1700" dirty="0"/>
          </a:p>
        </p:txBody>
      </p:sp>
      <p:sp>
        <p:nvSpPr>
          <p:cNvPr id="5" name="Shape 3"/>
          <p:cNvSpPr/>
          <p:nvPr/>
        </p:nvSpPr>
        <p:spPr>
          <a:xfrm>
            <a:off x="822960" y="5394960"/>
            <a:ext cx="2743200" cy="530352"/>
          </a:xfrm>
          <a:prstGeom prst="roundRect">
            <a:avLst>
              <a:gd name="adj" fmla="val 50000"/>
            </a:avLst>
          </a:prstGeom>
          <a:solidFill>
            <a:srgbClr val="FBEEE7"/>
          </a:solidFill>
          <a:ln/>
        </p:spPr>
      </p:sp>
      <p:sp>
        <p:nvSpPr>
          <p:cNvPr id="6" name="Text 4"/>
          <p:cNvSpPr/>
          <p:nvPr/>
        </p:nvSpPr>
        <p:spPr>
          <a:xfrm>
            <a:off x="822960" y="5394960"/>
            <a:ext cx="2743200" cy="530352"/>
          </a:xfrm>
          <a:prstGeom prst="rect">
            <a:avLst/>
          </a:prstGeom>
          <a:noFill/>
          <a:ln/>
        </p:spPr>
        <p:txBody>
          <a:bodyPr wrap="square" rtlCol="0" anchor="ctr"/>
          <a:lstStyle/>
          <a:p>
            <a:pPr marL="0" indent="0" algn="ctr">
              <a:buNone/>
            </a:pPr>
            <a:r>
              <a:rPr lang="en-US" sz="1450" b="1" dirty="0">
                <a:solidFill>
                  <a:srgbClr val="C1613F"/>
                </a:solidFill>
                <a:latin typeface="Yu Gothic" pitchFamily="34" charset="0"/>
                <a:ea typeface="Yu Gothic" pitchFamily="34" charset="-122"/>
                <a:cs typeface="Yu Gothic" pitchFamily="34" charset="-120"/>
              </a:rPr>
              <a:t>工夫 ⑩〜⑫</a:t>
            </a:r>
            <a:endParaRPr lang="en-US" sz="1450" dirty="0"/>
          </a:p>
        </p:txBody>
      </p:sp>
      <p:sp>
        <p:nvSpPr>
          <p:cNvPr id="7" name="Text 5"/>
          <p:cNvSpPr/>
          <p:nvPr/>
        </p:nvSpPr>
        <p:spPr>
          <a:xfrm>
            <a:off x="457200" y="6510528"/>
            <a:ext cx="5486400" cy="274320"/>
          </a:xfrm>
          <a:prstGeom prst="rect">
            <a:avLst/>
          </a:prstGeom>
          <a:noFill/>
          <a:ln/>
        </p:spPr>
        <p:txBody>
          <a:bodyPr wrap="square" rtlCol="0" anchor="ctr"/>
          <a:lstStyle/>
          <a:p>
            <a:pPr marL="0" indent="0" algn="l">
              <a:buNone/>
            </a:pPr>
            <a:r>
              <a:rPr lang="en-US" sz="1000" dirty="0">
                <a:solidFill>
                  <a:srgbClr val="8C8074"/>
                </a:solidFill>
                <a:latin typeface="Yu Gothic" pitchFamily="34" charset="0"/>
                <a:ea typeface="Yu Gothic" pitchFamily="34" charset="-122"/>
                <a:cs typeface="Yu Gothic" pitchFamily="34" charset="-120"/>
              </a:rPr>
              <a:t>Claude Codeの活用方法</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74320"/>
            <a:ext cx="3334567"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Ⅳ.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⑩ dynamic </a:t>
            </a:r>
            <a:r>
              <a:rPr sz="3200" b="1" dirty="0" err="1">
                <a:latin typeface="Yu Gothic" panose="020B0400000000000000" pitchFamily="34" charset="-128"/>
                <a:ea typeface="Yu Gothic" panose="020B0400000000000000" pitchFamily="34" charset="-128"/>
                <a:cs typeface="Meiryo"/>
              </a:rPr>
              <a:t>workflowsで並列作業を効率化させる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172826"/>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リポジトリ全体の一括監査や大規模移行など、大量のサブタスクがある作業を通常通りに進めるとコンテキスト肥大化とトークン消費が激しくなる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プロンプトで</a:t>
            </a:r>
            <a:r>
              <a:rPr lang="en" altLang="ja-JP" dirty="0" err="1">
                <a:solidFill>
                  <a:srgbClr val="404040"/>
                </a:solidFill>
                <a:latin typeface="Yu Gothic"/>
                <a:ea typeface="Yu Gothic"/>
                <a:cs typeface="Yu Gothic"/>
              </a:rPr>
              <a:t>ultracode</a:t>
            </a:r>
            <a:r>
              <a:rPr lang="ja-JP" altLang="en-US">
                <a:solidFill>
                  <a:srgbClr val="404040"/>
                </a:solidFill>
                <a:latin typeface="Yu Gothic"/>
                <a:ea typeface="Yu Gothic"/>
                <a:cs typeface="Yu Gothic"/>
              </a:rPr>
              <a:t>を使ってと指示するか</a:t>
            </a:r>
            <a:r>
              <a:rPr lang="en" altLang="ja-JP" dirty="0">
                <a:solidFill>
                  <a:srgbClr val="404040"/>
                </a:solidFill>
                <a:latin typeface="Yu Gothic"/>
                <a:ea typeface="Yu Gothic"/>
                <a:cs typeface="Yu Gothic"/>
              </a:rPr>
              <a:t>effort</a:t>
            </a:r>
            <a:r>
              <a:rPr lang="ja-JP" altLang="en-US">
                <a:solidFill>
                  <a:srgbClr val="404040"/>
                </a:solidFill>
                <a:latin typeface="Yu Gothic"/>
                <a:ea typeface="Yu Gothic"/>
                <a:cs typeface="Yu Gothic"/>
              </a:rPr>
              <a:t>で</a:t>
            </a:r>
            <a:r>
              <a:rPr lang="en" altLang="ja-JP" dirty="0" err="1">
                <a:solidFill>
                  <a:srgbClr val="404040"/>
                </a:solidFill>
                <a:latin typeface="Yu Gothic"/>
                <a:ea typeface="Yu Gothic"/>
                <a:cs typeface="Yu Gothic"/>
              </a:rPr>
              <a:t>ultracode</a:t>
            </a:r>
            <a:r>
              <a:rPr lang="ja-JP" altLang="en-US">
                <a:solidFill>
                  <a:srgbClr val="404040"/>
                </a:solidFill>
                <a:latin typeface="Yu Gothic"/>
                <a:ea typeface="Yu Gothic"/>
                <a:cs typeface="Yu Gothic"/>
              </a:rPr>
              <a:t>指定で、</a:t>
            </a:r>
            <a:r>
              <a:rPr lang="en" altLang="ja-JP" dirty="0">
                <a:solidFill>
                  <a:srgbClr val="404040"/>
                </a:solidFill>
                <a:latin typeface="Yu Gothic"/>
                <a:ea typeface="Yu Gothic"/>
                <a:cs typeface="Yu Gothic"/>
              </a:rPr>
              <a:t>dynamic workflows</a:t>
            </a:r>
            <a:r>
              <a:rPr lang="ja-JP" altLang="en-US">
                <a:solidFill>
                  <a:srgbClr val="404040"/>
                </a:solidFill>
                <a:latin typeface="Yu Gothic"/>
                <a:ea typeface="Yu Gothic"/>
                <a:cs typeface="Yu Gothic"/>
              </a:rPr>
              <a:t>を起動する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効果を発揮する例：リポジトリ全体の一括監査、大規模な実装作業、複数観点からのクロスチェック調査</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サブエージェント呼び出しが大量にあるスキルや作業において、</a:t>
            </a:r>
            <a:r>
              <a:rPr lang="en" altLang="ja-JP" dirty="0">
                <a:solidFill>
                  <a:srgbClr val="404040"/>
                </a:solidFill>
                <a:latin typeface="Yu Gothic"/>
                <a:ea typeface="Yu Gothic"/>
                <a:cs typeface="Yu Gothic"/>
              </a:rPr>
              <a:t>dynamic workflows</a:t>
            </a:r>
            <a:r>
              <a:rPr lang="ja-JP" altLang="en-US">
                <a:solidFill>
                  <a:srgbClr val="404040"/>
                </a:solidFill>
                <a:latin typeface="Yu Gothic"/>
                <a:ea typeface="Yu Gothic"/>
                <a:cs typeface="Yu Gothic"/>
              </a:rPr>
              <a:t>で並列実行させることでトークン消費を効率化できる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逆に、サブエージェント呼び出しが多くない通常の作業で使うとトークン消費が非常に激しくなるため注意が必要（数個程度の並列作業なら通常のサブエージェント委任で十分）</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⑪ </a:t>
            </a:r>
            <a:r>
              <a:rPr sz="3200" b="1" dirty="0" err="1">
                <a:latin typeface="Yu Gothic" panose="020B0400000000000000" pitchFamily="34" charset="-128"/>
                <a:ea typeface="Yu Gothic" panose="020B0400000000000000" pitchFamily="34" charset="-128"/>
                <a:cs typeface="Meiryo"/>
              </a:rPr>
              <a:t>作業を一気通貫で行わせる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224122"/>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調査、設計、実装、レビューを毎回人間が手動でセッションを切り替えて指示していると、作業の引き継ぎ漏れや指示の手間が発生し、属人化しやすい</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スキルのパイプライン化</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一連の工程（課題理解 → 方針検討 → 実装計画 → 実装 → テスト</a:t>
            </a:r>
            <a:r>
              <a:rPr lang="en-US" altLang="ja-JP" dirty="0">
                <a:solidFill>
                  <a:srgbClr val="404040"/>
                </a:solidFill>
                <a:latin typeface="Yu Gothic"/>
                <a:ea typeface="Yu Gothic"/>
                <a:cs typeface="Yu Gothic"/>
              </a:rPr>
              <a:t>/</a:t>
            </a:r>
            <a:r>
              <a:rPr lang="ja-JP" altLang="en-US">
                <a:solidFill>
                  <a:srgbClr val="404040"/>
                </a:solidFill>
                <a:latin typeface="Yu Gothic"/>
                <a:ea typeface="Yu Gothic"/>
                <a:cs typeface="Yu Gothic"/>
              </a:rPr>
              <a:t>レビュー → </a:t>
            </a:r>
            <a:r>
              <a:rPr lang="en" altLang="ja-JP" dirty="0">
                <a:solidFill>
                  <a:srgbClr val="404040"/>
                </a:solidFill>
                <a:latin typeface="Yu Gothic"/>
                <a:ea typeface="Yu Gothic"/>
                <a:cs typeface="Yu Gothic"/>
              </a:rPr>
              <a:t>PR</a:t>
            </a:r>
            <a:r>
              <a:rPr lang="ja-JP" altLang="en-US">
                <a:solidFill>
                  <a:srgbClr val="404040"/>
                </a:solidFill>
                <a:latin typeface="Yu Gothic"/>
                <a:ea typeface="Yu Gothic"/>
                <a:cs typeface="Yu Gothic"/>
              </a:rPr>
              <a:t>作成）を連鎖的に実行する統合ワークフローを組む</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ゲート（確認ポイント）の設計</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「方針検討が終わったら人間に確認」「判断が必要なレビュー指摘は人間に確認」のように、要所にチェックポイントを設けて自律実行させる</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作業の流れが途切れないだけでなく、チーム内で開発手順の標準化ができ、メンバー間の品質のばらつきを防止できる</a:t>
            </a:r>
          </a:p>
        </p:txBody>
      </p:sp>
      <p:sp>
        <p:nvSpPr>
          <p:cNvPr id="7" name="TextBox 1">
            <a:extLst>
              <a:ext uri="{FF2B5EF4-FFF2-40B4-BE49-F238E27FC236}">
                <a16:creationId xmlns:a16="http://schemas.microsoft.com/office/drawing/2014/main" id="{7076F404-EE40-DEC6-8483-B0AF463B80FA}"/>
              </a:ext>
            </a:extLst>
          </p:cNvPr>
          <p:cNvSpPr txBox="1"/>
          <p:nvPr/>
        </p:nvSpPr>
        <p:spPr>
          <a:xfrm>
            <a:off x="658368" y="274320"/>
            <a:ext cx="3334567"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Ⅳ.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530352"/>
            <a:ext cx="11064240" cy="584775"/>
          </a:xfrm>
          <a:prstGeom prst="rect">
            <a:avLst/>
          </a:prstGeom>
          <a:noFill/>
        </p:spPr>
        <p:txBody>
          <a:bodyPr wrap="square">
            <a:spAutoFit/>
          </a:bodyPr>
          <a:lstStyle/>
          <a:p>
            <a:r>
              <a:rPr sz="3200" b="1" dirty="0">
                <a:latin typeface="Yu Gothic" panose="020B0400000000000000" pitchFamily="34" charset="-128"/>
                <a:ea typeface="Yu Gothic" panose="020B0400000000000000" pitchFamily="34" charset="-128"/>
                <a:cs typeface="Meiryo"/>
              </a:rPr>
              <a:t>⑫ </a:t>
            </a:r>
            <a:r>
              <a:rPr sz="3200" b="1" dirty="0" err="1">
                <a:latin typeface="Yu Gothic" panose="020B0400000000000000" pitchFamily="34" charset="-128"/>
                <a:ea typeface="Yu Gothic" panose="020B0400000000000000" pitchFamily="34" charset="-128"/>
                <a:cs typeface="Meiryo"/>
              </a:rPr>
              <a:t>作業記録と進捗を一括管理する</a:t>
            </a:r>
            <a:endParaRPr sz="3200" b="1" dirty="0">
              <a:latin typeface="Yu Gothic" panose="020B0400000000000000" pitchFamily="34" charset="-128"/>
              <a:ea typeface="Yu Gothic" panose="020B0400000000000000" pitchFamily="34" charset="-128"/>
              <a:cs typeface="Meiryo"/>
            </a:endParaRPr>
          </a:p>
        </p:txBody>
      </p:sp>
      <p:sp>
        <p:nvSpPr>
          <p:cNvPr id="4" name="Rectangle 3"/>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481328"/>
            <a:ext cx="10881360" cy="5326715"/>
          </a:xfrm>
          <a:prstGeom prst="rect">
            <a:avLst/>
          </a:prstGeom>
          <a:noFill/>
        </p:spPr>
        <p:txBody>
          <a:bodyPr wrap="square">
            <a:spAutoFit/>
          </a:bodyPr>
          <a:lstStyle/>
          <a:p>
            <a:pPr>
              <a:lnSpc>
                <a:spcPct val="110000"/>
              </a:lnSpc>
              <a:spcBef>
                <a:spcPts val="0"/>
              </a:spcBef>
              <a:spcAft>
                <a:spcPts val="300"/>
              </a:spcAft>
            </a:pPr>
            <a:r>
              <a:rPr lang="ja-JP" altLang="en-US" b="1">
                <a:solidFill>
                  <a:srgbClr val="C55A11"/>
                </a:solidFill>
                <a:latin typeface="Yu Gothic" panose="020B0400000000000000" pitchFamily="34" charset="-128"/>
                <a:ea typeface="Yu Gothic" panose="020B0400000000000000" pitchFamily="34" charset="-128"/>
                <a:cs typeface="Meiryo"/>
              </a:rPr>
              <a:t>■ 課題</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セッションを分けて</a:t>
            </a:r>
            <a:r>
              <a:rPr lang="en" altLang="ja-JP" dirty="0">
                <a:solidFill>
                  <a:srgbClr val="404040"/>
                </a:solidFill>
                <a:latin typeface="Yu Gothic"/>
                <a:ea typeface="Yu Gothic"/>
                <a:cs typeface="Yu Gothic"/>
              </a:rPr>
              <a:t>Markdown</a:t>
            </a:r>
            <a:r>
              <a:rPr lang="ja-JP" altLang="en-US">
                <a:solidFill>
                  <a:srgbClr val="404040"/>
                </a:solidFill>
                <a:latin typeface="Yu Gothic"/>
                <a:ea typeface="Yu Gothic"/>
                <a:cs typeface="Yu Gothic"/>
              </a:rPr>
              <a:t>を量産していくと、「あの調査結果どこだっけ？」「このチケットの決定経緯は？」と情報が散乱し、後からの追跡が困難になる</a:t>
            </a:r>
          </a:p>
          <a:p>
            <a:pPr marL="27432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1F4E79"/>
                </a:solidFill>
                <a:latin typeface="Yu Gothic" panose="020B0400000000000000" pitchFamily="34" charset="-128"/>
                <a:ea typeface="Yu Gothic" panose="020B0400000000000000" pitchFamily="34" charset="-128"/>
                <a:cs typeface="Meiryo"/>
              </a:rPr>
              <a:t>■ 活用方法</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チケット単位のディレクトリ標準化</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課題のチケット番号ごとに専用フォルダ（例：</a:t>
            </a:r>
            <a:r>
              <a:rPr lang="en" altLang="ja-JP" dirty="0">
                <a:solidFill>
                  <a:srgbClr val="404040"/>
                </a:solidFill>
                <a:latin typeface="Yu Gothic"/>
                <a:ea typeface="Yu Gothic"/>
                <a:cs typeface="Yu Gothic"/>
              </a:rPr>
              <a:t>docs/tickets/PROJ-1234/</a:t>
            </a:r>
            <a:r>
              <a:rPr lang="ja-JP" altLang="en">
                <a:solidFill>
                  <a:srgbClr val="404040"/>
                </a:solidFill>
                <a:latin typeface="Yu Gothic"/>
                <a:ea typeface="Yu Gothic"/>
                <a:cs typeface="Yu Gothic"/>
              </a:rPr>
              <a:t>）</a:t>
            </a:r>
            <a:r>
              <a:rPr lang="ja-JP" altLang="en-US">
                <a:solidFill>
                  <a:srgbClr val="404040"/>
                </a:solidFill>
                <a:latin typeface="Yu Gothic"/>
                <a:ea typeface="Yu Gothic"/>
                <a:cs typeface="Yu Gothic"/>
              </a:rPr>
              <a:t>を用意</a:t>
            </a:r>
          </a:p>
          <a:p>
            <a:pPr marL="548640" indent="0">
              <a:lnSpc>
                <a:spcPct val="113000"/>
              </a:lnSpc>
              <a:spcAft>
                <a:spcPts val="350"/>
              </a:spcAft>
            </a:pPr>
            <a:r>
              <a:rPr lang="en-US" altLang="ja-JP" dirty="0">
                <a:solidFill>
                  <a:srgbClr val="8C8C8C"/>
                </a:solidFill>
                <a:latin typeface="Yu Gothic"/>
                <a:ea typeface="Yu Gothic"/>
                <a:cs typeface="Yu Gothic"/>
              </a:rPr>
              <a:t>– </a:t>
            </a:r>
            <a:r>
              <a:rPr lang="en-US" altLang="ja-JP" dirty="0">
                <a:solidFill>
                  <a:srgbClr val="404040"/>
                </a:solidFill>
                <a:latin typeface="Yu Gothic"/>
                <a:ea typeface="Yu Gothic"/>
                <a:cs typeface="Yu Gothic"/>
              </a:rPr>
              <a:t>01_</a:t>
            </a:r>
            <a:r>
              <a:rPr lang="ja-JP" altLang="en-US">
                <a:solidFill>
                  <a:srgbClr val="404040"/>
                </a:solidFill>
                <a:latin typeface="Yu Gothic"/>
                <a:ea typeface="Yu Gothic"/>
                <a:cs typeface="Yu Gothic"/>
              </a:rPr>
              <a:t>調査</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md, 02_</a:t>
            </a:r>
            <a:r>
              <a:rPr lang="ja-JP" altLang="en-US">
                <a:solidFill>
                  <a:srgbClr val="404040"/>
                </a:solidFill>
                <a:latin typeface="Yu Gothic"/>
                <a:ea typeface="Yu Gothic"/>
                <a:cs typeface="Yu Gothic"/>
              </a:rPr>
              <a:t>設計</a:t>
            </a:r>
            <a:r>
              <a:rPr lang="en-US" altLang="ja-JP" dirty="0">
                <a:solidFill>
                  <a:srgbClr val="404040"/>
                </a:solidFill>
                <a:latin typeface="Yu Gothic"/>
                <a:ea typeface="Yu Gothic"/>
                <a:cs typeface="Yu Gothic"/>
              </a:rPr>
              <a:t>.</a:t>
            </a:r>
            <a:r>
              <a:rPr lang="en" altLang="ja-JP" dirty="0">
                <a:solidFill>
                  <a:srgbClr val="404040"/>
                </a:solidFill>
                <a:latin typeface="Yu Gothic"/>
                <a:ea typeface="Yu Gothic"/>
                <a:cs typeface="Yu Gothic"/>
              </a:rPr>
              <a:t>md, </a:t>
            </a:r>
            <a:r>
              <a:rPr lang="ja-JP" altLang="en-US">
                <a:solidFill>
                  <a:srgbClr val="404040"/>
                </a:solidFill>
                <a:latin typeface="Yu Gothic"/>
                <a:ea typeface="Yu Gothic"/>
                <a:cs typeface="Yu Gothic"/>
              </a:rPr>
              <a:t>のように命名規則を固定して出力・集約させる</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進捗管理スキルの運用</a:t>
            </a:r>
          </a:p>
          <a:p>
            <a:pPr marL="548640" indent="0">
              <a:lnSpc>
                <a:spcPct val="113000"/>
              </a:lnSpc>
              <a:spcAft>
                <a:spcPts val="350"/>
              </a:spcAft>
            </a:pPr>
            <a:r>
              <a:rPr lang="en-US" altLang="ja-JP" dirty="0">
                <a:solidFill>
                  <a:srgbClr val="8C8C8C"/>
                </a:solidFill>
                <a:latin typeface="Yu Gothic"/>
                <a:ea typeface="Yu Gothic"/>
                <a:cs typeface="Yu Gothic"/>
              </a:rPr>
              <a:t>– </a:t>
            </a:r>
            <a:r>
              <a:rPr lang="ja-JP" altLang="en-US">
                <a:solidFill>
                  <a:srgbClr val="404040"/>
                </a:solidFill>
                <a:latin typeface="Yu Gothic"/>
                <a:ea typeface="Yu Gothic"/>
                <a:cs typeface="Yu Gothic"/>
              </a:rPr>
              <a:t>現在の進捗状況・決定事項・残タスクをフォルダ内の進捗ドキュメントへ自動更新・記録させる</a:t>
            </a:r>
          </a:p>
          <a:p>
            <a:pPr marL="548640" indent="0">
              <a:lnSpc>
                <a:spcPct val="113000"/>
              </a:lnSpc>
              <a:spcAft>
                <a:spcPts val="350"/>
              </a:spcAft>
            </a:pPr>
            <a:endParaRPr lang="ja-JP" altLang="en-US">
              <a:solidFill>
                <a:srgbClr val="404040"/>
              </a:solidFill>
              <a:latin typeface="Yu Gothic"/>
              <a:ea typeface="Yu Gothic"/>
              <a:cs typeface="Yu Gothic"/>
            </a:endParaRPr>
          </a:p>
          <a:p>
            <a:pPr>
              <a:lnSpc>
                <a:spcPct val="110000"/>
              </a:lnSpc>
              <a:spcBef>
                <a:spcPts val="0"/>
              </a:spcBef>
              <a:spcAft>
                <a:spcPts val="300"/>
              </a:spcAft>
            </a:pPr>
            <a:r>
              <a:rPr lang="ja-JP" altLang="en-US" b="1">
                <a:solidFill>
                  <a:srgbClr val="595959"/>
                </a:solidFill>
                <a:latin typeface="Yu Gothic" panose="020B0400000000000000" pitchFamily="34" charset="-128"/>
                <a:ea typeface="Yu Gothic" panose="020B0400000000000000" pitchFamily="34" charset="-128"/>
                <a:cs typeface="Meiryo"/>
              </a:rPr>
              <a:t>■ ポイント・注意点</a:t>
            </a:r>
          </a:p>
          <a:p>
            <a:pPr marL="274320" indent="0">
              <a:lnSpc>
                <a:spcPct val="113000"/>
              </a:lnSpc>
              <a:spcAft>
                <a:spcPts val="350"/>
              </a:spcAft>
            </a:pPr>
            <a:r>
              <a:rPr lang="en-US" altLang="ja-JP" dirty="0">
                <a:latin typeface="Yu Gothic"/>
                <a:ea typeface="Yu Gothic"/>
                <a:cs typeface="Yu Gothic"/>
              </a:rPr>
              <a:t>•</a:t>
            </a:r>
            <a:r>
              <a:rPr lang="en-US" altLang="ja-JP" dirty="0">
                <a:solidFill>
                  <a:srgbClr val="2E74B5"/>
                </a:solidFill>
                <a:latin typeface="Yu Gothic"/>
                <a:ea typeface="Yu Gothic"/>
                <a:cs typeface="Yu Gothic"/>
              </a:rPr>
              <a:t> </a:t>
            </a:r>
            <a:r>
              <a:rPr lang="ja-JP" altLang="en-US">
                <a:solidFill>
                  <a:srgbClr val="404040"/>
                </a:solidFill>
                <a:latin typeface="Yu Gothic"/>
                <a:ea typeface="Yu Gothic"/>
                <a:cs typeface="Yu Gothic"/>
              </a:rPr>
              <a:t>作業記録がそのまま「</a:t>
            </a:r>
            <a:r>
              <a:rPr lang="en" altLang="ja-JP" dirty="0">
                <a:solidFill>
                  <a:srgbClr val="404040"/>
                </a:solidFill>
                <a:latin typeface="Yu Gothic"/>
                <a:ea typeface="Yu Gothic"/>
                <a:cs typeface="Yu Gothic"/>
              </a:rPr>
              <a:t>PR</a:t>
            </a:r>
            <a:r>
              <a:rPr lang="ja-JP" altLang="en-US">
                <a:solidFill>
                  <a:srgbClr val="404040"/>
                </a:solidFill>
                <a:latin typeface="Yu Gothic"/>
                <a:ea typeface="Yu Gothic"/>
                <a:cs typeface="Yu Gothic"/>
              </a:rPr>
              <a:t>の説明文」や「チームへの引き継ぎ資料」として使えるため、ドキュメント作成コストが少なくなる</a:t>
            </a:r>
          </a:p>
          <a:p>
            <a:pPr marL="274320">
              <a:lnSpc>
                <a:spcPct val="113000"/>
              </a:lnSpc>
              <a:spcAft>
                <a:spcPts val="350"/>
              </a:spcAft>
            </a:pPr>
            <a:r>
              <a:rPr lang="en-US" altLang="ja-JP" dirty="0">
                <a:latin typeface="Yu Gothic"/>
                <a:ea typeface="Yu Gothic"/>
                <a:cs typeface="Yu Gothic"/>
              </a:rPr>
              <a:t>• </a:t>
            </a:r>
            <a:r>
              <a:rPr lang="ja-JP" altLang="en-US">
                <a:solidFill>
                  <a:srgbClr val="404040"/>
                </a:solidFill>
                <a:latin typeface="Yu Gothic"/>
                <a:ea typeface="Yu Gothic"/>
                <a:cs typeface="Yu Gothic"/>
              </a:rPr>
              <a:t>スキルやレビュー観点の改善にも生かしやすい</a:t>
            </a:r>
          </a:p>
        </p:txBody>
      </p:sp>
      <p:sp>
        <p:nvSpPr>
          <p:cNvPr id="7" name="TextBox 1">
            <a:extLst>
              <a:ext uri="{FF2B5EF4-FFF2-40B4-BE49-F238E27FC236}">
                <a16:creationId xmlns:a16="http://schemas.microsoft.com/office/drawing/2014/main" id="{FD9AE718-1A4F-3CBB-19BA-E30DA9406EB9}"/>
              </a:ext>
            </a:extLst>
          </p:cNvPr>
          <p:cNvSpPr txBox="1"/>
          <p:nvPr/>
        </p:nvSpPr>
        <p:spPr>
          <a:xfrm>
            <a:off x="658368" y="274320"/>
            <a:ext cx="3334567" cy="307777"/>
          </a:xfrm>
          <a:prstGeom prst="rect">
            <a:avLst/>
          </a:prstGeom>
          <a:noFill/>
        </p:spPr>
        <p:txBody>
          <a:bodyPr wrap="none">
            <a:spAutoFit/>
          </a:bodyPr>
          <a:lstStyle/>
          <a:p>
            <a:r>
              <a:rPr sz="1400" dirty="0">
                <a:solidFill>
                  <a:schemeClr val="bg1">
                    <a:lumMod val="65000"/>
                  </a:schemeClr>
                </a:solidFill>
                <a:latin typeface="Yu Gothic" panose="020B0400000000000000" pitchFamily="34" charset="-128"/>
                <a:ea typeface="Yu Gothic" panose="020B0400000000000000" pitchFamily="34" charset="-128"/>
                <a:cs typeface="Meiryo"/>
              </a:rPr>
              <a:t>Ⅳ. </a:t>
            </a:r>
            <a:r>
              <a:rPr sz="1400" dirty="0" err="1">
                <a:solidFill>
                  <a:schemeClr val="bg1">
                    <a:lumMod val="65000"/>
                  </a:schemeClr>
                </a:solidFill>
                <a:latin typeface="Yu Gothic" panose="020B0400000000000000" pitchFamily="34" charset="-128"/>
                <a:ea typeface="Yu Gothic" panose="020B0400000000000000" pitchFamily="34" charset="-128"/>
                <a:cs typeface="Meiryo"/>
              </a:rPr>
              <a:t>セッションを超えてどう設計するか</a:t>
            </a:r>
            <a:endParaRPr sz="1400" dirty="0">
              <a:solidFill>
                <a:schemeClr val="bg1">
                  <a:lumMod val="65000"/>
                </a:schemeClr>
              </a:solidFill>
              <a:latin typeface="Yu Gothic" panose="020B0400000000000000" pitchFamily="34" charset="-128"/>
              <a:ea typeface="Yu Gothic" panose="020B0400000000000000" pitchFamily="34" charset="-128"/>
              <a:cs typeface="Meiry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457200"/>
            <a:ext cx="8229600" cy="685800"/>
          </a:xfrm>
          <a:prstGeom prst="rect">
            <a:avLst/>
          </a:prstGeom>
          <a:noFill/>
          <a:ln/>
        </p:spPr>
        <p:txBody>
          <a:bodyPr wrap="square" rtlCol="0" anchor="ctr"/>
          <a:lstStyle/>
          <a:p>
            <a:pPr marL="0" indent="0">
              <a:buNone/>
            </a:pPr>
            <a:r>
              <a:rPr lang="en-US" sz="3200" b="1" dirty="0" err="1">
                <a:solidFill>
                  <a:srgbClr val="3B322B"/>
                </a:solidFill>
                <a:latin typeface="Yu Gothic" pitchFamily="34" charset="0"/>
                <a:ea typeface="Yu Gothic" pitchFamily="34" charset="-122"/>
              </a:rPr>
              <a:t>まとめ</a:t>
            </a:r>
            <a:endParaRPr lang="en-US" sz="3200" dirty="0"/>
          </a:p>
        </p:txBody>
      </p:sp>
      <p:sp>
        <p:nvSpPr>
          <p:cNvPr id="3" name="Shape 1"/>
          <p:cNvSpPr/>
          <p:nvPr/>
        </p:nvSpPr>
        <p:spPr>
          <a:xfrm>
            <a:off x="640080" y="1591056"/>
            <a:ext cx="54864" cy="585216"/>
          </a:xfrm>
          <a:prstGeom prst="rect">
            <a:avLst/>
          </a:prstGeom>
          <a:solidFill>
            <a:srgbClr val="C1613F"/>
          </a:solidFill>
          <a:ln/>
        </p:spPr>
      </p:sp>
      <p:sp>
        <p:nvSpPr>
          <p:cNvPr id="4" name="Text 2"/>
          <p:cNvSpPr/>
          <p:nvPr/>
        </p:nvSpPr>
        <p:spPr>
          <a:xfrm>
            <a:off x="914400" y="1463040"/>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01</a:t>
            </a:r>
            <a:endParaRPr lang="en-US" sz="2400" dirty="0"/>
          </a:p>
        </p:txBody>
      </p:sp>
      <p:sp>
        <p:nvSpPr>
          <p:cNvPr id="5" name="Text 3"/>
          <p:cNvSpPr/>
          <p:nvPr/>
        </p:nvSpPr>
        <p:spPr>
          <a:xfrm>
            <a:off x="1600200" y="1463040"/>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コンテキスト</a:t>
            </a:r>
            <a:endParaRPr lang="en-US" sz="1550" dirty="0"/>
          </a:p>
        </p:txBody>
      </p:sp>
      <p:sp>
        <p:nvSpPr>
          <p:cNvPr id="6" name="Text 4"/>
          <p:cNvSpPr/>
          <p:nvPr/>
        </p:nvSpPr>
        <p:spPr>
          <a:xfrm>
            <a:off x="3703320" y="1463040"/>
            <a:ext cx="7635240" cy="841248"/>
          </a:xfrm>
          <a:prstGeom prst="rect">
            <a:avLst/>
          </a:prstGeom>
          <a:noFill/>
          <a:ln/>
        </p:spPr>
        <p:txBody>
          <a:bodyPr wrap="square" rtlCol="0" anchor="ctr"/>
          <a:lstStyle/>
          <a:p>
            <a:pPr marL="0" indent="0">
              <a:buNone/>
            </a:pPr>
            <a:r>
              <a:rPr lang="en-US" sz="1350" dirty="0">
                <a:solidFill>
                  <a:srgbClr val="3B322B"/>
                </a:solidFill>
                <a:latin typeface="Yu Gothic" pitchFamily="34" charset="0"/>
                <a:ea typeface="Yu Gothic" pitchFamily="34" charset="-122"/>
                <a:cs typeface="Yu Gothic" pitchFamily="34" charset="-120"/>
              </a:rPr>
              <a:t>①セッション分割（/clear）　②Markdownファイル出力　③MEMORY.mdで個別最適化</a:t>
            </a:r>
            <a:endParaRPr lang="en-US" sz="1350" dirty="0"/>
          </a:p>
        </p:txBody>
      </p:sp>
      <p:sp>
        <p:nvSpPr>
          <p:cNvPr id="7" name="Shape 5"/>
          <p:cNvSpPr/>
          <p:nvPr/>
        </p:nvSpPr>
        <p:spPr>
          <a:xfrm>
            <a:off x="640080" y="2304288"/>
            <a:ext cx="10881360" cy="0"/>
          </a:xfrm>
          <a:prstGeom prst="line">
            <a:avLst/>
          </a:prstGeom>
          <a:noFill/>
          <a:ln w="12700">
            <a:solidFill>
              <a:srgbClr val="E7E1DA"/>
            </a:solidFill>
            <a:prstDash val="solid"/>
          </a:ln>
        </p:spPr>
      </p:sp>
      <p:sp>
        <p:nvSpPr>
          <p:cNvPr id="8" name="Shape 6"/>
          <p:cNvSpPr/>
          <p:nvPr/>
        </p:nvSpPr>
        <p:spPr>
          <a:xfrm>
            <a:off x="640080" y="2432304"/>
            <a:ext cx="54864" cy="585216"/>
          </a:xfrm>
          <a:prstGeom prst="rect">
            <a:avLst/>
          </a:prstGeom>
          <a:solidFill>
            <a:srgbClr val="C1613F"/>
          </a:solidFill>
          <a:ln/>
        </p:spPr>
      </p:sp>
      <p:sp>
        <p:nvSpPr>
          <p:cNvPr id="9" name="Text 7"/>
          <p:cNvSpPr/>
          <p:nvPr/>
        </p:nvSpPr>
        <p:spPr>
          <a:xfrm>
            <a:off x="914400" y="2304288"/>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02</a:t>
            </a:r>
            <a:endParaRPr lang="en-US" sz="2400" dirty="0"/>
          </a:p>
        </p:txBody>
      </p:sp>
      <p:sp>
        <p:nvSpPr>
          <p:cNvPr id="10" name="Text 8"/>
          <p:cNvSpPr/>
          <p:nvPr/>
        </p:nvSpPr>
        <p:spPr>
          <a:xfrm>
            <a:off x="1600200" y="2304288"/>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環境・道具</a:t>
            </a:r>
            <a:endParaRPr lang="en-US" sz="1550" dirty="0"/>
          </a:p>
        </p:txBody>
      </p:sp>
      <p:sp>
        <p:nvSpPr>
          <p:cNvPr id="11" name="Text 9"/>
          <p:cNvSpPr/>
          <p:nvPr/>
        </p:nvSpPr>
        <p:spPr>
          <a:xfrm>
            <a:off x="3703320" y="2304288"/>
            <a:ext cx="7635240" cy="841248"/>
          </a:xfrm>
          <a:prstGeom prst="rect">
            <a:avLst/>
          </a:prstGeom>
          <a:noFill/>
          <a:ln/>
        </p:spPr>
        <p:txBody>
          <a:bodyPr wrap="square" rtlCol="0" anchor="ctr"/>
          <a:lstStyle/>
          <a:p>
            <a:pPr marL="0" indent="0">
              <a:buNone/>
            </a:pPr>
            <a:r>
              <a:rPr lang="en-US" sz="1350" dirty="0">
                <a:solidFill>
                  <a:srgbClr val="3B322B"/>
                </a:solidFill>
                <a:latin typeface="Yu Gothic" pitchFamily="34" charset="0"/>
                <a:ea typeface="Yu Gothic" pitchFamily="34" charset="-122"/>
                <a:cs typeface="Yu Gothic" pitchFamily="34" charset="-120"/>
              </a:rPr>
              <a:t>④モデル/effort使い分け　⑤output style　⑥advisor　⑦スキル作成・改善</a:t>
            </a:r>
            <a:endParaRPr lang="en-US" sz="1350" dirty="0"/>
          </a:p>
        </p:txBody>
      </p:sp>
      <p:sp>
        <p:nvSpPr>
          <p:cNvPr id="12" name="Shape 10"/>
          <p:cNvSpPr/>
          <p:nvPr/>
        </p:nvSpPr>
        <p:spPr>
          <a:xfrm>
            <a:off x="640080" y="3145536"/>
            <a:ext cx="10881360" cy="0"/>
          </a:xfrm>
          <a:prstGeom prst="line">
            <a:avLst/>
          </a:prstGeom>
          <a:noFill/>
          <a:ln w="12700">
            <a:solidFill>
              <a:srgbClr val="E7E1DA"/>
            </a:solidFill>
            <a:prstDash val="solid"/>
          </a:ln>
        </p:spPr>
      </p:sp>
      <p:sp>
        <p:nvSpPr>
          <p:cNvPr id="13" name="Shape 11"/>
          <p:cNvSpPr/>
          <p:nvPr/>
        </p:nvSpPr>
        <p:spPr>
          <a:xfrm>
            <a:off x="640080" y="3273552"/>
            <a:ext cx="54864" cy="585216"/>
          </a:xfrm>
          <a:prstGeom prst="rect">
            <a:avLst/>
          </a:prstGeom>
          <a:solidFill>
            <a:srgbClr val="C1613F"/>
          </a:solidFill>
          <a:ln/>
        </p:spPr>
      </p:sp>
      <p:sp>
        <p:nvSpPr>
          <p:cNvPr id="14" name="Text 12"/>
          <p:cNvSpPr/>
          <p:nvPr/>
        </p:nvSpPr>
        <p:spPr>
          <a:xfrm>
            <a:off x="914400" y="3145536"/>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03</a:t>
            </a:r>
            <a:endParaRPr lang="en-US" sz="2400" dirty="0"/>
          </a:p>
        </p:txBody>
      </p:sp>
      <p:sp>
        <p:nvSpPr>
          <p:cNvPr id="15" name="Text 13"/>
          <p:cNvSpPr/>
          <p:nvPr/>
        </p:nvSpPr>
        <p:spPr>
          <a:xfrm>
            <a:off x="1600200" y="3145536"/>
            <a:ext cx="2011680" cy="841248"/>
          </a:xfrm>
          <a:prstGeom prst="rect">
            <a:avLst/>
          </a:prstGeom>
          <a:noFill/>
          <a:ln/>
        </p:spPr>
        <p:txBody>
          <a:bodyPr wrap="square" rtlCol="0" anchor="ctr"/>
          <a:lstStyle/>
          <a:p>
            <a:pPr marL="0" indent="0">
              <a:buNone/>
            </a:pPr>
            <a:r>
              <a:rPr lang="en-US" sz="1550" b="1" dirty="0">
                <a:solidFill>
                  <a:srgbClr val="3B322B"/>
                </a:solidFill>
                <a:latin typeface="Yu Gothic" pitchFamily="34" charset="0"/>
                <a:ea typeface="Yu Gothic" pitchFamily="34" charset="-122"/>
                <a:cs typeface="Yu Gothic" pitchFamily="34" charset="-120"/>
              </a:rPr>
              <a:t>検証ループ</a:t>
            </a:r>
            <a:endParaRPr lang="en-US" sz="1550" dirty="0"/>
          </a:p>
        </p:txBody>
      </p:sp>
      <p:sp>
        <p:nvSpPr>
          <p:cNvPr id="16" name="Text 14"/>
          <p:cNvSpPr/>
          <p:nvPr/>
        </p:nvSpPr>
        <p:spPr>
          <a:xfrm>
            <a:off x="3703320" y="3145536"/>
            <a:ext cx="7635240" cy="841248"/>
          </a:xfrm>
          <a:prstGeom prst="rect">
            <a:avLst/>
          </a:prstGeom>
          <a:noFill/>
          <a:ln/>
        </p:spPr>
        <p:txBody>
          <a:bodyPr wrap="square" rtlCol="0" anchor="ctr"/>
          <a:lstStyle/>
          <a:p>
            <a:pPr marL="0" indent="0">
              <a:buNone/>
            </a:pPr>
            <a:r>
              <a:rPr lang="en-US" sz="1350" dirty="0">
                <a:solidFill>
                  <a:srgbClr val="3B322B"/>
                </a:solidFill>
                <a:latin typeface="Yu Gothic" pitchFamily="34" charset="0"/>
                <a:ea typeface="Yu Gothic" pitchFamily="34" charset="-122"/>
                <a:cs typeface="Yu Gothic" pitchFamily="34" charset="-120"/>
              </a:rPr>
              <a:t>⑧検証ループ（/goal）　⑨別セッションレビュー</a:t>
            </a:r>
            <a:endParaRPr lang="en-US" sz="1350" dirty="0"/>
          </a:p>
        </p:txBody>
      </p:sp>
      <p:sp>
        <p:nvSpPr>
          <p:cNvPr id="17" name="Shape 15"/>
          <p:cNvSpPr/>
          <p:nvPr/>
        </p:nvSpPr>
        <p:spPr>
          <a:xfrm>
            <a:off x="640080" y="3986784"/>
            <a:ext cx="10881360" cy="0"/>
          </a:xfrm>
          <a:prstGeom prst="line">
            <a:avLst/>
          </a:prstGeom>
          <a:noFill/>
          <a:ln w="12700">
            <a:solidFill>
              <a:srgbClr val="E7E1DA"/>
            </a:solidFill>
            <a:prstDash val="solid"/>
          </a:ln>
        </p:spPr>
      </p:sp>
      <p:sp>
        <p:nvSpPr>
          <p:cNvPr id="18" name="Shape 16"/>
          <p:cNvSpPr/>
          <p:nvPr/>
        </p:nvSpPr>
        <p:spPr>
          <a:xfrm>
            <a:off x="640080" y="4114800"/>
            <a:ext cx="54864" cy="585216"/>
          </a:xfrm>
          <a:prstGeom prst="rect">
            <a:avLst/>
          </a:prstGeom>
          <a:solidFill>
            <a:srgbClr val="C1613F"/>
          </a:solidFill>
          <a:ln/>
        </p:spPr>
      </p:sp>
      <p:sp>
        <p:nvSpPr>
          <p:cNvPr id="19" name="Text 17"/>
          <p:cNvSpPr/>
          <p:nvPr/>
        </p:nvSpPr>
        <p:spPr>
          <a:xfrm>
            <a:off x="914400" y="3986784"/>
            <a:ext cx="548640" cy="841248"/>
          </a:xfrm>
          <a:prstGeom prst="rect">
            <a:avLst/>
          </a:prstGeom>
          <a:noFill/>
          <a:ln/>
        </p:spPr>
        <p:txBody>
          <a:bodyPr wrap="square" rtlCol="0" anchor="ctr"/>
          <a:lstStyle/>
          <a:p>
            <a:pPr marL="0" indent="0" algn="l">
              <a:buNone/>
            </a:pPr>
            <a:r>
              <a:rPr lang="en-US" sz="2400" b="1" dirty="0">
                <a:solidFill>
                  <a:srgbClr val="C1613F"/>
                </a:solidFill>
                <a:latin typeface="Yu Gothic" pitchFamily="34" charset="0"/>
                <a:ea typeface="Yu Gothic" pitchFamily="34" charset="-122"/>
                <a:cs typeface="Yu Gothic" pitchFamily="34" charset="-120"/>
              </a:rPr>
              <a:t>04</a:t>
            </a:r>
            <a:endParaRPr lang="en-US" sz="2400" dirty="0"/>
          </a:p>
        </p:txBody>
      </p:sp>
      <p:sp>
        <p:nvSpPr>
          <p:cNvPr id="20" name="Text 18"/>
          <p:cNvSpPr/>
          <p:nvPr/>
        </p:nvSpPr>
        <p:spPr>
          <a:xfrm>
            <a:off x="1600200" y="3986784"/>
            <a:ext cx="2011680" cy="841248"/>
          </a:xfrm>
          <a:prstGeom prst="rect">
            <a:avLst/>
          </a:prstGeom>
          <a:noFill/>
          <a:ln/>
        </p:spPr>
        <p:txBody>
          <a:bodyPr wrap="square" rtlCol="0" anchor="ctr"/>
          <a:lstStyle/>
          <a:p>
            <a:pPr marL="0" indent="0">
              <a:buNone/>
            </a:pPr>
            <a:r>
              <a:rPr lang="en-US" sz="1550" b="1" dirty="0" err="1">
                <a:solidFill>
                  <a:srgbClr val="3B322B"/>
                </a:solidFill>
                <a:latin typeface="Yu Gothic" pitchFamily="34" charset="0"/>
                <a:ea typeface="Yu Gothic" pitchFamily="34" charset="-122"/>
              </a:rPr>
              <a:t>ワークフロー設計</a:t>
            </a:r>
            <a:endParaRPr lang="en-US" sz="1550" dirty="0"/>
          </a:p>
        </p:txBody>
      </p:sp>
      <p:sp>
        <p:nvSpPr>
          <p:cNvPr id="21" name="Text 19"/>
          <p:cNvSpPr/>
          <p:nvPr/>
        </p:nvSpPr>
        <p:spPr>
          <a:xfrm>
            <a:off x="3703320" y="3986784"/>
            <a:ext cx="7635240" cy="841248"/>
          </a:xfrm>
          <a:prstGeom prst="rect">
            <a:avLst/>
          </a:prstGeom>
          <a:noFill/>
          <a:ln/>
        </p:spPr>
        <p:txBody>
          <a:bodyPr wrap="square" rtlCol="0" anchor="ctr"/>
          <a:lstStyle/>
          <a:p>
            <a:pPr marL="0" indent="0">
              <a:buNone/>
            </a:pPr>
            <a:r>
              <a:rPr lang="en-US" sz="1350" dirty="0">
                <a:solidFill>
                  <a:srgbClr val="3B322B"/>
                </a:solidFill>
                <a:latin typeface="Yu Gothic" pitchFamily="34" charset="0"/>
                <a:ea typeface="Yu Gothic" pitchFamily="34" charset="-122"/>
                <a:cs typeface="Yu Gothic" pitchFamily="34" charset="-120"/>
              </a:rPr>
              <a:t>⑩dynamic workflowsによる並列化　⑪一気通貫実行　⑫進捗の一括管理</a:t>
            </a:r>
            <a:endParaRPr lang="en-US" sz="1350" dirty="0"/>
          </a:p>
        </p:txBody>
      </p:sp>
      <p:sp>
        <p:nvSpPr>
          <p:cNvPr id="22" name="Text 20"/>
          <p:cNvSpPr/>
          <p:nvPr/>
        </p:nvSpPr>
        <p:spPr>
          <a:xfrm>
            <a:off x="640080" y="5029200"/>
            <a:ext cx="10881360" cy="1051560"/>
          </a:xfrm>
          <a:prstGeom prst="rect">
            <a:avLst/>
          </a:prstGeom>
          <a:noFill/>
          <a:ln/>
        </p:spPr>
        <p:txBody>
          <a:bodyPr wrap="square" rtlCol="0" anchor="t"/>
          <a:lstStyle/>
          <a:p>
            <a:pPr>
              <a:spcAft>
                <a:spcPts val="600"/>
              </a:spcAft>
              <a:buSzPct val="100000"/>
            </a:pPr>
            <a:r>
              <a:rPr lang="en-US" altLang="ja-JP" sz="1600" dirty="0">
                <a:latin typeface="Yu Gothic"/>
                <a:ea typeface="Yu Gothic"/>
                <a:cs typeface="Yu Gothic"/>
              </a:rPr>
              <a:t>• </a:t>
            </a:r>
            <a:r>
              <a:rPr lang="en-US" altLang="ja-JP" sz="1600" dirty="0" err="1">
                <a:solidFill>
                  <a:srgbClr val="3B322B"/>
                </a:solidFill>
                <a:latin typeface="Yu Gothic" pitchFamily="34" charset="0"/>
                <a:ea typeface="Yu Gothic" pitchFamily="34" charset="-122"/>
                <a:cs typeface="Yu Gothic" pitchFamily="34" charset="-120"/>
              </a:rPr>
              <a:t>それぞれの工夫は独立したものではなく、組み合わせて使うことで効果が何倍にも高まる</a:t>
            </a:r>
            <a:endParaRPr lang="en-US" altLang="ja-JP" sz="1600" dirty="0"/>
          </a:p>
          <a:p>
            <a:pPr>
              <a:spcAft>
                <a:spcPts val="600"/>
              </a:spcAft>
              <a:buSzPct val="100000"/>
            </a:pPr>
            <a:r>
              <a:rPr lang="en-US" altLang="ja-JP" sz="1600" dirty="0">
                <a:latin typeface="Yu Gothic"/>
                <a:ea typeface="Yu Gothic"/>
                <a:cs typeface="Yu Gothic"/>
              </a:rPr>
              <a:t>• </a:t>
            </a:r>
            <a:r>
              <a:rPr lang="en-US" altLang="ja-JP" sz="1600" dirty="0" err="1">
                <a:solidFill>
                  <a:srgbClr val="3B322B"/>
                </a:solidFill>
                <a:latin typeface="Yu Gothic" pitchFamily="34" charset="0"/>
                <a:ea typeface="Yu Gothic" pitchFamily="34" charset="-122"/>
                <a:cs typeface="Yu Gothic" pitchFamily="34" charset="-120"/>
              </a:rPr>
              <a:t>すべてを一度にやる必要はなく、自分のプロジェクトやタスクの特性に合わせて取捨選択</a:t>
            </a:r>
            <a:r>
              <a:rPr lang="ja-JP" altLang="en-US" sz="1600">
                <a:solidFill>
                  <a:srgbClr val="3B322B"/>
                </a:solidFill>
                <a:latin typeface="Yu Gothic" pitchFamily="34" charset="0"/>
                <a:ea typeface="Yu Gothic" pitchFamily="34" charset="-122"/>
                <a:cs typeface="Yu Gothic" pitchFamily="34" charset="-120"/>
              </a:rPr>
              <a:t>、</a:t>
            </a:r>
            <a:r>
              <a:rPr lang="en-US" altLang="ja-JP" sz="1600" dirty="0" err="1">
                <a:solidFill>
                  <a:srgbClr val="3B322B"/>
                </a:solidFill>
                <a:latin typeface="Yu Gothic" pitchFamily="34" charset="0"/>
                <a:ea typeface="Yu Gothic" pitchFamily="34" charset="-122"/>
                <a:cs typeface="Yu Gothic" pitchFamily="34" charset="-120"/>
              </a:rPr>
              <a:t>カスタマイズしていくことが大切</a:t>
            </a:r>
            <a:endParaRPr lang="en-US" altLang="ja-JP" sz="1600" dirty="0"/>
          </a:p>
        </p:txBody>
      </p:sp>
      <p:sp>
        <p:nvSpPr>
          <p:cNvPr id="25" name="Rectangle 3">
            <a:extLst>
              <a:ext uri="{FF2B5EF4-FFF2-40B4-BE49-F238E27FC236}">
                <a16:creationId xmlns:a16="http://schemas.microsoft.com/office/drawing/2014/main" id="{9DD5B68A-00A0-3FB6-11EE-AEE9A417FF4C}"/>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457200"/>
            <a:ext cx="8229600" cy="685800"/>
          </a:xfrm>
          <a:prstGeom prst="rect">
            <a:avLst/>
          </a:prstGeom>
          <a:noFill/>
          <a:ln/>
        </p:spPr>
        <p:txBody>
          <a:bodyPr wrap="square" rtlCol="0" anchor="ctr"/>
          <a:lstStyle/>
          <a:p>
            <a:pPr marL="0" indent="0">
              <a:buNone/>
            </a:pPr>
            <a:r>
              <a:rPr lang="en-US" sz="3200" b="1" dirty="0">
                <a:solidFill>
                  <a:srgbClr val="3B322B"/>
                </a:solidFill>
                <a:latin typeface="Yu Gothic" pitchFamily="34" charset="0"/>
                <a:ea typeface="Yu Gothic" pitchFamily="34" charset="-122"/>
                <a:cs typeface="Yu Gothic" pitchFamily="34" charset="-120"/>
              </a:rPr>
              <a:t>今日からできること</a:t>
            </a:r>
            <a:endParaRPr lang="en-US" sz="3200" dirty="0"/>
          </a:p>
        </p:txBody>
      </p:sp>
      <p:sp>
        <p:nvSpPr>
          <p:cNvPr id="3" name="Shape 1"/>
          <p:cNvSpPr/>
          <p:nvPr/>
        </p:nvSpPr>
        <p:spPr>
          <a:xfrm>
            <a:off x="640080" y="1417320"/>
            <a:ext cx="10881360" cy="1417320"/>
          </a:xfrm>
          <a:prstGeom prst="roundRect">
            <a:avLst>
              <a:gd name="adj" fmla="val 5806"/>
            </a:avLst>
          </a:prstGeom>
          <a:solidFill>
            <a:srgbClr val="FBEEE7"/>
          </a:solidFill>
          <a:ln/>
        </p:spPr>
      </p:sp>
      <p:sp>
        <p:nvSpPr>
          <p:cNvPr id="4" name="Shape 2"/>
          <p:cNvSpPr/>
          <p:nvPr/>
        </p:nvSpPr>
        <p:spPr>
          <a:xfrm>
            <a:off x="914400" y="1691640"/>
            <a:ext cx="822960" cy="822960"/>
          </a:xfrm>
          <a:prstGeom prst="ellipse">
            <a:avLst/>
          </a:prstGeom>
          <a:solidFill>
            <a:srgbClr val="C1613F"/>
          </a:solidFill>
          <a:ln/>
        </p:spPr>
      </p:sp>
      <p:sp>
        <p:nvSpPr>
          <p:cNvPr id="5" name="Text 3"/>
          <p:cNvSpPr/>
          <p:nvPr/>
        </p:nvSpPr>
        <p:spPr>
          <a:xfrm>
            <a:off x="914400" y="1691640"/>
            <a:ext cx="822960" cy="822960"/>
          </a:xfrm>
          <a:prstGeom prst="rect">
            <a:avLst/>
          </a:prstGeom>
          <a:noFill/>
          <a:ln/>
        </p:spPr>
        <p:txBody>
          <a:bodyPr wrap="square" rtlCol="0" anchor="ctr"/>
          <a:lstStyle/>
          <a:p>
            <a:pPr marL="0" indent="0" algn="ctr">
              <a:buNone/>
            </a:pPr>
            <a:r>
              <a:rPr lang="en-US" sz="2100" b="1" dirty="0">
                <a:solidFill>
                  <a:srgbClr val="FFFFFF"/>
                </a:solidFill>
                <a:latin typeface="Yu Gothic" pitchFamily="34" charset="0"/>
                <a:ea typeface="Yu Gothic" pitchFamily="34" charset="-122"/>
                <a:cs typeface="Yu Gothic" pitchFamily="34" charset="-120"/>
              </a:rPr>
              <a:t>1</a:t>
            </a:r>
            <a:endParaRPr lang="en-US" sz="2100" dirty="0"/>
          </a:p>
        </p:txBody>
      </p:sp>
      <p:sp>
        <p:nvSpPr>
          <p:cNvPr id="6" name="Text 4"/>
          <p:cNvSpPr/>
          <p:nvPr/>
        </p:nvSpPr>
        <p:spPr>
          <a:xfrm>
            <a:off x="1965960" y="1554480"/>
            <a:ext cx="3657600" cy="347472"/>
          </a:xfrm>
          <a:prstGeom prst="rect">
            <a:avLst/>
          </a:prstGeom>
          <a:noFill/>
          <a:ln/>
        </p:spPr>
        <p:txBody>
          <a:bodyPr wrap="square" rtlCol="0" anchor="ctr"/>
          <a:lstStyle/>
          <a:p>
            <a:pPr marL="0" indent="0">
              <a:buNone/>
            </a:pPr>
            <a:r>
              <a:rPr lang="en-US" sz="1300" b="1" dirty="0">
                <a:solidFill>
                  <a:srgbClr val="C1613F"/>
                </a:solidFill>
                <a:latin typeface="Yu Gothic" pitchFamily="34" charset="0"/>
                <a:ea typeface="Yu Gothic" pitchFamily="34" charset="-122"/>
                <a:cs typeface="Yu Gothic" pitchFamily="34" charset="-120"/>
              </a:rPr>
              <a:t>まずはここから</a:t>
            </a:r>
            <a:endParaRPr lang="en-US" sz="1300" dirty="0"/>
          </a:p>
        </p:txBody>
      </p:sp>
      <p:sp>
        <p:nvSpPr>
          <p:cNvPr id="7" name="Text 5"/>
          <p:cNvSpPr/>
          <p:nvPr/>
        </p:nvSpPr>
        <p:spPr>
          <a:xfrm>
            <a:off x="1965960" y="1856232"/>
            <a:ext cx="9052560" cy="438912"/>
          </a:xfrm>
          <a:prstGeom prst="rect">
            <a:avLst/>
          </a:prstGeom>
          <a:noFill/>
          <a:ln/>
        </p:spPr>
        <p:txBody>
          <a:bodyPr wrap="square" rtlCol="0" anchor="ctr"/>
          <a:lstStyle/>
          <a:p>
            <a:pPr marL="0" indent="0">
              <a:buNone/>
            </a:pPr>
            <a:r>
              <a:rPr lang="en-US" sz="1900" b="1" dirty="0">
                <a:solidFill>
                  <a:srgbClr val="3B322B"/>
                </a:solidFill>
                <a:latin typeface="Yu Gothic" pitchFamily="34" charset="0"/>
                <a:ea typeface="Yu Gothic" pitchFamily="34" charset="-122"/>
                <a:cs typeface="Yu Gothic" pitchFamily="34" charset="-120"/>
              </a:rPr>
              <a:t>①セッション分割（/clear）と②Markdownファイル出力</a:t>
            </a:r>
            <a:endParaRPr lang="en-US" sz="1900" dirty="0"/>
          </a:p>
        </p:txBody>
      </p:sp>
      <p:sp>
        <p:nvSpPr>
          <p:cNvPr id="8" name="Text 6"/>
          <p:cNvSpPr/>
          <p:nvPr/>
        </p:nvSpPr>
        <p:spPr>
          <a:xfrm>
            <a:off x="1965960" y="2331720"/>
            <a:ext cx="9052560" cy="365760"/>
          </a:xfrm>
          <a:prstGeom prst="rect">
            <a:avLst/>
          </a:prstGeom>
          <a:noFill/>
          <a:ln/>
        </p:spPr>
        <p:txBody>
          <a:bodyPr wrap="square" rtlCol="0" anchor="ctr"/>
          <a:lstStyle/>
          <a:p>
            <a:pPr marL="0" indent="0">
              <a:buNone/>
            </a:pPr>
            <a:r>
              <a:rPr lang="en-US" sz="1450" dirty="0">
                <a:solidFill>
                  <a:srgbClr val="8C8074"/>
                </a:solidFill>
                <a:latin typeface="Yu Gothic" pitchFamily="34" charset="0"/>
                <a:ea typeface="Yu Gothic" pitchFamily="34" charset="-122"/>
                <a:cs typeface="Yu Gothic" pitchFamily="34" charset="-120"/>
              </a:rPr>
              <a:t>すぐに始められて、効果を実感しやすい</a:t>
            </a:r>
            <a:endParaRPr lang="en-US" sz="1450" dirty="0"/>
          </a:p>
        </p:txBody>
      </p:sp>
      <p:sp>
        <p:nvSpPr>
          <p:cNvPr id="9" name="Shape 7"/>
          <p:cNvSpPr/>
          <p:nvPr/>
        </p:nvSpPr>
        <p:spPr>
          <a:xfrm>
            <a:off x="640080" y="3017520"/>
            <a:ext cx="10881360" cy="1051560"/>
          </a:xfrm>
          <a:prstGeom prst="roundRect">
            <a:avLst>
              <a:gd name="adj" fmla="val 6957"/>
            </a:avLst>
          </a:prstGeom>
          <a:solidFill>
            <a:srgbClr val="FFFFFF"/>
          </a:solidFill>
          <a:ln w="15240">
            <a:solidFill>
              <a:srgbClr val="E7E1DA"/>
            </a:solidFill>
            <a:prstDash val="solid"/>
          </a:ln>
        </p:spPr>
      </p:sp>
      <p:sp>
        <p:nvSpPr>
          <p:cNvPr id="10" name="Text 8"/>
          <p:cNvSpPr/>
          <p:nvPr/>
        </p:nvSpPr>
        <p:spPr>
          <a:xfrm>
            <a:off x="960120" y="3246120"/>
            <a:ext cx="594360" cy="594360"/>
          </a:xfrm>
          <a:prstGeom prst="rect">
            <a:avLst/>
          </a:prstGeom>
          <a:noFill/>
          <a:ln/>
        </p:spPr>
        <p:txBody>
          <a:bodyPr wrap="square" rtlCol="0" anchor="ctr"/>
          <a:lstStyle/>
          <a:p>
            <a:pPr marL="0" indent="0" algn="ctr">
              <a:buNone/>
            </a:pPr>
            <a:r>
              <a:rPr lang="en-US" sz="2800" b="1" dirty="0">
                <a:solidFill>
                  <a:srgbClr val="B4863E"/>
                </a:solidFill>
                <a:latin typeface="Yu Gothic" pitchFamily="34" charset="0"/>
                <a:ea typeface="Yu Gothic" pitchFamily="34" charset="-122"/>
                <a:cs typeface="Yu Gothic" pitchFamily="34" charset="-120"/>
              </a:rPr>
              <a:t>2</a:t>
            </a:r>
            <a:endParaRPr lang="en-US" sz="2800" dirty="0"/>
          </a:p>
        </p:txBody>
      </p:sp>
      <p:sp>
        <p:nvSpPr>
          <p:cNvPr id="11" name="Text 9"/>
          <p:cNvSpPr/>
          <p:nvPr/>
        </p:nvSpPr>
        <p:spPr>
          <a:xfrm>
            <a:off x="1783080" y="3108960"/>
            <a:ext cx="2743200" cy="292608"/>
          </a:xfrm>
          <a:prstGeom prst="rect">
            <a:avLst/>
          </a:prstGeom>
          <a:noFill/>
          <a:ln/>
        </p:spPr>
        <p:txBody>
          <a:bodyPr wrap="square" rtlCol="0" anchor="ctr"/>
          <a:lstStyle/>
          <a:p>
            <a:pPr marL="0" indent="0">
              <a:buNone/>
            </a:pPr>
            <a:r>
              <a:rPr lang="en-US" sz="1200" b="1" dirty="0">
                <a:solidFill>
                  <a:srgbClr val="B4863E"/>
                </a:solidFill>
                <a:latin typeface="Yu Gothic" pitchFamily="34" charset="0"/>
                <a:ea typeface="Yu Gothic" pitchFamily="34" charset="-122"/>
                <a:cs typeface="Yu Gothic" pitchFamily="34" charset="-120"/>
              </a:rPr>
              <a:t>さらに進んで</a:t>
            </a:r>
            <a:endParaRPr lang="en-US" sz="1200" dirty="0"/>
          </a:p>
        </p:txBody>
      </p:sp>
      <p:sp>
        <p:nvSpPr>
          <p:cNvPr id="12" name="Text 10"/>
          <p:cNvSpPr/>
          <p:nvPr/>
        </p:nvSpPr>
        <p:spPr>
          <a:xfrm>
            <a:off x="1783080" y="3383280"/>
            <a:ext cx="9509760" cy="457200"/>
          </a:xfrm>
          <a:prstGeom prst="rect">
            <a:avLst/>
          </a:prstGeom>
          <a:noFill/>
          <a:ln/>
        </p:spPr>
        <p:txBody>
          <a:bodyPr wrap="square" rtlCol="0" anchor="ctr"/>
          <a:lstStyle/>
          <a:p>
            <a:pPr marL="0" indent="0">
              <a:buNone/>
            </a:pPr>
            <a:r>
              <a:rPr lang="en-US" sz="1600" b="1" dirty="0">
                <a:solidFill>
                  <a:srgbClr val="3B322B"/>
                </a:solidFill>
                <a:latin typeface="Yu Gothic" pitchFamily="34" charset="0"/>
                <a:ea typeface="Yu Gothic" pitchFamily="34" charset="-122"/>
                <a:cs typeface="Yu Gothic" pitchFamily="34" charset="-120"/>
              </a:rPr>
              <a:t>⑥advisor、⑦スキル作成・改善、⑧⑨の検証ループへ</a:t>
            </a:r>
            <a:endParaRPr lang="en-US" sz="1600" dirty="0"/>
          </a:p>
        </p:txBody>
      </p:sp>
      <p:sp>
        <p:nvSpPr>
          <p:cNvPr id="16" name="Rectangle 3">
            <a:extLst>
              <a:ext uri="{FF2B5EF4-FFF2-40B4-BE49-F238E27FC236}">
                <a16:creationId xmlns:a16="http://schemas.microsoft.com/office/drawing/2014/main" id="{8E0373C4-2FB5-CF9E-FD58-AA8CED5EDA75}"/>
              </a:ext>
            </a:extLst>
          </p:cNvPr>
          <p:cNvSpPr/>
          <p:nvPr/>
        </p:nvSpPr>
        <p:spPr>
          <a:xfrm>
            <a:off x="676656" y="1225296"/>
            <a:ext cx="1097280" cy="44450"/>
          </a:xfrm>
          <a:prstGeom prst="rect">
            <a:avLst/>
          </a:prstGeom>
          <a:solidFill>
            <a:srgbClr val="C55A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p:nvPr/>
        </p:nvSpPr>
        <p:spPr>
          <a:xfrm>
            <a:off x="822960" y="2461755"/>
            <a:ext cx="10515600" cy="914400"/>
          </a:xfrm>
          <a:prstGeom prst="rect">
            <a:avLst/>
          </a:prstGeom>
          <a:noFill/>
          <a:ln/>
        </p:spPr>
        <p:txBody>
          <a:bodyPr wrap="square" rtlCol="0" anchor="ctr"/>
          <a:lstStyle/>
          <a:p>
            <a:pPr marL="0" indent="0" algn="ctr">
              <a:buNone/>
            </a:pPr>
            <a:r>
              <a:rPr lang="en-US" sz="3600" b="1" dirty="0">
                <a:solidFill>
                  <a:srgbClr val="3B322B"/>
                </a:solidFill>
                <a:latin typeface="Yu Gothic" pitchFamily="34" charset="0"/>
                <a:ea typeface="Yu Gothic" pitchFamily="34" charset="-122"/>
                <a:cs typeface="Yu Gothic" pitchFamily="34" charset="-120"/>
              </a:rPr>
              <a:t>ご清聴ありがとうございました</a:t>
            </a:r>
            <a:endParaRPr lang="en-US" sz="3600" dirty="0"/>
          </a:p>
        </p:txBody>
      </p:sp>
      <p:sp>
        <p:nvSpPr>
          <p:cNvPr id="6" name="Text 4"/>
          <p:cNvSpPr/>
          <p:nvPr/>
        </p:nvSpPr>
        <p:spPr>
          <a:xfrm>
            <a:off x="822960" y="3266427"/>
            <a:ext cx="10515600" cy="457200"/>
          </a:xfrm>
          <a:prstGeom prst="rect">
            <a:avLst/>
          </a:prstGeom>
          <a:noFill/>
          <a:ln/>
        </p:spPr>
        <p:txBody>
          <a:bodyPr wrap="square" rtlCol="0" anchor="ctr"/>
          <a:lstStyle/>
          <a:p>
            <a:pPr marL="0" indent="0" algn="ctr">
              <a:buNone/>
            </a:pPr>
            <a:r>
              <a:rPr lang="en-US" sz="1400" dirty="0">
                <a:solidFill>
                  <a:srgbClr val="8C8074"/>
                </a:solidFill>
                <a:latin typeface="Yu Gothic" pitchFamily="34" charset="0"/>
                <a:ea typeface="Yu Gothic" pitchFamily="34" charset="-122"/>
                <a:cs typeface="Yu Gothic" pitchFamily="34" charset="-120"/>
              </a:rPr>
              <a:t>Claude Codeの活用方法　〜使い始めた人が、次の一歩を踏み出すために〜</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1738</TotalTime>
  <Words>2450</Words>
  <Application>Microsoft Macintosh PowerPoint</Application>
  <PresentationFormat>ワイド画面</PresentationFormat>
  <Paragraphs>281</Paragraphs>
  <Slides>26</Slides>
  <Notes>11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26</vt:i4>
      </vt:variant>
    </vt:vector>
  </HeadingPairs>
  <TitlesOfParts>
    <vt:vector size="31" baseType="lpstr">
      <vt:lpstr>Yu Gothic</vt:lpstr>
      <vt:lpstr>Yu Gothic</vt:lpstr>
      <vt:lpstr>Arial</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Codeの活用方法</dc:title>
  <dc:subject>社内勉強会 発表資料</dc:subject>
  <dc:creator/>
  <cp:keywords/>
  <dc:description>generated using python-pptx</dc:description>
  <cp:lastModifiedBy>裕樹 糸久</cp:lastModifiedBy>
  <cp:revision>31</cp:revision>
  <dcterms:created xsi:type="dcterms:W3CDTF">2013-01-27T09:14:16Z</dcterms:created>
  <dcterms:modified xsi:type="dcterms:W3CDTF">2026-08-24T06:17:46Z</dcterms:modified>
  <cp:category/>
</cp:coreProperties>
</file>