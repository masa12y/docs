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86" r:id="rId2"/>
    <p:sldId id="289" r:id="rId3"/>
    <p:sldId id="290" r:id="rId4"/>
    <p:sldId id="259" r:id="rId5"/>
    <p:sldId id="287" r:id="rId6"/>
    <p:sldId id="261" r:id="rId7"/>
    <p:sldId id="281" r:id="rId8"/>
    <p:sldId id="262" r:id="rId9"/>
    <p:sldId id="263" r:id="rId10"/>
    <p:sldId id="264" r:id="rId11"/>
    <p:sldId id="282" r:id="rId12"/>
    <p:sldId id="267" r:id="rId13"/>
    <p:sldId id="268" r:id="rId14"/>
    <p:sldId id="269" r:id="rId15"/>
    <p:sldId id="283" r:id="rId16"/>
    <p:sldId id="271" r:id="rId17"/>
    <p:sldId id="272" r:id="rId18"/>
    <p:sldId id="273" r:id="rId19"/>
    <p:sldId id="274" r:id="rId20"/>
    <p:sldId id="275" r:id="rId21"/>
    <p:sldId id="276" r:id="rId22"/>
    <p:sldId id="277" r:id="rId23"/>
    <p:sldId id="284" r:id="rId24"/>
    <p:sldId id="285"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F5EE"/>
    <a:srgbClr val="E7F2FC"/>
    <a:srgbClr val="FBECE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0"/>
    <p:restoredTop sz="94588"/>
  </p:normalViewPr>
  <p:slideViewPr>
    <p:cSldViewPr snapToGrid="0" snapToObjects="1">
      <p:cViewPr varScale="1">
        <p:scale>
          <a:sx n="107" d="100"/>
          <a:sy n="107" d="100"/>
        </p:scale>
        <p:origin x="400"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2464A5-CF00-2B4A-A840-72A2DCD4AF71}" type="datetimeFigureOut">
              <a:rPr kumimoji="1" lang="ja-JP" altLang="en-US" smtClean="0"/>
              <a:t>2026/9/6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E25507-1054-AB40-B7E3-6689F3D4D250}" type="slidenum">
              <a:rPr kumimoji="1" lang="ja-JP" altLang="en-US" smtClean="0"/>
              <a:t>‹#›</a:t>
            </a:fld>
            <a:endParaRPr kumimoji="1" lang="ja-JP" altLang="en-US"/>
          </a:p>
        </p:txBody>
      </p:sp>
    </p:spTree>
    <p:extLst>
      <p:ext uri="{BB962C8B-B14F-4D97-AF65-F5344CB8AC3E}">
        <p14:creationId xmlns:p14="http://schemas.microsoft.com/office/powerpoint/2010/main" val="139870767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069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77240" y="2331720"/>
            <a:ext cx="10058400" cy="1554480"/>
          </a:xfrm>
          <a:prstGeom prst="rect">
            <a:avLst/>
          </a:prstGeom>
          <a:noFill/>
          <a:ln/>
        </p:spPr>
        <p:txBody>
          <a:bodyPr wrap="square" rtlCol="0" anchor="ctr"/>
          <a:lstStyle/>
          <a:p>
            <a:pPr marL="0" indent="0">
              <a:buNone/>
            </a:pPr>
            <a:r>
              <a:rPr lang="en-US" sz="5400" b="1" dirty="0">
                <a:solidFill>
                  <a:srgbClr val="3B322B"/>
                </a:solidFill>
                <a:latin typeface="Yu Gothic" pitchFamily="34" charset="0"/>
                <a:ea typeface="Yu Gothic" pitchFamily="34" charset="-122"/>
                <a:cs typeface="Yu Gothic" pitchFamily="34" charset="-120"/>
              </a:rPr>
              <a:t>Claude Codeの活用方法</a:t>
            </a:r>
            <a:endParaRPr lang="en-US" sz="5400" dirty="0"/>
          </a:p>
        </p:txBody>
      </p:sp>
      <p:sp>
        <p:nvSpPr>
          <p:cNvPr id="4" name="Text 2"/>
          <p:cNvSpPr/>
          <p:nvPr/>
        </p:nvSpPr>
        <p:spPr>
          <a:xfrm>
            <a:off x="822960" y="3749040"/>
            <a:ext cx="8686800" cy="548640"/>
          </a:xfrm>
          <a:prstGeom prst="rect">
            <a:avLst/>
          </a:prstGeom>
          <a:noFill/>
          <a:ln/>
        </p:spPr>
        <p:txBody>
          <a:bodyPr wrap="square" rtlCol="0" anchor="ctr"/>
          <a:lstStyle/>
          <a:p>
            <a:pPr marL="0" indent="0">
              <a:buNone/>
            </a:pPr>
            <a:r>
              <a:rPr lang="en-US" sz="2000" dirty="0">
                <a:solidFill>
                  <a:srgbClr val="8C8074"/>
                </a:solidFill>
                <a:latin typeface="Yu Gothic" pitchFamily="34" charset="0"/>
                <a:ea typeface="Yu Gothic" pitchFamily="34" charset="-122"/>
                <a:cs typeface="Yu Gothic" pitchFamily="34" charset="-120"/>
              </a:rPr>
              <a:t>〜使い始めた人が、次の一歩を踏み出すために〜</a:t>
            </a:r>
            <a:endParaRPr lang="en-US" sz="2000" dirty="0"/>
          </a:p>
        </p:txBody>
      </p:sp>
      <p:sp>
        <p:nvSpPr>
          <p:cNvPr id="5" name="Shape 3"/>
          <p:cNvSpPr/>
          <p:nvPr/>
        </p:nvSpPr>
        <p:spPr>
          <a:xfrm>
            <a:off x="822960" y="4434840"/>
            <a:ext cx="1097280" cy="0"/>
          </a:xfrm>
          <a:prstGeom prst="line">
            <a:avLst/>
          </a:prstGeom>
          <a:noFill/>
          <a:ln w="38100">
            <a:solidFill>
              <a:srgbClr val="C1613F"/>
            </a:solidFill>
            <a:prstDash val="solid"/>
          </a:ln>
        </p:spPr>
      </p:sp>
      <p:sp>
        <p:nvSpPr>
          <p:cNvPr id="6" name="Shape 4"/>
          <p:cNvSpPr/>
          <p:nvPr/>
        </p:nvSpPr>
        <p:spPr>
          <a:xfrm>
            <a:off x="10515600" y="548640"/>
            <a:ext cx="1371600" cy="1371600"/>
          </a:xfrm>
          <a:prstGeom prst="ellipse">
            <a:avLst/>
          </a:prstGeom>
          <a:solidFill>
            <a:srgbClr val="FBEEE7"/>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640080" y="1993392"/>
            <a:ext cx="54864" cy="548640"/>
          </a:xfrm>
          <a:prstGeom prst="rect">
            <a:avLst/>
          </a:prstGeom>
          <a:solidFill>
            <a:srgbClr val="C1613F"/>
          </a:solidFill>
          <a:ln/>
        </p:spPr>
      </p:sp>
      <p:sp>
        <p:nvSpPr>
          <p:cNvPr id="4" name="Text 2"/>
          <p:cNvSpPr/>
          <p:nvPr/>
        </p:nvSpPr>
        <p:spPr>
          <a:xfrm>
            <a:off x="914400" y="1965960"/>
            <a:ext cx="1828800" cy="594360"/>
          </a:xfrm>
          <a:prstGeom prst="rect">
            <a:avLst/>
          </a:prstGeom>
          <a:noFill/>
          <a:ln/>
        </p:spPr>
        <p:txBody>
          <a:bodyPr wrap="square" rtlCol="0" anchor="ctr"/>
          <a:lstStyle/>
          <a:p>
            <a:pPr marL="0" indent="0">
              <a:buNone/>
            </a:pPr>
            <a:r>
              <a:rPr lang="en-US" sz="1900" b="1" dirty="0">
                <a:solidFill>
                  <a:srgbClr val="C1613F"/>
                </a:solidFill>
                <a:latin typeface="Yu Gothic" pitchFamily="34" charset="0"/>
                <a:ea typeface="Yu Gothic" pitchFamily="34" charset="-122"/>
                <a:cs typeface="Yu Gothic" pitchFamily="34" charset="-120"/>
              </a:rPr>
              <a:t>対象</a:t>
            </a:r>
            <a:endParaRPr lang="en-US" sz="1900" dirty="0"/>
          </a:p>
        </p:txBody>
      </p:sp>
      <p:sp>
        <p:nvSpPr>
          <p:cNvPr id="5" name="Text 3"/>
          <p:cNvSpPr/>
          <p:nvPr/>
        </p:nvSpPr>
        <p:spPr>
          <a:xfrm>
            <a:off x="2834640" y="1965960"/>
            <a:ext cx="8503920" cy="594360"/>
          </a:xfrm>
          <a:prstGeom prst="rect">
            <a:avLst/>
          </a:prstGeom>
          <a:noFill/>
          <a:ln/>
        </p:spPr>
        <p:txBody>
          <a:bodyPr wrap="square" rtlCol="0" anchor="ctr"/>
          <a:lstStyle/>
          <a:p>
            <a:pPr marL="0" indent="0">
              <a:buNone/>
            </a:pPr>
            <a:r>
              <a:rPr lang="en-US" dirty="0">
                <a:solidFill>
                  <a:srgbClr val="3B322B"/>
                </a:solidFill>
                <a:latin typeface="Yu Gothic" pitchFamily="34" charset="0"/>
                <a:ea typeface="Yu Gothic" pitchFamily="34" charset="-122"/>
                <a:cs typeface="Yu Gothic" pitchFamily="34" charset="-120"/>
              </a:rPr>
              <a:t>Claude Codeを使い始めた人／活用に悩んでいる人</a:t>
            </a:r>
            <a:endParaRPr lang="en-US" dirty="0"/>
          </a:p>
        </p:txBody>
      </p:sp>
      <p:sp>
        <p:nvSpPr>
          <p:cNvPr id="6" name="Shape 4"/>
          <p:cNvSpPr/>
          <p:nvPr/>
        </p:nvSpPr>
        <p:spPr>
          <a:xfrm>
            <a:off x="640080" y="2880360"/>
            <a:ext cx="10881360" cy="0"/>
          </a:xfrm>
          <a:prstGeom prst="line">
            <a:avLst/>
          </a:prstGeom>
          <a:noFill/>
          <a:ln w="12700">
            <a:solidFill>
              <a:srgbClr val="E7E1DA"/>
            </a:solidFill>
            <a:prstDash val="solid"/>
          </a:ln>
        </p:spPr>
      </p:sp>
      <p:sp>
        <p:nvSpPr>
          <p:cNvPr id="7" name="Shape 5"/>
          <p:cNvSpPr/>
          <p:nvPr/>
        </p:nvSpPr>
        <p:spPr>
          <a:xfrm>
            <a:off x="640080" y="3227832"/>
            <a:ext cx="54864" cy="548640"/>
          </a:xfrm>
          <a:prstGeom prst="rect">
            <a:avLst/>
          </a:prstGeom>
          <a:solidFill>
            <a:srgbClr val="C1613F"/>
          </a:solidFill>
          <a:ln/>
        </p:spPr>
      </p:sp>
      <p:sp>
        <p:nvSpPr>
          <p:cNvPr id="8" name="Text 6"/>
          <p:cNvSpPr/>
          <p:nvPr/>
        </p:nvSpPr>
        <p:spPr>
          <a:xfrm>
            <a:off x="914400" y="3200400"/>
            <a:ext cx="1828800" cy="594360"/>
          </a:xfrm>
          <a:prstGeom prst="rect">
            <a:avLst/>
          </a:prstGeom>
          <a:noFill/>
          <a:ln/>
        </p:spPr>
        <p:txBody>
          <a:bodyPr wrap="square" rtlCol="0" anchor="ctr"/>
          <a:lstStyle/>
          <a:p>
            <a:pPr marL="0" indent="0">
              <a:buNone/>
            </a:pPr>
            <a:r>
              <a:rPr lang="en-US" sz="1900" b="1" dirty="0">
                <a:solidFill>
                  <a:srgbClr val="C1613F"/>
                </a:solidFill>
                <a:latin typeface="Yu Gothic" pitchFamily="34" charset="0"/>
                <a:ea typeface="Yu Gothic" pitchFamily="34" charset="-122"/>
                <a:cs typeface="Yu Gothic" pitchFamily="34" charset="-120"/>
              </a:rPr>
              <a:t>前提</a:t>
            </a:r>
            <a:endParaRPr lang="en-US" sz="1900" dirty="0"/>
          </a:p>
        </p:txBody>
      </p:sp>
      <p:sp>
        <p:nvSpPr>
          <p:cNvPr id="9" name="Text 7"/>
          <p:cNvSpPr/>
          <p:nvPr/>
        </p:nvSpPr>
        <p:spPr>
          <a:xfrm>
            <a:off x="2834640" y="3200400"/>
            <a:ext cx="8503920" cy="594360"/>
          </a:xfrm>
          <a:prstGeom prst="rect">
            <a:avLst/>
          </a:prstGeom>
          <a:noFill/>
          <a:ln/>
        </p:spPr>
        <p:txBody>
          <a:bodyPr wrap="square" rtlCol="0" anchor="ctr"/>
          <a:lstStyle/>
          <a:p>
            <a:pPr>
              <a:spcAft>
                <a:spcPts val="700"/>
              </a:spcAft>
              <a:buSzPct val="100000"/>
            </a:pPr>
            <a:r>
              <a:rPr lang="en-US" altLang="ja-JP" dirty="0">
                <a:solidFill>
                  <a:srgbClr val="3B322B"/>
                </a:solidFill>
                <a:latin typeface="Yu Gothic" pitchFamily="34" charset="0"/>
                <a:ea typeface="Yu Gothic" pitchFamily="34" charset="-122"/>
                <a:cs typeface="Yu Gothic" pitchFamily="34" charset="-120"/>
              </a:rPr>
              <a:t>Claude Code </a:t>
            </a:r>
            <a:r>
              <a:rPr lang="en-US" altLang="ja-JP" dirty="0" err="1">
                <a:solidFill>
                  <a:srgbClr val="3B322B"/>
                </a:solidFill>
                <a:latin typeface="Yu Gothic" pitchFamily="34" charset="0"/>
                <a:ea typeface="Yu Gothic" pitchFamily="34" charset="-122"/>
                <a:cs typeface="Yu Gothic" pitchFamily="34" charset="-120"/>
              </a:rPr>
              <a:t>CLIの基本操作は経験がある前提で進めます</a:t>
            </a:r>
            <a:endParaRPr lang="en-US" altLang="ja-JP" dirty="0"/>
          </a:p>
        </p:txBody>
      </p:sp>
      <p:sp>
        <p:nvSpPr>
          <p:cNvPr id="10" name="Shape 8"/>
          <p:cNvSpPr/>
          <p:nvPr/>
        </p:nvSpPr>
        <p:spPr>
          <a:xfrm>
            <a:off x="640080" y="4114800"/>
            <a:ext cx="10881360" cy="0"/>
          </a:xfrm>
          <a:prstGeom prst="line">
            <a:avLst/>
          </a:prstGeom>
          <a:noFill/>
          <a:ln w="12700">
            <a:solidFill>
              <a:srgbClr val="E7E1DA"/>
            </a:solidFill>
            <a:prstDash val="solid"/>
          </a:ln>
        </p:spPr>
      </p:sp>
      <p:sp>
        <p:nvSpPr>
          <p:cNvPr id="16" name="TextBox 1">
            <a:extLst>
              <a:ext uri="{FF2B5EF4-FFF2-40B4-BE49-F238E27FC236}">
                <a16:creationId xmlns:a16="http://schemas.microsoft.com/office/drawing/2014/main" id="{D4700B7F-9B8B-ECC3-293F-52ED45A16610}"/>
              </a:ext>
            </a:extLst>
          </p:cNvPr>
          <p:cNvSpPr txBox="1"/>
          <p:nvPr/>
        </p:nvSpPr>
        <p:spPr>
          <a:xfrm>
            <a:off x="640080" y="530352"/>
            <a:ext cx="11064240" cy="584775"/>
          </a:xfrm>
          <a:prstGeom prst="rect">
            <a:avLst/>
          </a:prstGeom>
        </p:spPr>
        <p:txBody>
          <a:bodyPr wrap="square">
            <a:spAutoFit/>
          </a:bodyPr>
          <a:lstStyle/>
          <a:p>
            <a:r>
              <a:rPr lang="ja-JP" altLang="en-US" sz="3200" b="1">
                <a:solidFill>
                  <a:srgbClr val="3B322B"/>
                </a:solidFill>
                <a:latin typeface="Yu Gothic" pitchFamily="34" charset="0"/>
                <a:ea typeface="Yu Gothic" pitchFamily="34" charset="-122"/>
              </a:rPr>
              <a:t>対象と前提</a:t>
            </a:r>
            <a:endParaRPr lang="en-US" altLang="ja-JP" sz="3200" dirty="0"/>
          </a:p>
        </p:txBody>
      </p:sp>
      <p:sp>
        <p:nvSpPr>
          <p:cNvPr id="17" name="Rectangle 2">
            <a:extLst>
              <a:ext uri="{FF2B5EF4-FFF2-40B4-BE49-F238E27FC236}">
                <a16:creationId xmlns:a16="http://schemas.microsoft.com/office/drawing/2014/main" id="{CA1751B2-4867-64EF-BC4A-6C0629F9D040}"/>
              </a:ext>
            </a:extLst>
          </p:cNvPr>
          <p:cNvSpPr/>
          <p:nvPr/>
        </p:nvSpPr>
        <p:spPr>
          <a:xfrm>
            <a:off x="676656" y="1225296"/>
            <a:ext cx="1097280" cy="4445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35CF6-5461-88D7-A47B-920A09CEA3F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8683009-4815-5BE9-DDFC-DB492D2075AF}"/>
              </a:ext>
            </a:extLst>
          </p:cNvPr>
          <p:cNvSpPr/>
          <p:nvPr/>
        </p:nvSpPr>
        <p:spPr>
          <a:xfrm>
            <a:off x="676656" y="1225296"/>
            <a:ext cx="1097280" cy="4445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1">
            <a:extLst>
              <a:ext uri="{FF2B5EF4-FFF2-40B4-BE49-F238E27FC236}">
                <a16:creationId xmlns:a16="http://schemas.microsoft.com/office/drawing/2014/main" id="{93DC7AD3-4568-D70C-7AC2-E4D4B82856D9}"/>
              </a:ext>
            </a:extLst>
          </p:cNvPr>
          <p:cNvSpPr txBox="1"/>
          <p:nvPr/>
        </p:nvSpPr>
        <p:spPr>
          <a:xfrm>
            <a:off x="640080" y="530352"/>
            <a:ext cx="11064240" cy="584775"/>
          </a:xfrm>
          <a:prstGeom prst="rect">
            <a:avLst/>
          </a:prstGeom>
        </p:spPr>
        <p:txBody>
          <a:bodyPr wrap="square">
            <a:spAutoFit/>
          </a:bodyPr>
          <a:lstStyle/>
          <a:p>
            <a:r>
              <a:rPr lang="ja-JP" altLang="en-US" sz="3200" b="1">
                <a:solidFill>
                  <a:srgbClr val="3B322B"/>
                </a:solidFill>
                <a:latin typeface="Yu Gothic" pitchFamily="34" charset="0"/>
                <a:ea typeface="Yu Gothic" pitchFamily="34" charset="-122"/>
                <a:cs typeface="Yu Gothic" pitchFamily="34" charset="-120"/>
              </a:rPr>
              <a:t>自己紹介</a:t>
            </a:r>
            <a:endParaRPr lang="en-US" altLang="ja-JP" sz="3200" dirty="0"/>
          </a:p>
        </p:txBody>
      </p:sp>
      <p:sp>
        <p:nvSpPr>
          <p:cNvPr id="2" name="Shape 1">
            <a:extLst>
              <a:ext uri="{FF2B5EF4-FFF2-40B4-BE49-F238E27FC236}">
                <a16:creationId xmlns:a16="http://schemas.microsoft.com/office/drawing/2014/main" id="{DE16CC5B-BD8A-C556-852E-EB513B86953A}"/>
              </a:ext>
            </a:extLst>
          </p:cNvPr>
          <p:cNvSpPr/>
          <p:nvPr/>
        </p:nvSpPr>
        <p:spPr>
          <a:xfrm>
            <a:off x="640080" y="1993392"/>
            <a:ext cx="54864" cy="548640"/>
          </a:xfrm>
          <a:prstGeom prst="rect">
            <a:avLst/>
          </a:prstGeom>
          <a:solidFill>
            <a:srgbClr val="C1613F"/>
          </a:solidFill>
          <a:ln/>
        </p:spPr>
      </p:sp>
      <p:sp>
        <p:nvSpPr>
          <p:cNvPr id="5" name="Text 2">
            <a:extLst>
              <a:ext uri="{FF2B5EF4-FFF2-40B4-BE49-F238E27FC236}">
                <a16:creationId xmlns:a16="http://schemas.microsoft.com/office/drawing/2014/main" id="{C59F788F-2CBF-2A4F-75DF-61D3F07A969C}"/>
              </a:ext>
            </a:extLst>
          </p:cNvPr>
          <p:cNvSpPr/>
          <p:nvPr/>
        </p:nvSpPr>
        <p:spPr>
          <a:xfrm>
            <a:off x="914400" y="1965960"/>
            <a:ext cx="1828800" cy="594360"/>
          </a:xfrm>
          <a:prstGeom prst="rect">
            <a:avLst/>
          </a:prstGeom>
          <a:noFill/>
          <a:ln/>
        </p:spPr>
        <p:txBody>
          <a:bodyPr wrap="square" rtlCol="0" anchor="ctr"/>
          <a:lstStyle/>
          <a:p>
            <a:pPr marL="0" indent="0">
              <a:buNone/>
            </a:pPr>
            <a:r>
              <a:rPr lang="en-US" sz="1900" b="1" dirty="0" err="1">
                <a:solidFill>
                  <a:srgbClr val="C1613F"/>
                </a:solidFill>
                <a:latin typeface="Yu Gothic" pitchFamily="34" charset="0"/>
                <a:ea typeface="Yu Gothic" pitchFamily="34" charset="-122"/>
              </a:rPr>
              <a:t>名前</a:t>
            </a:r>
            <a:endParaRPr lang="en-US" sz="1900" dirty="0"/>
          </a:p>
        </p:txBody>
      </p:sp>
      <p:sp>
        <p:nvSpPr>
          <p:cNvPr id="6" name="Text 3">
            <a:extLst>
              <a:ext uri="{FF2B5EF4-FFF2-40B4-BE49-F238E27FC236}">
                <a16:creationId xmlns:a16="http://schemas.microsoft.com/office/drawing/2014/main" id="{D54FC6C3-7E6D-33AC-6992-88E7BBF57E8F}"/>
              </a:ext>
            </a:extLst>
          </p:cNvPr>
          <p:cNvSpPr/>
          <p:nvPr/>
        </p:nvSpPr>
        <p:spPr>
          <a:xfrm>
            <a:off x="2834640" y="1965960"/>
            <a:ext cx="8503920" cy="594360"/>
          </a:xfrm>
          <a:prstGeom prst="rect">
            <a:avLst/>
          </a:prstGeom>
          <a:noFill/>
          <a:ln/>
        </p:spPr>
        <p:txBody>
          <a:bodyPr wrap="square" rtlCol="0" anchor="ctr"/>
          <a:lstStyle/>
          <a:p>
            <a:pPr marL="0" indent="0">
              <a:buNone/>
            </a:pPr>
            <a:r>
              <a:rPr lang="en-US" dirty="0" err="1">
                <a:latin typeface="Yu Gothic" panose="020B0400000000000000" pitchFamily="34" charset="-128"/>
                <a:ea typeface="Yu Gothic" panose="020B0400000000000000" pitchFamily="34" charset="-128"/>
              </a:rPr>
              <a:t>名前</a:t>
            </a:r>
            <a:endParaRPr lang="en-US" dirty="0">
              <a:latin typeface="Yu Gothic" panose="020B0400000000000000" pitchFamily="34" charset="-128"/>
              <a:ea typeface="Yu Gothic" panose="020B0400000000000000" pitchFamily="34" charset="-128"/>
            </a:endParaRPr>
          </a:p>
        </p:txBody>
      </p:sp>
      <p:sp>
        <p:nvSpPr>
          <p:cNvPr id="8" name="Shape 5">
            <a:extLst>
              <a:ext uri="{FF2B5EF4-FFF2-40B4-BE49-F238E27FC236}">
                <a16:creationId xmlns:a16="http://schemas.microsoft.com/office/drawing/2014/main" id="{8B271189-3066-E259-A7CC-6BB68A77942B}"/>
              </a:ext>
            </a:extLst>
          </p:cNvPr>
          <p:cNvSpPr/>
          <p:nvPr/>
        </p:nvSpPr>
        <p:spPr>
          <a:xfrm>
            <a:off x="640080" y="3105912"/>
            <a:ext cx="54864" cy="548640"/>
          </a:xfrm>
          <a:prstGeom prst="rect">
            <a:avLst/>
          </a:prstGeom>
          <a:solidFill>
            <a:srgbClr val="C1613F"/>
          </a:solidFill>
          <a:ln/>
        </p:spPr>
      </p:sp>
      <p:sp>
        <p:nvSpPr>
          <p:cNvPr id="10" name="Text 6">
            <a:extLst>
              <a:ext uri="{FF2B5EF4-FFF2-40B4-BE49-F238E27FC236}">
                <a16:creationId xmlns:a16="http://schemas.microsoft.com/office/drawing/2014/main" id="{73A2ABDA-F4E0-44A1-197D-2D7575E86867}"/>
              </a:ext>
            </a:extLst>
          </p:cNvPr>
          <p:cNvSpPr/>
          <p:nvPr/>
        </p:nvSpPr>
        <p:spPr>
          <a:xfrm>
            <a:off x="914400" y="3078480"/>
            <a:ext cx="1828800" cy="594360"/>
          </a:xfrm>
          <a:prstGeom prst="rect">
            <a:avLst/>
          </a:prstGeom>
          <a:noFill/>
          <a:ln/>
        </p:spPr>
        <p:txBody>
          <a:bodyPr wrap="square" rtlCol="0" anchor="ctr"/>
          <a:lstStyle/>
          <a:p>
            <a:pPr marL="0" indent="0">
              <a:buNone/>
            </a:pPr>
            <a:r>
              <a:rPr lang="en-US" sz="1900" b="1" dirty="0" err="1">
                <a:solidFill>
                  <a:srgbClr val="C1613F"/>
                </a:solidFill>
                <a:latin typeface="Yu Gothic" pitchFamily="34" charset="0"/>
                <a:ea typeface="Yu Gothic" pitchFamily="34" charset="-122"/>
              </a:rPr>
              <a:t>出身</a:t>
            </a:r>
            <a:endParaRPr lang="en-US" sz="1900" dirty="0"/>
          </a:p>
        </p:txBody>
      </p:sp>
      <p:sp>
        <p:nvSpPr>
          <p:cNvPr id="11" name="Text 7">
            <a:extLst>
              <a:ext uri="{FF2B5EF4-FFF2-40B4-BE49-F238E27FC236}">
                <a16:creationId xmlns:a16="http://schemas.microsoft.com/office/drawing/2014/main" id="{F053A7FD-427F-E28D-43A9-EB9FA7A7CE0E}"/>
              </a:ext>
            </a:extLst>
          </p:cNvPr>
          <p:cNvSpPr/>
          <p:nvPr/>
        </p:nvSpPr>
        <p:spPr>
          <a:xfrm>
            <a:off x="2834640" y="3078480"/>
            <a:ext cx="8503920" cy="594360"/>
          </a:xfrm>
          <a:prstGeom prst="rect">
            <a:avLst/>
          </a:prstGeom>
          <a:noFill/>
          <a:ln/>
        </p:spPr>
        <p:txBody>
          <a:bodyPr wrap="square" rtlCol="0" anchor="ctr"/>
          <a:lstStyle/>
          <a:p>
            <a:pPr>
              <a:spcAft>
                <a:spcPts val="700"/>
              </a:spcAft>
              <a:buSzPct val="100000"/>
            </a:pPr>
            <a:r>
              <a:rPr lang="ja-JP" altLang="en-US">
                <a:solidFill>
                  <a:srgbClr val="3B322B"/>
                </a:solidFill>
                <a:latin typeface="Yu Gothic" panose="020B0400000000000000" pitchFamily="34" charset="-128"/>
                <a:ea typeface="Yu Gothic" panose="020B0400000000000000" pitchFamily="34" charset="-128"/>
                <a:cs typeface="Yu Gothic" pitchFamily="34" charset="-120"/>
              </a:rPr>
              <a:t>出身</a:t>
            </a:r>
            <a:endParaRPr lang="en-US" altLang="ja-JP" dirty="0">
              <a:latin typeface="Yu Gothic" panose="020B0400000000000000" pitchFamily="34" charset="-128"/>
              <a:ea typeface="Yu Gothic" panose="020B0400000000000000" pitchFamily="34" charset="-128"/>
            </a:endParaRPr>
          </a:p>
        </p:txBody>
      </p:sp>
      <p:sp>
        <p:nvSpPr>
          <p:cNvPr id="13" name="Shape 1">
            <a:extLst>
              <a:ext uri="{FF2B5EF4-FFF2-40B4-BE49-F238E27FC236}">
                <a16:creationId xmlns:a16="http://schemas.microsoft.com/office/drawing/2014/main" id="{59009583-805D-8C07-6FAD-A888822D2A3D}"/>
              </a:ext>
            </a:extLst>
          </p:cNvPr>
          <p:cNvSpPr/>
          <p:nvPr/>
        </p:nvSpPr>
        <p:spPr>
          <a:xfrm>
            <a:off x="646176" y="4206240"/>
            <a:ext cx="54864" cy="548640"/>
          </a:xfrm>
          <a:prstGeom prst="rect">
            <a:avLst/>
          </a:prstGeom>
          <a:solidFill>
            <a:srgbClr val="C1613F"/>
          </a:solidFill>
          <a:ln/>
        </p:spPr>
      </p:sp>
      <p:sp>
        <p:nvSpPr>
          <p:cNvPr id="14" name="Text 2">
            <a:extLst>
              <a:ext uri="{FF2B5EF4-FFF2-40B4-BE49-F238E27FC236}">
                <a16:creationId xmlns:a16="http://schemas.microsoft.com/office/drawing/2014/main" id="{38FBFC71-92C0-59A5-009D-978FDB65C598}"/>
              </a:ext>
            </a:extLst>
          </p:cNvPr>
          <p:cNvSpPr/>
          <p:nvPr/>
        </p:nvSpPr>
        <p:spPr>
          <a:xfrm>
            <a:off x="920496" y="4178808"/>
            <a:ext cx="1828800" cy="594360"/>
          </a:xfrm>
          <a:prstGeom prst="rect">
            <a:avLst/>
          </a:prstGeom>
          <a:noFill/>
          <a:ln/>
        </p:spPr>
        <p:txBody>
          <a:bodyPr wrap="square" rtlCol="0" anchor="ctr"/>
          <a:lstStyle/>
          <a:p>
            <a:pPr marL="0" indent="0">
              <a:buNone/>
            </a:pPr>
            <a:r>
              <a:rPr lang="en-US" sz="1900" b="1" dirty="0" err="1">
                <a:solidFill>
                  <a:srgbClr val="C1613F"/>
                </a:solidFill>
                <a:latin typeface="Yu Gothic" pitchFamily="34" charset="0"/>
                <a:ea typeface="Yu Gothic" pitchFamily="34" charset="-122"/>
              </a:rPr>
              <a:t>所属</a:t>
            </a:r>
            <a:endParaRPr lang="en-US" sz="1900" dirty="0"/>
          </a:p>
        </p:txBody>
      </p:sp>
      <p:sp>
        <p:nvSpPr>
          <p:cNvPr id="15" name="Text 3">
            <a:extLst>
              <a:ext uri="{FF2B5EF4-FFF2-40B4-BE49-F238E27FC236}">
                <a16:creationId xmlns:a16="http://schemas.microsoft.com/office/drawing/2014/main" id="{7FE52984-CAD3-3909-D0BC-0AB3AD83FBA4}"/>
              </a:ext>
            </a:extLst>
          </p:cNvPr>
          <p:cNvSpPr/>
          <p:nvPr/>
        </p:nvSpPr>
        <p:spPr>
          <a:xfrm>
            <a:off x="2840736" y="4178808"/>
            <a:ext cx="8503920" cy="594360"/>
          </a:xfrm>
          <a:prstGeom prst="rect">
            <a:avLst/>
          </a:prstGeom>
          <a:noFill/>
          <a:ln/>
        </p:spPr>
        <p:txBody>
          <a:bodyPr wrap="square" rtlCol="0" anchor="ctr"/>
          <a:lstStyle/>
          <a:p>
            <a:pPr marL="0" indent="0">
              <a:buNone/>
            </a:pPr>
            <a:r>
              <a:rPr lang="en-US" dirty="0" err="1">
                <a:solidFill>
                  <a:srgbClr val="3B322B"/>
                </a:solidFill>
                <a:latin typeface="Yu Gothic" panose="020B0400000000000000" pitchFamily="34" charset="-128"/>
                <a:ea typeface="Yu Gothic" panose="020B0400000000000000" pitchFamily="34" charset="-128"/>
                <a:cs typeface="Yu Gothic" pitchFamily="34" charset="-120"/>
              </a:rPr>
              <a:t>所属</a:t>
            </a:r>
            <a:endParaRPr lang="en-US" dirty="0">
              <a:latin typeface="Yu Gothic" panose="020B0400000000000000" pitchFamily="34" charset="-128"/>
              <a:ea typeface="Yu Gothic" panose="020B0400000000000000" pitchFamily="34" charset="-128"/>
            </a:endParaRPr>
          </a:p>
        </p:txBody>
      </p:sp>
      <p:sp>
        <p:nvSpPr>
          <p:cNvPr id="17" name="Shape 5">
            <a:extLst>
              <a:ext uri="{FF2B5EF4-FFF2-40B4-BE49-F238E27FC236}">
                <a16:creationId xmlns:a16="http://schemas.microsoft.com/office/drawing/2014/main" id="{42136425-AD06-0E22-951A-41C7319AE3C0}"/>
              </a:ext>
            </a:extLst>
          </p:cNvPr>
          <p:cNvSpPr/>
          <p:nvPr/>
        </p:nvSpPr>
        <p:spPr>
          <a:xfrm>
            <a:off x="646176" y="5318760"/>
            <a:ext cx="54864" cy="548640"/>
          </a:xfrm>
          <a:prstGeom prst="rect">
            <a:avLst/>
          </a:prstGeom>
          <a:solidFill>
            <a:srgbClr val="C1613F"/>
          </a:solidFill>
          <a:ln/>
        </p:spPr>
      </p:sp>
      <p:sp>
        <p:nvSpPr>
          <p:cNvPr id="18" name="Text 6">
            <a:extLst>
              <a:ext uri="{FF2B5EF4-FFF2-40B4-BE49-F238E27FC236}">
                <a16:creationId xmlns:a16="http://schemas.microsoft.com/office/drawing/2014/main" id="{070FE815-73A6-E131-48CA-96594420E206}"/>
              </a:ext>
            </a:extLst>
          </p:cNvPr>
          <p:cNvSpPr/>
          <p:nvPr/>
        </p:nvSpPr>
        <p:spPr>
          <a:xfrm>
            <a:off x="920496" y="5291328"/>
            <a:ext cx="1828800" cy="594360"/>
          </a:xfrm>
          <a:prstGeom prst="rect">
            <a:avLst/>
          </a:prstGeom>
          <a:noFill/>
          <a:ln/>
        </p:spPr>
        <p:txBody>
          <a:bodyPr wrap="square" rtlCol="0" anchor="ctr"/>
          <a:lstStyle/>
          <a:p>
            <a:pPr marL="0" indent="0">
              <a:buNone/>
            </a:pPr>
            <a:r>
              <a:rPr lang="en-US" sz="1900" b="1" dirty="0" err="1">
                <a:solidFill>
                  <a:srgbClr val="C1613F"/>
                </a:solidFill>
                <a:latin typeface="Yu Gothic" pitchFamily="34" charset="0"/>
                <a:ea typeface="Yu Gothic" pitchFamily="34" charset="-122"/>
              </a:rPr>
              <a:t>趣味</a:t>
            </a:r>
            <a:endParaRPr lang="en-US" sz="1900" dirty="0"/>
          </a:p>
        </p:txBody>
      </p:sp>
      <p:sp>
        <p:nvSpPr>
          <p:cNvPr id="19" name="Text 7">
            <a:extLst>
              <a:ext uri="{FF2B5EF4-FFF2-40B4-BE49-F238E27FC236}">
                <a16:creationId xmlns:a16="http://schemas.microsoft.com/office/drawing/2014/main" id="{4C6DE9AE-12D9-0176-ED20-CC62303D718F}"/>
              </a:ext>
            </a:extLst>
          </p:cNvPr>
          <p:cNvSpPr/>
          <p:nvPr/>
        </p:nvSpPr>
        <p:spPr>
          <a:xfrm>
            <a:off x="2840736" y="5291328"/>
            <a:ext cx="8503920" cy="594360"/>
          </a:xfrm>
          <a:prstGeom prst="rect">
            <a:avLst/>
          </a:prstGeom>
          <a:noFill/>
          <a:ln/>
        </p:spPr>
        <p:txBody>
          <a:bodyPr wrap="square" rtlCol="0" anchor="ctr"/>
          <a:lstStyle/>
          <a:p>
            <a:pPr>
              <a:spcAft>
                <a:spcPts val="700"/>
              </a:spcAft>
              <a:buSzPct val="100000"/>
            </a:pPr>
            <a:r>
              <a:rPr lang="ja-JP" altLang="en-US">
                <a:solidFill>
                  <a:srgbClr val="3B322B"/>
                </a:solidFill>
                <a:latin typeface="Yu Gothic" panose="020B0400000000000000" pitchFamily="34" charset="-128"/>
                <a:ea typeface="Yu Gothic" panose="020B0400000000000000" pitchFamily="34" charset="-128"/>
                <a:cs typeface="Yu Gothic" pitchFamily="34" charset="-120"/>
              </a:rPr>
              <a:t>趣味</a:t>
            </a:r>
            <a:endParaRPr lang="en-US" altLang="ja-JP"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2024546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530352"/>
            <a:ext cx="11064240" cy="584775"/>
          </a:xfrm>
          <a:prstGeom prst="rect">
            <a:avLst/>
          </a:prstGeom>
          <a:noFill/>
        </p:spPr>
        <p:txBody>
          <a:bodyPr wrap="square">
            <a:spAutoFit/>
          </a:bodyPr>
          <a:lstStyle/>
          <a:p>
            <a:r>
              <a:rPr sz="3200" b="1" dirty="0" err="1">
                <a:latin typeface="Yu Gothic" panose="020B0400000000000000" pitchFamily="34" charset="-128"/>
                <a:ea typeface="Yu Gothic" panose="020B0400000000000000" pitchFamily="34" charset="-128"/>
                <a:cs typeface="Meiryo"/>
              </a:rPr>
              <a:t>今日話すこと</a:t>
            </a:r>
            <a:endParaRPr sz="3200" b="1" dirty="0">
              <a:latin typeface="Yu Gothic" panose="020B0400000000000000" pitchFamily="34" charset="-128"/>
              <a:ea typeface="Yu Gothic" panose="020B0400000000000000" pitchFamily="34" charset="-128"/>
              <a:cs typeface="Meiryo"/>
            </a:endParaRPr>
          </a:p>
        </p:txBody>
      </p:sp>
      <p:sp>
        <p:nvSpPr>
          <p:cNvPr id="3" name="Rectangle 2"/>
          <p:cNvSpPr/>
          <p:nvPr/>
        </p:nvSpPr>
        <p:spPr>
          <a:xfrm>
            <a:off x="676656" y="1225296"/>
            <a:ext cx="1097280" cy="4445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1025" y="1486797"/>
            <a:ext cx="10881360" cy="1485150"/>
          </a:xfrm>
          <a:prstGeom prst="rect">
            <a:avLst/>
          </a:prstGeom>
          <a:noFill/>
        </p:spPr>
        <p:txBody>
          <a:bodyPr wrap="square">
            <a:spAutoFit/>
          </a:bodyPr>
          <a:lstStyle/>
          <a:p>
            <a:pPr marL="274320" indent="0">
              <a:lnSpc>
                <a:spcPct val="113000"/>
              </a:lnSpc>
              <a:spcAft>
                <a:spcPts val="350"/>
              </a:spcAft>
            </a:pPr>
            <a:r>
              <a:rPr lang="en" altLang="ja-JP" dirty="0">
                <a:solidFill>
                  <a:srgbClr val="404040"/>
                </a:solidFill>
                <a:latin typeface="Yu Gothic"/>
                <a:ea typeface="Yu Gothic"/>
                <a:cs typeface="Yu Gothic"/>
              </a:rPr>
              <a:t>Claude Code</a:t>
            </a:r>
            <a:r>
              <a:rPr lang="ja-JP" altLang="en-US">
                <a:solidFill>
                  <a:srgbClr val="404040"/>
                </a:solidFill>
                <a:latin typeface="Yu Gothic"/>
                <a:ea typeface="Yu Gothic"/>
                <a:cs typeface="Yu Gothic"/>
              </a:rPr>
              <a:t>を使っていく中で、多くの人が最初にぶつかる壁</a:t>
            </a:r>
          </a:p>
          <a:p>
            <a:pPr marL="548640" indent="0">
              <a:lnSpc>
                <a:spcPct val="113000"/>
              </a:lnSpc>
              <a:spcAft>
                <a:spcPts val="350"/>
              </a:spcAft>
            </a:pPr>
            <a:r>
              <a:rPr lang="en-US" altLang="ja-JP" dirty="0">
                <a:latin typeface="Yu Gothic"/>
                <a:ea typeface="Yu Gothic"/>
                <a:cs typeface="Yu Gothic"/>
              </a:rPr>
              <a:t>•</a:t>
            </a:r>
            <a:r>
              <a:rPr lang="en-US" altLang="ja-JP" dirty="0">
                <a:solidFill>
                  <a:srgbClr val="8C8C8C"/>
                </a:solidFill>
                <a:latin typeface="Yu Gothic"/>
                <a:ea typeface="Yu Gothic"/>
                <a:cs typeface="Yu Gothic"/>
              </a:rPr>
              <a:t> </a:t>
            </a:r>
            <a:r>
              <a:rPr lang="ja-JP" altLang="en-US">
                <a:solidFill>
                  <a:srgbClr val="404040"/>
                </a:solidFill>
                <a:latin typeface="Yu Gothic"/>
                <a:ea typeface="Yu Gothic"/>
                <a:cs typeface="Yu Gothic"/>
              </a:rPr>
              <a:t>指示は明確に書いているのに、思ったような結果にならない</a:t>
            </a:r>
          </a:p>
          <a:p>
            <a:pPr marL="548640" indent="0">
              <a:lnSpc>
                <a:spcPct val="113000"/>
              </a:lnSpc>
              <a:spcAft>
                <a:spcPts val="350"/>
              </a:spcAft>
            </a:pPr>
            <a:r>
              <a:rPr lang="en-US" altLang="ja-JP" dirty="0">
                <a:latin typeface="Yu Gothic"/>
                <a:ea typeface="Yu Gothic"/>
                <a:cs typeface="Yu Gothic"/>
              </a:rPr>
              <a:t>•</a:t>
            </a:r>
            <a:r>
              <a:rPr lang="en-US" altLang="ja-JP" dirty="0">
                <a:solidFill>
                  <a:srgbClr val="8C8C8C"/>
                </a:solidFill>
                <a:latin typeface="Yu Gothic"/>
                <a:ea typeface="Yu Gothic"/>
                <a:cs typeface="Yu Gothic"/>
              </a:rPr>
              <a:t> </a:t>
            </a:r>
            <a:r>
              <a:rPr lang="ja-JP" altLang="en-US">
                <a:solidFill>
                  <a:srgbClr val="404040"/>
                </a:solidFill>
                <a:latin typeface="Yu Gothic"/>
                <a:ea typeface="Yu Gothic"/>
                <a:cs typeface="Yu Gothic"/>
              </a:rPr>
              <a:t>毎回同じ説明をし直している</a:t>
            </a:r>
          </a:p>
          <a:p>
            <a:pPr marL="548640" indent="0">
              <a:lnSpc>
                <a:spcPct val="113000"/>
              </a:lnSpc>
              <a:spcAft>
                <a:spcPts val="350"/>
              </a:spcAft>
            </a:pPr>
            <a:r>
              <a:rPr lang="en-US" altLang="ja-JP" dirty="0">
                <a:latin typeface="Yu Gothic"/>
                <a:ea typeface="Yu Gothic"/>
                <a:cs typeface="Yu Gothic"/>
              </a:rPr>
              <a:t>•</a:t>
            </a:r>
            <a:r>
              <a:rPr lang="en-US" altLang="ja-JP" dirty="0">
                <a:solidFill>
                  <a:srgbClr val="8C8C8C"/>
                </a:solidFill>
                <a:latin typeface="Yu Gothic"/>
                <a:ea typeface="Yu Gothic"/>
                <a:cs typeface="Yu Gothic"/>
              </a:rPr>
              <a:t> </a:t>
            </a:r>
            <a:r>
              <a:rPr lang="ja-JP" altLang="en-US">
                <a:solidFill>
                  <a:srgbClr val="404040"/>
                </a:solidFill>
                <a:latin typeface="Yu Gothic"/>
                <a:ea typeface="Yu Gothic"/>
                <a:cs typeface="Yu Gothic"/>
              </a:rPr>
              <a:t>長い作業をさせると、途中で崩れる</a:t>
            </a:r>
          </a:p>
        </p:txBody>
      </p:sp>
      <p:sp>
        <p:nvSpPr>
          <p:cNvPr id="15" name="Text 4">
            <a:extLst>
              <a:ext uri="{FF2B5EF4-FFF2-40B4-BE49-F238E27FC236}">
                <a16:creationId xmlns:a16="http://schemas.microsoft.com/office/drawing/2014/main" id="{752695C4-80CD-B6E0-0DAC-B9287F346F84}"/>
              </a:ext>
            </a:extLst>
          </p:cNvPr>
          <p:cNvSpPr/>
          <p:nvPr/>
        </p:nvSpPr>
        <p:spPr>
          <a:xfrm>
            <a:off x="640080" y="3188998"/>
            <a:ext cx="10881360" cy="365760"/>
          </a:xfrm>
          <a:prstGeom prst="rect">
            <a:avLst/>
          </a:prstGeom>
          <a:noFill/>
          <a:ln/>
        </p:spPr>
        <p:txBody>
          <a:bodyPr wrap="square" rtlCol="0" anchor="ctr"/>
          <a:lstStyle/>
          <a:p>
            <a:pPr marL="0" indent="0">
              <a:buNone/>
            </a:pPr>
            <a:r>
              <a:rPr lang="en-US" sz="1800" b="1" dirty="0">
                <a:solidFill>
                  <a:srgbClr val="3B322B"/>
                </a:solidFill>
                <a:latin typeface="Yu Gothic" pitchFamily="34" charset="0"/>
                <a:ea typeface="Yu Gothic" pitchFamily="34" charset="-122"/>
                <a:cs typeface="Yu Gothic" pitchFamily="34" charset="-120"/>
              </a:rPr>
              <a:t>その壁を越えるための工夫を、4つの観点に分けて紹介します</a:t>
            </a:r>
            <a:endParaRPr lang="en-US" sz="1800" dirty="0"/>
          </a:p>
        </p:txBody>
      </p:sp>
      <p:sp>
        <p:nvSpPr>
          <p:cNvPr id="16" name="Shape 5">
            <a:extLst>
              <a:ext uri="{FF2B5EF4-FFF2-40B4-BE49-F238E27FC236}">
                <a16:creationId xmlns:a16="http://schemas.microsoft.com/office/drawing/2014/main" id="{13D2AA17-745E-24C2-73EF-C31CAC641928}"/>
              </a:ext>
            </a:extLst>
          </p:cNvPr>
          <p:cNvSpPr/>
          <p:nvPr/>
        </p:nvSpPr>
        <p:spPr>
          <a:xfrm>
            <a:off x="640080" y="3701062"/>
            <a:ext cx="5160422" cy="1328138"/>
          </a:xfrm>
          <a:prstGeom prst="roundRect">
            <a:avLst>
              <a:gd name="adj" fmla="val 4651"/>
            </a:avLst>
          </a:prstGeom>
          <a:solidFill>
            <a:srgbClr val="FFFFFF"/>
          </a:solidFill>
          <a:ln w="15240">
            <a:solidFill>
              <a:srgbClr val="E7E1DA"/>
            </a:solidFill>
            <a:prstDash val="solid"/>
          </a:ln>
        </p:spPr>
      </p:sp>
      <p:sp>
        <p:nvSpPr>
          <p:cNvPr id="17" name="Text 6">
            <a:extLst>
              <a:ext uri="{FF2B5EF4-FFF2-40B4-BE49-F238E27FC236}">
                <a16:creationId xmlns:a16="http://schemas.microsoft.com/office/drawing/2014/main" id="{891DA474-C986-0418-0639-47D702379420}"/>
              </a:ext>
            </a:extLst>
          </p:cNvPr>
          <p:cNvSpPr/>
          <p:nvPr/>
        </p:nvSpPr>
        <p:spPr>
          <a:xfrm>
            <a:off x="868680" y="3847366"/>
            <a:ext cx="987211" cy="772173"/>
          </a:xfrm>
          <a:prstGeom prst="rect">
            <a:avLst/>
          </a:prstGeom>
          <a:noFill/>
          <a:ln/>
        </p:spPr>
        <p:txBody>
          <a:bodyPr wrap="square" rtlCol="0" anchor="ctr"/>
          <a:lstStyle/>
          <a:p>
            <a:pPr marL="0" indent="0">
              <a:buNone/>
            </a:pPr>
            <a:r>
              <a:rPr lang="en-US" sz="4400" b="1" dirty="0">
                <a:solidFill>
                  <a:srgbClr val="C1613F"/>
                </a:solidFill>
                <a:latin typeface="Yu Gothic" pitchFamily="34" charset="0"/>
                <a:ea typeface="Yu Gothic" pitchFamily="34" charset="-122"/>
                <a:cs typeface="Yu Gothic" pitchFamily="34" charset="-120"/>
              </a:rPr>
              <a:t>01</a:t>
            </a:r>
            <a:endParaRPr lang="en-US" sz="4400" dirty="0"/>
          </a:p>
        </p:txBody>
      </p:sp>
      <p:sp>
        <p:nvSpPr>
          <p:cNvPr id="18" name="Text 7">
            <a:extLst>
              <a:ext uri="{FF2B5EF4-FFF2-40B4-BE49-F238E27FC236}">
                <a16:creationId xmlns:a16="http://schemas.microsoft.com/office/drawing/2014/main" id="{5365E0EE-8213-0601-43A8-979E9476471C}"/>
              </a:ext>
            </a:extLst>
          </p:cNvPr>
          <p:cNvSpPr/>
          <p:nvPr/>
        </p:nvSpPr>
        <p:spPr>
          <a:xfrm>
            <a:off x="2057401" y="3701062"/>
            <a:ext cx="3458736" cy="1328138"/>
          </a:xfrm>
          <a:prstGeom prst="rect">
            <a:avLst/>
          </a:prstGeom>
          <a:noFill/>
          <a:ln/>
        </p:spPr>
        <p:txBody>
          <a:bodyPr wrap="square" rtlCol="0" anchor="ctr"/>
          <a:lstStyle/>
          <a:p>
            <a:pPr marL="0" indent="0">
              <a:buNone/>
            </a:pPr>
            <a:r>
              <a:rPr lang="en-US" sz="1700" b="1" dirty="0">
                <a:solidFill>
                  <a:srgbClr val="3B322B"/>
                </a:solidFill>
                <a:latin typeface="Yu Gothic" pitchFamily="34" charset="0"/>
                <a:ea typeface="Yu Gothic" pitchFamily="34" charset="-122"/>
                <a:cs typeface="Yu Gothic" pitchFamily="34" charset="-120"/>
              </a:rPr>
              <a:t>コンテキストをどう渡し、</a:t>
            </a:r>
            <a:endParaRPr lang="en-US" sz="1700" dirty="0"/>
          </a:p>
          <a:p>
            <a:pPr marL="0" indent="0">
              <a:buNone/>
            </a:pPr>
            <a:r>
              <a:rPr lang="en-US" sz="1700" b="1" dirty="0">
                <a:solidFill>
                  <a:srgbClr val="3B322B"/>
                </a:solidFill>
                <a:latin typeface="Yu Gothic" pitchFamily="34" charset="0"/>
                <a:ea typeface="Yu Gothic" pitchFamily="34" charset="-122"/>
                <a:cs typeface="Yu Gothic" pitchFamily="34" charset="-120"/>
              </a:rPr>
              <a:t>維持するか</a:t>
            </a:r>
            <a:endParaRPr lang="en-US" sz="1700" dirty="0"/>
          </a:p>
        </p:txBody>
      </p:sp>
      <p:sp>
        <p:nvSpPr>
          <p:cNvPr id="19" name="Shape 8">
            <a:extLst>
              <a:ext uri="{FF2B5EF4-FFF2-40B4-BE49-F238E27FC236}">
                <a16:creationId xmlns:a16="http://schemas.microsoft.com/office/drawing/2014/main" id="{638B75F0-3942-0AA7-2DF0-E819C3B129F3}"/>
              </a:ext>
            </a:extLst>
          </p:cNvPr>
          <p:cNvSpPr/>
          <p:nvPr/>
        </p:nvSpPr>
        <p:spPr>
          <a:xfrm>
            <a:off x="6263640" y="3701062"/>
            <a:ext cx="5160422" cy="1328138"/>
          </a:xfrm>
          <a:prstGeom prst="roundRect">
            <a:avLst>
              <a:gd name="adj" fmla="val 4651"/>
            </a:avLst>
          </a:prstGeom>
          <a:solidFill>
            <a:srgbClr val="FFFFFF"/>
          </a:solidFill>
          <a:ln w="15240">
            <a:solidFill>
              <a:srgbClr val="E7E1DA"/>
            </a:solidFill>
            <a:prstDash val="solid"/>
          </a:ln>
        </p:spPr>
      </p:sp>
      <p:sp>
        <p:nvSpPr>
          <p:cNvPr id="20" name="Text 9">
            <a:extLst>
              <a:ext uri="{FF2B5EF4-FFF2-40B4-BE49-F238E27FC236}">
                <a16:creationId xmlns:a16="http://schemas.microsoft.com/office/drawing/2014/main" id="{21E2398F-1F0E-1A39-86FA-9E9BA9FCDEC3}"/>
              </a:ext>
            </a:extLst>
          </p:cNvPr>
          <p:cNvSpPr/>
          <p:nvPr/>
        </p:nvSpPr>
        <p:spPr>
          <a:xfrm>
            <a:off x="6492240" y="3847366"/>
            <a:ext cx="987211" cy="772173"/>
          </a:xfrm>
          <a:prstGeom prst="rect">
            <a:avLst/>
          </a:prstGeom>
          <a:noFill/>
          <a:ln/>
        </p:spPr>
        <p:txBody>
          <a:bodyPr wrap="square" rtlCol="0" anchor="ctr"/>
          <a:lstStyle/>
          <a:p>
            <a:pPr marL="0" indent="0">
              <a:buNone/>
            </a:pPr>
            <a:r>
              <a:rPr lang="en-US" sz="4400" b="1" dirty="0">
                <a:solidFill>
                  <a:srgbClr val="C1613F"/>
                </a:solidFill>
                <a:latin typeface="Yu Gothic" pitchFamily="34" charset="0"/>
                <a:ea typeface="Yu Gothic" pitchFamily="34" charset="-122"/>
                <a:cs typeface="Yu Gothic" pitchFamily="34" charset="-120"/>
              </a:rPr>
              <a:t>02</a:t>
            </a:r>
            <a:endParaRPr lang="en-US" sz="4400" dirty="0"/>
          </a:p>
        </p:txBody>
      </p:sp>
      <p:sp>
        <p:nvSpPr>
          <p:cNvPr id="21" name="Text 10">
            <a:extLst>
              <a:ext uri="{FF2B5EF4-FFF2-40B4-BE49-F238E27FC236}">
                <a16:creationId xmlns:a16="http://schemas.microsoft.com/office/drawing/2014/main" id="{6D822906-63C8-1CAB-ED93-5A22AF7071AA}"/>
              </a:ext>
            </a:extLst>
          </p:cNvPr>
          <p:cNvSpPr/>
          <p:nvPr/>
        </p:nvSpPr>
        <p:spPr>
          <a:xfrm>
            <a:off x="7680960" y="3701062"/>
            <a:ext cx="3544986" cy="1328138"/>
          </a:xfrm>
          <a:prstGeom prst="rect">
            <a:avLst/>
          </a:prstGeom>
          <a:noFill/>
          <a:ln/>
        </p:spPr>
        <p:txBody>
          <a:bodyPr wrap="square" rtlCol="0" anchor="ctr"/>
          <a:lstStyle/>
          <a:p>
            <a:pPr marL="0" indent="0">
              <a:buNone/>
            </a:pPr>
            <a:r>
              <a:rPr lang="en-US" sz="1700" b="1" dirty="0">
                <a:solidFill>
                  <a:srgbClr val="3B322B"/>
                </a:solidFill>
                <a:latin typeface="Yu Gothic" pitchFamily="34" charset="0"/>
                <a:ea typeface="Yu Gothic" pitchFamily="34" charset="-122"/>
                <a:cs typeface="Yu Gothic" pitchFamily="34" charset="-120"/>
              </a:rPr>
              <a:t>環境・道具として</a:t>
            </a:r>
            <a:endParaRPr lang="en-US" sz="1700" dirty="0"/>
          </a:p>
          <a:p>
            <a:pPr marL="0" indent="0">
              <a:buNone/>
            </a:pPr>
            <a:r>
              <a:rPr lang="en-US" sz="1700" b="1" dirty="0">
                <a:solidFill>
                  <a:srgbClr val="3B322B"/>
                </a:solidFill>
                <a:latin typeface="Yu Gothic" pitchFamily="34" charset="0"/>
                <a:ea typeface="Yu Gothic" pitchFamily="34" charset="-122"/>
                <a:cs typeface="Yu Gothic" pitchFamily="34" charset="-120"/>
              </a:rPr>
              <a:t>何を整えるか</a:t>
            </a:r>
            <a:endParaRPr lang="en-US" sz="1700" dirty="0"/>
          </a:p>
        </p:txBody>
      </p:sp>
      <p:sp>
        <p:nvSpPr>
          <p:cNvPr id="22" name="Shape 11">
            <a:extLst>
              <a:ext uri="{FF2B5EF4-FFF2-40B4-BE49-F238E27FC236}">
                <a16:creationId xmlns:a16="http://schemas.microsoft.com/office/drawing/2014/main" id="{0E962AB3-31F9-2180-C238-3EC51D18FC90}"/>
              </a:ext>
            </a:extLst>
          </p:cNvPr>
          <p:cNvSpPr/>
          <p:nvPr/>
        </p:nvSpPr>
        <p:spPr>
          <a:xfrm>
            <a:off x="640080" y="5161730"/>
            <a:ext cx="5160422" cy="1328138"/>
          </a:xfrm>
          <a:prstGeom prst="roundRect">
            <a:avLst>
              <a:gd name="adj" fmla="val 4651"/>
            </a:avLst>
          </a:prstGeom>
          <a:solidFill>
            <a:srgbClr val="FFFFFF"/>
          </a:solidFill>
          <a:ln w="15240">
            <a:solidFill>
              <a:srgbClr val="E7E1DA"/>
            </a:solidFill>
            <a:prstDash val="solid"/>
          </a:ln>
        </p:spPr>
      </p:sp>
      <p:sp>
        <p:nvSpPr>
          <p:cNvPr id="23" name="Text 12">
            <a:extLst>
              <a:ext uri="{FF2B5EF4-FFF2-40B4-BE49-F238E27FC236}">
                <a16:creationId xmlns:a16="http://schemas.microsoft.com/office/drawing/2014/main" id="{9585E573-25EE-77B8-D411-273C93FCF014}"/>
              </a:ext>
            </a:extLst>
          </p:cNvPr>
          <p:cNvSpPr/>
          <p:nvPr/>
        </p:nvSpPr>
        <p:spPr>
          <a:xfrm>
            <a:off x="868680" y="5308034"/>
            <a:ext cx="987211" cy="772173"/>
          </a:xfrm>
          <a:prstGeom prst="rect">
            <a:avLst/>
          </a:prstGeom>
          <a:noFill/>
          <a:ln/>
        </p:spPr>
        <p:txBody>
          <a:bodyPr wrap="square" rtlCol="0" anchor="ctr"/>
          <a:lstStyle/>
          <a:p>
            <a:pPr marL="0" indent="0">
              <a:buNone/>
            </a:pPr>
            <a:r>
              <a:rPr lang="en-US" sz="4400" b="1" dirty="0">
                <a:solidFill>
                  <a:srgbClr val="C1613F"/>
                </a:solidFill>
                <a:latin typeface="Yu Gothic" pitchFamily="34" charset="0"/>
                <a:ea typeface="Yu Gothic" pitchFamily="34" charset="-122"/>
                <a:cs typeface="Yu Gothic" pitchFamily="34" charset="-120"/>
              </a:rPr>
              <a:t>03</a:t>
            </a:r>
            <a:endParaRPr lang="en-US" sz="4400" dirty="0"/>
          </a:p>
        </p:txBody>
      </p:sp>
      <p:sp>
        <p:nvSpPr>
          <p:cNvPr id="24" name="Text 13">
            <a:extLst>
              <a:ext uri="{FF2B5EF4-FFF2-40B4-BE49-F238E27FC236}">
                <a16:creationId xmlns:a16="http://schemas.microsoft.com/office/drawing/2014/main" id="{FF2DA397-6D99-2604-A1FC-BAF8DADAE6C0}"/>
              </a:ext>
            </a:extLst>
          </p:cNvPr>
          <p:cNvSpPr/>
          <p:nvPr/>
        </p:nvSpPr>
        <p:spPr>
          <a:xfrm>
            <a:off x="2057400" y="5161730"/>
            <a:ext cx="3544986" cy="1328138"/>
          </a:xfrm>
          <a:prstGeom prst="rect">
            <a:avLst/>
          </a:prstGeom>
          <a:noFill/>
          <a:ln/>
        </p:spPr>
        <p:txBody>
          <a:bodyPr wrap="square" rtlCol="0" anchor="ctr"/>
          <a:lstStyle/>
          <a:p>
            <a:pPr marL="0" indent="0">
              <a:buNone/>
            </a:pPr>
            <a:r>
              <a:rPr lang="en-US" sz="1700" b="1" dirty="0">
                <a:solidFill>
                  <a:srgbClr val="3B322B"/>
                </a:solidFill>
                <a:latin typeface="Yu Gothic" pitchFamily="34" charset="0"/>
                <a:ea typeface="Yu Gothic" pitchFamily="34" charset="-122"/>
                <a:cs typeface="Yu Gothic" pitchFamily="34" charset="-120"/>
              </a:rPr>
              <a:t>検証のループを</a:t>
            </a:r>
            <a:endParaRPr lang="en-US" sz="1700" dirty="0"/>
          </a:p>
          <a:p>
            <a:pPr marL="0" indent="0">
              <a:buNone/>
            </a:pPr>
            <a:r>
              <a:rPr lang="en-US" sz="1700" b="1" dirty="0">
                <a:solidFill>
                  <a:srgbClr val="3B322B"/>
                </a:solidFill>
                <a:latin typeface="Yu Gothic" pitchFamily="34" charset="0"/>
                <a:ea typeface="Yu Gothic" pitchFamily="34" charset="-122"/>
                <a:cs typeface="Yu Gothic" pitchFamily="34" charset="-120"/>
              </a:rPr>
              <a:t>どう回すか</a:t>
            </a:r>
            <a:endParaRPr lang="en-US" sz="1700" dirty="0"/>
          </a:p>
        </p:txBody>
      </p:sp>
      <p:sp>
        <p:nvSpPr>
          <p:cNvPr id="25" name="Shape 14">
            <a:extLst>
              <a:ext uri="{FF2B5EF4-FFF2-40B4-BE49-F238E27FC236}">
                <a16:creationId xmlns:a16="http://schemas.microsoft.com/office/drawing/2014/main" id="{FE3470B9-92A1-9B74-828B-6520BE166AF9}"/>
              </a:ext>
            </a:extLst>
          </p:cNvPr>
          <p:cNvSpPr/>
          <p:nvPr/>
        </p:nvSpPr>
        <p:spPr>
          <a:xfrm>
            <a:off x="6263640" y="5161730"/>
            <a:ext cx="5160422" cy="1328138"/>
          </a:xfrm>
          <a:prstGeom prst="roundRect">
            <a:avLst>
              <a:gd name="adj" fmla="val 4651"/>
            </a:avLst>
          </a:prstGeom>
          <a:solidFill>
            <a:srgbClr val="FFFFFF"/>
          </a:solidFill>
          <a:ln w="15240">
            <a:solidFill>
              <a:srgbClr val="E7E1DA"/>
            </a:solidFill>
            <a:prstDash val="solid"/>
          </a:ln>
        </p:spPr>
      </p:sp>
      <p:sp>
        <p:nvSpPr>
          <p:cNvPr id="26" name="Text 15">
            <a:extLst>
              <a:ext uri="{FF2B5EF4-FFF2-40B4-BE49-F238E27FC236}">
                <a16:creationId xmlns:a16="http://schemas.microsoft.com/office/drawing/2014/main" id="{43F38E34-D341-0231-D65F-65081DFD8C75}"/>
              </a:ext>
            </a:extLst>
          </p:cNvPr>
          <p:cNvSpPr/>
          <p:nvPr/>
        </p:nvSpPr>
        <p:spPr>
          <a:xfrm>
            <a:off x="6492240" y="5308034"/>
            <a:ext cx="987211" cy="772173"/>
          </a:xfrm>
          <a:prstGeom prst="rect">
            <a:avLst/>
          </a:prstGeom>
          <a:noFill/>
          <a:ln/>
        </p:spPr>
        <p:txBody>
          <a:bodyPr wrap="square" rtlCol="0" anchor="ctr"/>
          <a:lstStyle/>
          <a:p>
            <a:pPr marL="0" indent="0">
              <a:buNone/>
            </a:pPr>
            <a:r>
              <a:rPr lang="en-US" sz="4400" b="1" dirty="0">
                <a:solidFill>
                  <a:srgbClr val="C1613F"/>
                </a:solidFill>
                <a:latin typeface="Yu Gothic" pitchFamily="34" charset="0"/>
                <a:ea typeface="Yu Gothic" pitchFamily="34" charset="-122"/>
                <a:cs typeface="Yu Gothic" pitchFamily="34" charset="-120"/>
              </a:rPr>
              <a:t>04</a:t>
            </a:r>
            <a:endParaRPr lang="en-US" sz="4400" dirty="0"/>
          </a:p>
        </p:txBody>
      </p:sp>
      <p:sp>
        <p:nvSpPr>
          <p:cNvPr id="27" name="Text 16">
            <a:extLst>
              <a:ext uri="{FF2B5EF4-FFF2-40B4-BE49-F238E27FC236}">
                <a16:creationId xmlns:a16="http://schemas.microsoft.com/office/drawing/2014/main" id="{B584DBC3-97D6-8694-FB8F-1FFE73B95B12}"/>
              </a:ext>
            </a:extLst>
          </p:cNvPr>
          <p:cNvSpPr/>
          <p:nvPr/>
        </p:nvSpPr>
        <p:spPr>
          <a:xfrm>
            <a:off x="7680960" y="5161730"/>
            <a:ext cx="3544986" cy="1328138"/>
          </a:xfrm>
          <a:prstGeom prst="rect">
            <a:avLst/>
          </a:prstGeom>
          <a:noFill/>
          <a:ln/>
        </p:spPr>
        <p:txBody>
          <a:bodyPr wrap="square" rtlCol="0" anchor="ctr"/>
          <a:lstStyle/>
          <a:p>
            <a:pPr marL="0" indent="0">
              <a:buNone/>
            </a:pPr>
            <a:r>
              <a:rPr lang="en-US" sz="1700" b="1" dirty="0">
                <a:solidFill>
                  <a:srgbClr val="3B322B"/>
                </a:solidFill>
                <a:latin typeface="Yu Gothic" pitchFamily="34" charset="0"/>
                <a:ea typeface="Yu Gothic" pitchFamily="34" charset="-122"/>
                <a:cs typeface="Yu Gothic" pitchFamily="34" charset="-120"/>
              </a:rPr>
              <a:t>セッションを超えて</a:t>
            </a:r>
            <a:endParaRPr lang="en-US" sz="1700" dirty="0"/>
          </a:p>
          <a:p>
            <a:pPr marL="0" indent="0">
              <a:buNone/>
            </a:pPr>
            <a:r>
              <a:rPr lang="en-US" sz="1700" b="1" dirty="0">
                <a:solidFill>
                  <a:srgbClr val="3B322B"/>
                </a:solidFill>
                <a:latin typeface="Yu Gothic" pitchFamily="34" charset="0"/>
                <a:ea typeface="Yu Gothic" pitchFamily="34" charset="-122"/>
                <a:cs typeface="Yu Gothic" pitchFamily="34" charset="-120"/>
              </a:rPr>
              <a:t>どう設計するか</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502920"/>
            <a:ext cx="7315200" cy="731520"/>
          </a:xfrm>
          <a:prstGeom prst="rect">
            <a:avLst/>
          </a:prstGeom>
          <a:noFill/>
          <a:ln/>
        </p:spPr>
        <p:txBody>
          <a:bodyPr wrap="square" rtlCol="0" anchor="ctr"/>
          <a:lstStyle/>
          <a:p>
            <a:pPr marL="0" indent="0">
              <a:buNone/>
            </a:pPr>
            <a:r>
              <a:rPr lang="en-US" sz="3200" b="1" dirty="0">
                <a:solidFill>
                  <a:srgbClr val="3B322B"/>
                </a:solidFill>
                <a:latin typeface="Yu Gothic" pitchFamily="34" charset="0"/>
                <a:ea typeface="Yu Gothic" pitchFamily="34" charset="-122"/>
                <a:cs typeface="Yu Gothic" pitchFamily="34" charset="-120"/>
              </a:rPr>
              <a:t>本題に入る前に</a:t>
            </a:r>
            <a:endParaRPr lang="en-US" sz="3200" dirty="0"/>
          </a:p>
        </p:txBody>
      </p:sp>
      <p:sp>
        <p:nvSpPr>
          <p:cNvPr id="3" name="Shape 1"/>
          <p:cNvSpPr/>
          <p:nvPr/>
        </p:nvSpPr>
        <p:spPr>
          <a:xfrm>
            <a:off x="640080" y="1828800"/>
            <a:ext cx="10881360" cy="3657600"/>
          </a:xfrm>
          <a:prstGeom prst="roundRect">
            <a:avLst>
              <a:gd name="adj" fmla="val 2500"/>
            </a:avLst>
          </a:prstGeom>
          <a:solidFill>
            <a:srgbClr val="FBEEE7"/>
          </a:solidFill>
          <a:ln/>
        </p:spPr>
      </p:sp>
      <p:sp>
        <p:nvSpPr>
          <p:cNvPr id="4" name="Text 2"/>
          <p:cNvSpPr/>
          <p:nvPr/>
        </p:nvSpPr>
        <p:spPr>
          <a:xfrm>
            <a:off x="914400" y="1691640"/>
            <a:ext cx="1097280" cy="1097280"/>
          </a:xfrm>
          <a:prstGeom prst="rect">
            <a:avLst/>
          </a:prstGeom>
          <a:noFill/>
          <a:ln/>
        </p:spPr>
        <p:txBody>
          <a:bodyPr wrap="square" rtlCol="0" anchor="ctr"/>
          <a:lstStyle/>
          <a:p>
            <a:pPr marL="0" indent="0">
              <a:buNone/>
            </a:pPr>
            <a:r>
              <a:rPr lang="en-US" sz="9000" b="1" dirty="0">
                <a:solidFill>
                  <a:srgbClr val="C1613F"/>
                </a:solidFill>
                <a:latin typeface="Yu Gothic" pitchFamily="34" charset="0"/>
                <a:ea typeface="Yu Gothic" pitchFamily="34" charset="-122"/>
                <a:cs typeface="Yu Gothic" pitchFamily="34" charset="-120"/>
              </a:rPr>
              <a:t>“</a:t>
            </a:r>
            <a:endParaRPr lang="en-US" sz="9000" dirty="0"/>
          </a:p>
        </p:txBody>
      </p:sp>
      <p:sp>
        <p:nvSpPr>
          <p:cNvPr id="5" name="Text 3"/>
          <p:cNvSpPr/>
          <p:nvPr/>
        </p:nvSpPr>
        <p:spPr>
          <a:xfrm>
            <a:off x="1371600" y="2240280"/>
            <a:ext cx="9601200" cy="2834640"/>
          </a:xfrm>
          <a:prstGeom prst="rect">
            <a:avLst/>
          </a:prstGeom>
          <a:noFill/>
          <a:ln/>
        </p:spPr>
        <p:txBody>
          <a:bodyPr wrap="square" rtlCol="0" anchor="t"/>
          <a:lstStyle/>
          <a:p>
            <a:pPr>
              <a:spcAft>
                <a:spcPts val="2400"/>
              </a:spcAft>
              <a:buSzPct val="100000"/>
            </a:pPr>
            <a:r>
              <a:rPr lang="en-US" altLang="ja-JP" dirty="0">
                <a:latin typeface="Yu Gothic" panose="020B0400000000000000" pitchFamily="34" charset="-128"/>
                <a:ea typeface="Yu Gothic" panose="020B0400000000000000" pitchFamily="34" charset="-128"/>
                <a:cs typeface="Yu Gothic"/>
              </a:rPr>
              <a:t>• </a:t>
            </a:r>
            <a:r>
              <a:rPr lang="en-US" altLang="ja-JP" dirty="0" err="1">
                <a:solidFill>
                  <a:srgbClr val="3B322B"/>
                </a:solidFill>
                <a:latin typeface="Yu Gothic" panose="020B0400000000000000" pitchFamily="34" charset="-128"/>
                <a:ea typeface="Yu Gothic" panose="020B0400000000000000" pitchFamily="34" charset="-128"/>
                <a:cs typeface="Yu Gothic" pitchFamily="34" charset="-120"/>
              </a:rPr>
              <a:t>ここで話す内容がすべて正しいとは限りません。あくまで私が実践している内容の紹介です</a:t>
            </a:r>
            <a:r>
              <a:rPr lang="en-US" altLang="ja-JP" dirty="0">
                <a:solidFill>
                  <a:srgbClr val="3B322B"/>
                </a:solidFill>
                <a:latin typeface="Yu Gothic" panose="020B0400000000000000" pitchFamily="34" charset="-128"/>
                <a:ea typeface="Yu Gothic" panose="020B0400000000000000" pitchFamily="34" charset="-128"/>
                <a:cs typeface="Yu Gothic" pitchFamily="34" charset="-120"/>
              </a:rPr>
              <a:t>。</a:t>
            </a:r>
            <a:endParaRPr lang="en-US" altLang="ja-JP" dirty="0">
              <a:latin typeface="Yu Gothic" panose="020B0400000000000000" pitchFamily="34" charset="-128"/>
              <a:ea typeface="Yu Gothic" panose="020B0400000000000000" pitchFamily="34" charset="-128"/>
            </a:endParaRPr>
          </a:p>
          <a:p>
            <a:pPr>
              <a:spcAft>
                <a:spcPts val="2400"/>
              </a:spcAft>
              <a:buSzPct val="100000"/>
            </a:pPr>
            <a:r>
              <a:rPr lang="en-US" altLang="ja-JP" dirty="0">
                <a:latin typeface="Yu Gothic" panose="020B0400000000000000" pitchFamily="34" charset="-128"/>
                <a:ea typeface="Yu Gothic" panose="020B0400000000000000" pitchFamily="34" charset="-128"/>
                <a:cs typeface="Yu Gothic"/>
              </a:rPr>
              <a:t>• </a:t>
            </a:r>
            <a:r>
              <a:rPr lang="en-US" altLang="ja-JP" dirty="0" err="1">
                <a:solidFill>
                  <a:srgbClr val="3B322B"/>
                </a:solidFill>
                <a:latin typeface="Yu Gothic" panose="020B0400000000000000" pitchFamily="34" charset="-128"/>
                <a:ea typeface="Yu Gothic" panose="020B0400000000000000" pitchFamily="34" charset="-128"/>
                <a:cs typeface="Yu Gothic" pitchFamily="34" charset="-120"/>
              </a:rPr>
              <a:t>AI活用は日々アップデートされているので、最新の情報は公式ドキュメント等で確認してください</a:t>
            </a:r>
            <a:r>
              <a:rPr lang="en-US" altLang="ja-JP" dirty="0">
                <a:solidFill>
                  <a:srgbClr val="3B322B"/>
                </a:solidFill>
                <a:latin typeface="Yu Gothic" panose="020B0400000000000000" pitchFamily="34" charset="-128"/>
                <a:ea typeface="Yu Gothic" panose="020B0400000000000000" pitchFamily="34" charset="-128"/>
                <a:cs typeface="Yu Gothic" pitchFamily="34" charset="-120"/>
              </a:rPr>
              <a:t>。</a:t>
            </a:r>
            <a:endParaRPr lang="en-US" altLang="ja-JP" dirty="0">
              <a:latin typeface="Yu Gothic" panose="020B0400000000000000" pitchFamily="34" charset="-128"/>
              <a:ea typeface="Yu Gothic" panose="020B0400000000000000" pitchFamily="34" charset="-128"/>
            </a:endParaRPr>
          </a:p>
          <a:p>
            <a:pPr>
              <a:spcAft>
                <a:spcPts val="2400"/>
              </a:spcAft>
              <a:buSzPct val="100000"/>
            </a:pPr>
            <a:r>
              <a:rPr lang="en-US" altLang="ja-JP" dirty="0">
                <a:latin typeface="Yu Gothic" panose="020B0400000000000000" pitchFamily="34" charset="-128"/>
                <a:ea typeface="Yu Gothic" panose="020B0400000000000000" pitchFamily="34" charset="-128"/>
                <a:cs typeface="Yu Gothic"/>
              </a:rPr>
              <a:t>• </a:t>
            </a:r>
            <a:r>
              <a:rPr lang="en-US" altLang="ja-JP" dirty="0" err="1">
                <a:solidFill>
                  <a:srgbClr val="3B322B"/>
                </a:solidFill>
                <a:latin typeface="Yu Gothic" panose="020B0400000000000000" pitchFamily="34" charset="-128"/>
                <a:ea typeface="Yu Gothic" panose="020B0400000000000000" pitchFamily="34" charset="-128"/>
                <a:cs typeface="Yu Gothic" pitchFamily="34" charset="-120"/>
              </a:rPr>
              <a:t>何か一つでも、皆さんのヒントになる部分があれば嬉しいです</a:t>
            </a:r>
            <a:r>
              <a:rPr lang="en-US" altLang="ja-JP" dirty="0">
                <a:solidFill>
                  <a:srgbClr val="3B322B"/>
                </a:solidFill>
                <a:latin typeface="Yu Gothic" panose="020B0400000000000000" pitchFamily="34" charset="-128"/>
                <a:ea typeface="Yu Gothic" panose="020B0400000000000000" pitchFamily="34" charset="-128"/>
                <a:cs typeface="Yu Gothic" pitchFamily="34" charset="-120"/>
              </a:rPr>
              <a:t>。</a:t>
            </a:r>
            <a:endParaRPr lang="en-US" altLang="ja-JP" dirty="0">
              <a:latin typeface="Yu Gothic" panose="020B0400000000000000" pitchFamily="34" charset="-128"/>
              <a:ea typeface="Yu Gothic" panose="020B0400000000000000" pitchFamily="34" charset="-128"/>
            </a:endParaRPr>
          </a:p>
        </p:txBody>
      </p:sp>
      <p:sp>
        <p:nvSpPr>
          <p:cNvPr id="8" name="Rectangle 3">
            <a:extLst>
              <a:ext uri="{FF2B5EF4-FFF2-40B4-BE49-F238E27FC236}">
                <a16:creationId xmlns:a16="http://schemas.microsoft.com/office/drawing/2014/main" id="{83F94C17-B737-89A1-3ACA-8D7C67ED1E82}"/>
              </a:ext>
            </a:extLst>
          </p:cNvPr>
          <p:cNvSpPr/>
          <p:nvPr/>
        </p:nvSpPr>
        <p:spPr>
          <a:xfrm>
            <a:off x="676656" y="1225296"/>
            <a:ext cx="1097280" cy="4445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0080" y="1309250"/>
            <a:ext cx="10881360" cy="365760"/>
          </a:xfrm>
          <a:prstGeom prst="rect">
            <a:avLst/>
          </a:prstGeom>
          <a:noFill/>
          <a:ln/>
        </p:spPr>
        <p:txBody>
          <a:bodyPr wrap="square" rtlCol="0" anchor="ctr"/>
          <a:lstStyle/>
          <a:p>
            <a:pPr marL="0" indent="0">
              <a:buNone/>
            </a:pPr>
            <a:r>
              <a:rPr lang="en-US" dirty="0">
                <a:latin typeface="Yu Gothic" pitchFamily="34" charset="0"/>
                <a:ea typeface="Yu Gothic" pitchFamily="34" charset="-122"/>
                <a:cs typeface="Yu Gothic" pitchFamily="34" charset="-120"/>
              </a:rPr>
              <a:t>このあと繰り返し出てくる基本用語を、先に簡単に整理しておきます</a:t>
            </a:r>
            <a:endParaRPr lang="en-US" dirty="0"/>
          </a:p>
        </p:txBody>
      </p:sp>
      <p:sp>
        <p:nvSpPr>
          <p:cNvPr id="4" name="Shape 2"/>
          <p:cNvSpPr/>
          <p:nvPr/>
        </p:nvSpPr>
        <p:spPr>
          <a:xfrm>
            <a:off x="640080" y="1798515"/>
            <a:ext cx="3413760" cy="2240280"/>
          </a:xfrm>
          <a:prstGeom prst="roundRect">
            <a:avLst>
              <a:gd name="adj" fmla="val 3265"/>
            </a:avLst>
          </a:prstGeom>
          <a:solidFill>
            <a:srgbClr val="FFFFFF"/>
          </a:solidFill>
          <a:ln w="15240">
            <a:solidFill>
              <a:srgbClr val="E7E1DA"/>
            </a:solidFill>
            <a:prstDash val="solid"/>
          </a:ln>
        </p:spPr>
      </p:sp>
      <p:sp>
        <p:nvSpPr>
          <p:cNvPr id="5" name="Shape 3"/>
          <p:cNvSpPr/>
          <p:nvPr/>
        </p:nvSpPr>
        <p:spPr>
          <a:xfrm>
            <a:off x="868680" y="2027115"/>
            <a:ext cx="54864" cy="292608"/>
          </a:xfrm>
          <a:prstGeom prst="rect">
            <a:avLst/>
          </a:prstGeom>
          <a:solidFill>
            <a:srgbClr val="C1613F"/>
          </a:solidFill>
          <a:ln/>
        </p:spPr>
      </p:sp>
      <p:sp>
        <p:nvSpPr>
          <p:cNvPr id="6" name="Text 4"/>
          <p:cNvSpPr/>
          <p:nvPr/>
        </p:nvSpPr>
        <p:spPr>
          <a:xfrm>
            <a:off x="1051560" y="1981395"/>
            <a:ext cx="2819400" cy="384048"/>
          </a:xfrm>
          <a:prstGeom prst="rect">
            <a:avLst/>
          </a:prstGeom>
          <a:noFill/>
          <a:ln/>
        </p:spPr>
        <p:txBody>
          <a:bodyPr wrap="square" rtlCol="0" anchor="ctr"/>
          <a:lstStyle/>
          <a:p>
            <a:pPr marL="0" indent="0">
              <a:buNone/>
            </a:pPr>
            <a:r>
              <a:rPr lang="en-US" sz="1800" b="1" dirty="0">
                <a:solidFill>
                  <a:srgbClr val="3B322B"/>
                </a:solidFill>
                <a:latin typeface="Yu Gothic" pitchFamily="34" charset="0"/>
                <a:ea typeface="Yu Gothic" pitchFamily="34" charset="-122"/>
                <a:cs typeface="Yu Gothic" pitchFamily="34" charset="-120"/>
              </a:rPr>
              <a:t>トークン</a:t>
            </a:r>
            <a:endParaRPr lang="en-US" sz="1800" dirty="0"/>
          </a:p>
        </p:txBody>
      </p:sp>
      <p:sp>
        <p:nvSpPr>
          <p:cNvPr id="7" name="Text 5"/>
          <p:cNvSpPr/>
          <p:nvPr/>
        </p:nvSpPr>
        <p:spPr>
          <a:xfrm>
            <a:off x="868680" y="2456883"/>
            <a:ext cx="2956560" cy="1371600"/>
          </a:xfrm>
          <a:prstGeom prst="rect">
            <a:avLst/>
          </a:prstGeom>
          <a:noFill/>
          <a:ln/>
        </p:spPr>
        <p:txBody>
          <a:bodyPr wrap="square" rtlCol="0" anchor="t"/>
          <a:lstStyle/>
          <a:p>
            <a:pPr marL="0" indent="0">
              <a:buNone/>
            </a:pPr>
            <a:r>
              <a:rPr lang="en-US" sz="1600" dirty="0">
                <a:latin typeface="Yu Gothic" pitchFamily="34" charset="0"/>
                <a:ea typeface="Yu Gothic" pitchFamily="34" charset="-122"/>
                <a:cs typeface="Yu Gothic" pitchFamily="34" charset="-120"/>
              </a:rPr>
              <a:t>AIがテキストを処理する際の最小単位。文章の長さや処理コストの目安になる</a:t>
            </a:r>
            <a:endParaRPr lang="en-US" sz="1600" dirty="0"/>
          </a:p>
        </p:txBody>
      </p:sp>
      <p:sp>
        <p:nvSpPr>
          <p:cNvPr id="8" name="Shape 6"/>
          <p:cNvSpPr/>
          <p:nvPr/>
        </p:nvSpPr>
        <p:spPr>
          <a:xfrm>
            <a:off x="4373880" y="1798515"/>
            <a:ext cx="3413760" cy="2240280"/>
          </a:xfrm>
          <a:prstGeom prst="roundRect">
            <a:avLst>
              <a:gd name="adj" fmla="val 3265"/>
            </a:avLst>
          </a:prstGeom>
          <a:solidFill>
            <a:srgbClr val="FFFFFF"/>
          </a:solidFill>
          <a:ln w="15240">
            <a:solidFill>
              <a:srgbClr val="E7E1DA"/>
            </a:solidFill>
            <a:prstDash val="solid"/>
          </a:ln>
        </p:spPr>
      </p:sp>
      <p:sp>
        <p:nvSpPr>
          <p:cNvPr id="9" name="Shape 7"/>
          <p:cNvSpPr/>
          <p:nvPr/>
        </p:nvSpPr>
        <p:spPr>
          <a:xfrm>
            <a:off x="4602480" y="2027115"/>
            <a:ext cx="54864" cy="292608"/>
          </a:xfrm>
          <a:prstGeom prst="rect">
            <a:avLst/>
          </a:prstGeom>
          <a:solidFill>
            <a:srgbClr val="C1613F"/>
          </a:solidFill>
          <a:ln/>
        </p:spPr>
      </p:sp>
      <p:sp>
        <p:nvSpPr>
          <p:cNvPr id="10" name="Text 8"/>
          <p:cNvSpPr/>
          <p:nvPr/>
        </p:nvSpPr>
        <p:spPr>
          <a:xfrm>
            <a:off x="4785360" y="1981395"/>
            <a:ext cx="2819400" cy="384048"/>
          </a:xfrm>
          <a:prstGeom prst="rect">
            <a:avLst/>
          </a:prstGeom>
          <a:noFill/>
          <a:ln/>
        </p:spPr>
        <p:txBody>
          <a:bodyPr wrap="square" rtlCol="0" anchor="ctr"/>
          <a:lstStyle/>
          <a:p>
            <a:pPr marL="0" indent="0">
              <a:buNone/>
            </a:pPr>
            <a:r>
              <a:rPr lang="en-US" sz="1800" b="1" dirty="0">
                <a:solidFill>
                  <a:srgbClr val="3B322B"/>
                </a:solidFill>
                <a:latin typeface="Yu Gothic" pitchFamily="34" charset="0"/>
                <a:ea typeface="Yu Gothic" pitchFamily="34" charset="-122"/>
                <a:cs typeface="Yu Gothic" pitchFamily="34" charset="-120"/>
              </a:rPr>
              <a:t>コンテキスト</a:t>
            </a:r>
            <a:endParaRPr lang="en-US" sz="1800" dirty="0"/>
          </a:p>
        </p:txBody>
      </p:sp>
      <p:sp>
        <p:nvSpPr>
          <p:cNvPr id="11" name="Text 9"/>
          <p:cNvSpPr/>
          <p:nvPr/>
        </p:nvSpPr>
        <p:spPr>
          <a:xfrm>
            <a:off x="4602480" y="2456883"/>
            <a:ext cx="2956560" cy="1371600"/>
          </a:xfrm>
          <a:prstGeom prst="rect">
            <a:avLst/>
          </a:prstGeom>
          <a:noFill/>
          <a:ln/>
        </p:spPr>
        <p:txBody>
          <a:bodyPr wrap="square" rtlCol="0" anchor="t"/>
          <a:lstStyle/>
          <a:p>
            <a:pPr marL="0" indent="0">
              <a:buNone/>
            </a:pPr>
            <a:r>
              <a:rPr lang="en-US" sz="1600" dirty="0">
                <a:latin typeface="Yu Gothic" pitchFamily="34" charset="0"/>
                <a:ea typeface="Yu Gothic" pitchFamily="34" charset="-122"/>
                <a:cs typeface="Yu Gothic" pitchFamily="34" charset="-120"/>
              </a:rPr>
              <a:t>AIが会話の中で保持している、文脈・指示・履歴などの情報全体のこと</a:t>
            </a:r>
            <a:endParaRPr lang="en-US" sz="1600" dirty="0"/>
          </a:p>
        </p:txBody>
      </p:sp>
      <p:sp>
        <p:nvSpPr>
          <p:cNvPr id="12" name="Shape 10"/>
          <p:cNvSpPr/>
          <p:nvPr/>
        </p:nvSpPr>
        <p:spPr>
          <a:xfrm>
            <a:off x="8107680" y="1798515"/>
            <a:ext cx="3413760" cy="2240280"/>
          </a:xfrm>
          <a:prstGeom prst="roundRect">
            <a:avLst>
              <a:gd name="adj" fmla="val 3265"/>
            </a:avLst>
          </a:prstGeom>
          <a:solidFill>
            <a:srgbClr val="FFFFFF"/>
          </a:solidFill>
          <a:ln w="15240">
            <a:solidFill>
              <a:srgbClr val="E7E1DA"/>
            </a:solidFill>
            <a:prstDash val="solid"/>
          </a:ln>
        </p:spPr>
      </p:sp>
      <p:sp>
        <p:nvSpPr>
          <p:cNvPr id="13" name="Shape 11"/>
          <p:cNvSpPr/>
          <p:nvPr/>
        </p:nvSpPr>
        <p:spPr>
          <a:xfrm>
            <a:off x="8336280" y="2027115"/>
            <a:ext cx="54864" cy="292608"/>
          </a:xfrm>
          <a:prstGeom prst="rect">
            <a:avLst/>
          </a:prstGeom>
          <a:solidFill>
            <a:srgbClr val="C1613F"/>
          </a:solidFill>
          <a:ln/>
        </p:spPr>
      </p:sp>
      <p:sp>
        <p:nvSpPr>
          <p:cNvPr id="14" name="Text 12"/>
          <p:cNvSpPr/>
          <p:nvPr/>
        </p:nvSpPr>
        <p:spPr>
          <a:xfrm>
            <a:off x="8519160" y="1981395"/>
            <a:ext cx="2819400" cy="384048"/>
          </a:xfrm>
          <a:prstGeom prst="rect">
            <a:avLst/>
          </a:prstGeom>
          <a:noFill/>
          <a:ln/>
        </p:spPr>
        <p:txBody>
          <a:bodyPr wrap="square" rtlCol="0" anchor="ctr"/>
          <a:lstStyle/>
          <a:p>
            <a:pPr marL="0" indent="0">
              <a:buNone/>
            </a:pPr>
            <a:r>
              <a:rPr lang="en-US" sz="1800" b="1" dirty="0">
                <a:solidFill>
                  <a:srgbClr val="3B322B"/>
                </a:solidFill>
                <a:latin typeface="Yu Gothic" pitchFamily="34" charset="0"/>
                <a:ea typeface="Yu Gothic" pitchFamily="34" charset="-122"/>
                <a:cs typeface="Yu Gothic" pitchFamily="34" charset="-120"/>
              </a:rPr>
              <a:t>セッション</a:t>
            </a:r>
            <a:endParaRPr lang="en-US" sz="1800" dirty="0"/>
          </a:p>
        </p:txBody>
      </p:sp>
      <p:sp>
        <p:nvSpPr>
          <p:cNvPr id="15" name="Text 13"/>
          <p:cNvSpPr/>
          <p:nvPr/>
        </p:nvSpPr>
        <p:spPr>
          <a:xfrm>
            <a:off x="8336280" y="2456883"/>
            <a:ext cx="2956560" cy="1371600"/>
          </a:xfrm>
          <a:prstGeom prst="rect">
            <a:avLst/>
          </a:prstGeom>
          <a:noFill/>
          <a:ln/>
        </p:spPr>
        <p:txBody>
          <a:bodyPr wrap="square" rtlCol="0" anchor="t"/>
          <a:lstStyle/>
          <a:p>
            <a:pPr marL="0" indent="0">
              <a:buNone/>
            </a:pPr>
            <a:r>
              <a:rPr lang="en-US" sz="1600" dirty="0">
                <a:latin typeface="Yu Gothic" pitchFamily="34" charset="0"/>
                <a:ea typeface="Yu Gothic" pitchFamily="34" charset="-122"/>
                <a:cs typeface="Yu Gothic" pitchFamily="34" charset="-120"/>
              </a:rPr>
              <a:t>Claude Codeとの一連の会話・作業のまとまり。区切ると文脈がリセットされる</a:t>
            </a:r>
            <a:endParaRPr lang="en-US" sz="1600" dirty="0"/>
          </a:p>
        </p:txBody>
      </p:sp>
      <p:sp>
        <p:nvSpPr>
          <p:cNvPr id="16" name="Shape 14"/>
          <p:cNvSpPr/>
          <p:nvPr/>
        </p:nvSpPr>
        <p:spPr>
          <a:xfrm>
            <a:off x="640080" y="4206240"/>
            <a:ext cx="3413760" cy="2240280"/>
          </a:xfrm>
          <a:prstGeom prst="roundRect">
            <a:avLst>
              <a:gd name="adj" fmla="val 3265"/>
            </a:avLst>
          </a:prstGeom>
          <a:solidFill>
            <a:srgbClr val="FFFFFF"/>
          </a:solidFill>
          <a:ln w="15240">
            <a:solidFill>
              <a:srgbClr val="E7E1DA"/>
            </a:solidFill>
            <a:prstDash val="solid"/>
          </a:ln>
        </p:spPr>
      </p:sp>
      <p:sp>
        <p:nvSpPr>
          <p:cNvPr id="17" name="Shape 15"/>
          <p:cNvSpPr/>
          <p:nvPr/>
        </p:nvSpPr>
        <p:spPr>
          <a:xfrm>
            <a:off x="868680" y="4434840"/>
            <a:ext cx="54864" cy="292608"/>
          </a:xfrm>
          <a:prstGeom prst="rect">
            <a:avLst/>
          </a:prstGeom>
          <a:solidFill>
            <a:srgbClr val="C1613F"/>
          </a:solidFill>
          <a:ln/>
        </p:spPr>
      </p:sp>
      <p:sp>
        <p:nvSpPr>
          <p:cNvPr id="18" name="Text 16"/>
          <p:cNvSpPr/>
          <p:nvPr/>
        </p:nvSpPr>
        <p:spPr>
          <a:xfrm>
            <a:off x="1051560" y="4389120"/>
            <a:ext cx="2819400" cy="384048"/>
          </a:xfrm>
          <a:prstGeom prst="rect">
            <a:avLst/>
          </a:prstGeom>
          <a:noFill/>
          <a:ln/>
        </p:spPr>
        <p:txBody>
          <a:bodyPr wrap="square" rtlCol="0" anchor="ctr"/>
          <a:lstStyle/>
          <a:p>
            <a:pPr marL="0" indent="0">
              <a:buNone/>
            </a:pPr>
            <a:r>
              <a:rPr lang="en-US" sz="1800" b="1" dirty="0">
                <a:solidFill>
                  <a:srgbClr val="3B322B"/>
                </a:solidFill>
                <a:latin typeface="Yu Gothic" pitchFamily="34" charset="0"/>
                <a:ea typeface="Yu Gothic" pitchFamily="34" charset="-122"/>
                <a:cs typeface="Yu Gothic" pitchFamily="34" charset="-120"/>
              </a:rPr>
              <a:t>システムプロンプト</a:t>
            </a:r>
            <a:endParaRPr lang="en-US" sz="1800" dirty="0"/>
          </a:p>
        </p:txBody>
      </p:sp>
      <p:sp>
        <p:nvSpPr>
          <p:cNvPr id="19" name="Text 17"/>
          <p:cNvSpPr/>
          <p:nvPr/>
        </p:nvSpPr>
        <p:spPr>
          <a:xfrm>
            <a:off x="868680" y="4864608"/>
            <a:ext cx="2956560" cy="1371600"/>
          </a:xfrm>
          <a:prstGeom prst="rect">
            <a:avLst/>
          </a:prstGeom>
          <a:noFill/>
          <a:ln/>
        </p:spPr>
        <p:txBody>
          <a:bodyPr wrap="square" rtlCol="0" anchor="t"/>
          <a:lstStyle/>
          <a:p>
            <a:r>
              <a:rPr lang="en-US" altLang="ja-JP" sz="1600" dirty="0" err="1">
                <a:latin typeface="Yu Gothic" pitchFamily="34" charset="0"/>
                <a:ea typeface="Yu Gothic" pitchFamily="34" charset="-122"/>
                <a:cs typeface="Yu Gothic" pitchFamily="34" charset="-120"/>
              </a:rPr>
              <a:t>個別の指示（ユーザプロンプト）より前に、AIの役割や振る舞いの土台として与える基本指示</a:t>
            </a:r>
            <a:endParaRPr lang="en-US" altLang="ja-JP" sz="1600" dirty="0"/>
          </a:p>
        </p:txBody>
      </p:sp>
      <p:sp>
        <p:nvSpPr>
          <p:cNvPr id="20" name="Shape 18"/>
          <p:cNvSpPr/>
          <p:nvPr/>
        </p:nvSpPr>
        <p:spPr>
          <a:xfrm>
            <a:off x="4373880" y="4206240"/>
            <a:ext cx="3413760" cy="2240280"/>
          </a:xfrm>
          <a:prstGeom prst="roundRect">
            <a:avLst>
              <a:gd name="adj" fmla="val 3265"/>
            </a:avLst>
          </a:prstGeom>
          <a:solidFill>
            <a:srgbClr val="FFFFFF"/>
          </a:solidFill>
          <a:ln w="15240">
            <a:solidFill>
              <a:srgbClr val="E7E1DA"/>
            </a:solidFill>
            <a:prstDash val="solid"/>
          </a:ln>
        </p:spPr>
      </p:sp>
      <p:sp>
        <p:nvSpPr>
          <p:cNvPr id="21" name="Shape 19"/>
          <p:cNvSpPr/>
          <p:nvPr/>
        </p:nvSpPr>
        <p:spPr>
          <a:xfrm>
            <a:off x="4602480" y="4434840"/>
            <a:ext cx="54864" cy="292608"/>
          </a:xfrm>
          <a:prstGeom prst="rect">
            <a:avLst/>
          </a:prstGeom>
          <a:solidFill>
            <a:srgbClr val="C1613F"/>
          </a:solidFill>
          <a:ln/>
        </p:spPr>
      </p:sp>
      <p:sp>
        <p:nvSpPr>
          <p:cNvPr id="22" name="Text 20"/>
          <p:cNvSpPr/>
          <p:nvPr/>
        </p:nvSpPr>
        <p:spPr>
          <a:xfrm>
            <a:off x="4785360" y="4389120"/>
            <a:ext cx="2819400" cy="384048"/>
          </a:xfrm>
          <a:prstGeom prst="rect">
            <a:avLst/>
          </a:prstGeom>
          <a:noFill/>
          <a:ln/>
        </p:spPr>
        <p:txBody>
          <a:bodyPr wrap="square" rtlCol="0" anchor="ctr"/>
          <a:lstStyle/>
          <a:p>
            <a:pPr marL="0" indent="0">
              <a:buNone/>
            </a:pPr>
            <a:r>
              <a:rPr lang="en-US" sz="1800" b="1" dirty="0">
                <a:solidFill>
                  <a:srgbClr val="3B322B"/>
                </a:solidFill>
                <a:latin typeface="Yu Gothic" pitchFamily="34" charset="0"/>
                <a:ea typeface="Yu Gothic" pitchFamily="34" charset="-122"/>
                <a:cs typeface="Yu Gothic" pitchFamily="34" charset="-120"/>
              </a:rPr>
              <a:t>スキル</a:t>
            </a:r>
            <a:endParaRPr lang="en-US" sz="1800" dirty="0"/>
          </a:p>
        </p:txBody>
      </p:sp>
      <p:sp>
        <p:nvSpPr>
          <p:cNvPr id="23" name="Text 21"/>
          <p:cNvSpPr/>
          <p:nvPr/>
        </p:nvSpPr>
        <p:spPr>
          <a:xfrm>
            <a:off x="4602480" y="4864608"/>
            <a:ext cx="2956560" cy="1371600"/>
          </a:xfrm>
          <a:prstGeom prst="rect">
            <a:avLst/>
          </a:prstGeom>
          <a:noFill/>
          <a:ln/>
        </p:spPr>
        <p:txBody>
          <a:bodyPr wrap="square" rtlCol="0" anchor="t"/>
          <a:lstStyle/>
          <a:p>
            <a:pPr marL="0" indent="0">
              <a:buNone/>
            </a:pPr>
            <a:r>
              <a:rPr lang="en-US" sz="1600" dirty="0">
                <a:latin typeface="Yu Gothic" pitchFamily="34" charset="0"/>
                <a:ea typeface="Yu Gothic" pitchFamily="34" charset="-122"/>
                <a:cs typeface="Yu Gothic" pitchFamily="34" charset="-120"/>
              </a:rPr>
              <a:t>定型的な作業手順をまとめ、繰り返し呼び出せるようにしたもの</a:t>
            </a:r>
            <a:endParaRPr lang="en-US" sz="1600" dirty="0"/>
          </a:p>
        </p:txBody>
      </p:sp>
      <p:sp>
        <p:nvSpPr>
          <p:cNvPr id="24" name="Shape 22"/>
          <p:cNvSpPr/>
          <p:nvPr/>
        </p:nvSpPr>
        <p:spPr>
          <a:xfrm>
            <a:off x="8107680" y="4206240"/>
            <a:ext cx="3413760" cy="2240280"/>
          </a:xfrm>
          <a:prstGeom prst="roundRect">
            <a:avLst>
              <a:gd name="adj" fmla="val 3265"/>
            </a:avLst>
          </a:prstGeom>
          <a:solidFill>
            <a:srgbClr val="FFFFFF"/>
          </a:solidFill>
          <a:ln w="15240">
            <a:solidFill>
              <a:srgbClr val="E7E1DA"/>
            </a:solidFill>
            <a:prstDash val="solid"/>
          </a:ln>
        </p:spPr>
      </p:sp>
      <p:sp>
        <p:nvSpPr>
          <p:cNvPr id="25" name="Shape 23"/>
          <p:cNvSpPr/>
          <p:nvPr/>
        </p:nvSpPr>
        <p:spPr>
          <a:xfrm>
            <a:off x="8336280" y="4434840"/>
            <a:ext cx="54864" cy="292608"/>
          </a:xfrm>
          <a:prstGeom prst="rect">
            <a:avLst/>
          </a:prstGeom>
          <a:solidFill>
            <a:srgbClr val="C1613F"/>
          </a:solidFill>
          <a:ln/>
        </p:spPr>
      </p:sp>
      <p:sp>
        <p:nvSpPr>
          <p:cNvPr id="26" name="Text 24"/>
          <p:cNvSpPr/>
          <p:nvPr/>
        </p:nvSpPr>
        <p:spPr>
          <a:xfrm>
            <a:off x="8519160" y="4389120"/>
            <a:ext cx="2819400" cy="384048"/>
          </a:xfrm>
          <a:prstGeom prst="rect">
            <a:avLst/>
          </a:prstGeom>
          <a:noFill/>
          <a:ln/>
        </p:spPr>
        <p:txBody>
          <a:bodyPr wrap="square" rtlCol="0" anchor="ctr"/>
          <a:lstStyle/>
          <a:p>
            <a:pPr marL="0" indent="0">
              <a:buNone/>
            </a:pPr>
            <a:r>
              <a:rPr lang="en-US" sz="1800" b="1" dirty="0">
                <a:solidFill>
                  <a:srgbClr val="3B322B"/>
                </a:solidFill>
                <a:latin typeface="Yu Gothic" pitchFamily="34" charset="0"/>
                <a:ea typeface="Yu Gothic" pitchFamily="34" charset="-122"/>
                <a:cs typeface="Yu Gothic" pitchFamily="34" charset="-120"/>
              </a:rPr>
              <a:t>サブエージェント</a:t>
            </a:r>
            <a:endParaRPr lang="en-US" sz="1800" dirty="0"/>
          </a:p>
        </p:txBody>
      </p:sp>
      <p:sp>
        <p:nvSpPr>
          <p:cNvPr id="27" name="Text 25"/>
          <p:cNvSpPr/>
          <p:nvPr/>
        </p:nvSpPr>
        <p:spPr>
          <a:xfrm>
            <a:off x="8336280" y="4864608"/>
            <a:ext cx="2956560" cy="1371600"/>
          </a:xfrm>
          <a:prstGeom prst="rect">
            <a:avLst/>
          </a:prstGeom>
          <a:noFill/>
          <a:ln/>
        </p:spPr>
        <p:txBody>
          <a:bodyPr wrap="square" rtlCol="0" anchor="t"/>
          <a:lstStyle/>
          <a:p>
            <a:pPr marL="0" indent="0">
              <a:buNone/>
            </a:pPr>
            <a:r>
              <a:rPr lang="en-US" sz="1600" dirty="0" err="1">
                <a:latin typeface="Yu Gothic" pitchFamily="34" charset="0"/>
                <a:ea typeface="Yu Gothic" pitchFamily="34" charset="-122"/>
                <a:cs typeface="Yu Gothic" pitchFamily="34" charset="-120"/>
              </a:rPr>
              <a:t>メインの会話から呼び出され、独立して特定の作業を実行するAIエージェント</a:t>
            </a:r>
            <a:endParaRPr lang="en-US" sz="1600" dirty="0"/>
          </a:p>
        </p:txBody>
      </p:sp>
      <p:sp>
        <p:nvSpPr>
          <p:cNvPr id="30" name="Text 0">
            <a:extLst>
              <a:ext uri="{FF2B5EF4-FFF2-40B4-BE49-F238E27FC236}">
                <a16:creationId xmlns:a16="http://schemas.microsoft.com/office/drawing/2014/main" id="{7D274965-4FBD-544A-9A32-BC95E79681EF}"/>
              </a:ext>
            </a:extLst>
          </p:cNvPr>
          <p:cNvSpPr/>
          <p:nvPr/>
        </p:nvSpPr>
        <p:spPr>
          <a:xfrm>
            <a:off x="640080" y="502920"/>
            <a:ext cx="7315200" cy="731520"/>
          </a:xfrm>
          <a:prstGeom prst="rect">
            <a:avLst/>
          </a:prstGeom>
          <a:noFill/>
          <a:ln/>
        </p:spPr>
        <p:txBody>
          <a:bodyPr wrap="square" rtlCol="0" anchor="ctr"/>
          <a:lstStyle/>
          <a:p>
            <a:pPr marL="0" indent="0">
              <a:buNone/>
            </a:pPr>
            <a:r>
              <a:rPr lang="en-US" sz="3200" b="1" dirty="0" err="1">
                <a:solidFill>
                  <a:srgbClr val="3B322B"/>
                </a:solidFill>
                <a:latin typeface="Yu Gothic" pitchFamily="34" charset="0"/>
                <a:ea typeface="Yu Gothic" pitchFamily="34" charset="-122"/>
              </a:rPr>
              <a:t>用語の確認</a:t>
            </a:r>
            <a:endParaRPr lang="en-US" sz="3200" dirty="0"/>
          </a:p>
        </p:txBody>
      </p:sp>
      <p:sp>
        <p:nvSpPr>
          <p:cNvPr id="31" name="Rectangle 3">
            <a:extLst>
              <a:ext uri="{FF2B5EF4-FFF2-40B4-BE49-F238E27FC236}">
                <a16:creationId xmlns:a16="http://schemas.microsoft.com/office/drawing/2014/main" id="{C86A4A49-C887-3C25-4F11-969BA6FE2EB5}"/>
              </a:ext>
            </a:extLst>
          </p:cNvPr>
          <p:cNvSpPr/>
          <p:nvPr/>
        </p:nvSpPr>
        <p:spPr>
          <a:xfrm>
            <a:off x="676656" y="1225296"/>
            <a:ext cx="1097280" cy="4445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5800" y="822960"/>
            <a:ext cx="3657600" cy="2377440"/>
          </a:xfrm>
          <a:prstGeom prst="rect">
            <a:avLst/>
          </a:prstGeom>
          <a:noFill/>
          <a:ln/>
        </p:spPr>
        <p:txBody>
          <a:bodyPr wrap="square" rtlCol="0" anchor="ctr"/>
          <a:lstStyle/>
          <a:p>
            <a:pPr marL="0" indent="0">
              <a:buNone/>
            </a:pPr>
            <a:r>
              <a:rPr lang="en-US" sz="13000" b="1" dirty="0">
                <a:solidFill>
                  <a:srgbClr val="C1613F"/>
                </a:solidFill>
                <a:latin typeface="Yu Gothic" pitchFamily="34" charset="0"/>
                <a:ea typeface="Yu Gothic" pitchFamily="34" charset="-122"/>
                <a:cs typeface="Yu Gothic" pitchFamily="34" charset="-120"/>
              </a:rPr>
              <a:t>01</a:t>
            </a:r>
            <a:endParaRPr lang="en-US" sz="13000" dirty="0"/>
          </a:p>
        </p:txBody>
      </p:sp>
      <p:sp>
        <p:nvSpPr>
          <p:cNvPr id="3" name="Text 1"/>
          <p:cNvSpPr/>
          <p:nvPr/>
        </p:nvSpPr>
        <p:spPr>
          <a:xfrm>
            <a:off x="777240" y="3246120"/>
            <a:ext cx="9875520" cy="914400"/>
          </a:xfrm>
          <a:prstGeom prst="rect">
            <a:avLst/>
          </a:prstGeom>
          <a:noFill/>
          <a:ln/>
        </p:spPr>
        <p:txBody>
          <a:bodyPr wrap="square" rtlCol="0" anchor="ctr"/>
          <a:lstStyle/>
          <a:p>
            <a:pPr marL="0" indent="0">
              <a:buNone/>
            </a:pPr>
            <a:r>
              <a:rPr lang="en-US" sz="3400" b="1" dirty="0">
                <a:solidFill>
                  <a:srgbClr val="3B322B"/>
                </a:solidFill>
                <a:latin typeface="Yu Gothic" pitchFamily="34" charset="0"/>
                <a:ea typeface="Yu Gothic" pitchFamily="34" charset="-122"/>
                <a:cs typeface="Yu Gothic" pitchFamily="34" charset="-120"/>
              </a:rPr>
              <a:t>コンテキストをどう渡し、維持するか</a:t>
            </a:r>
            <a:endParaRPr lang="en-US" sz="3400" dirty="0"/>
          </a:p>
        </p:txBody>
      </p:sp>
      <p:sp>
        <p:nvSpPr>
          <p:cNvPr id="4" name="Text 2"/>
          <p:cNvSpPr/>
          <p:nvPr/>
        </p:nvSpPr>
        <p:spPr>
          <a:xfrm>
            <a:off x="822960" y="4096512"/>
            <a:ext cx="9601200" cy="1097280"/>
          </a:xfrm>
          <a:prstGeom prst="rect">
            <a:avLst/>
          </a:prstGeom>
          <a:noFill/>
          <a:ln/>
        </p:spPr>
        <p:txBody>
          <a:bodyPr wrap="square" rtlCol="0" anchor="t"/>
          <a:lstStyle/>
          <a:p>
            <a:pPr marL="0" indent="0">
              <a:buNone/>
            </a:pPr>
            <a:r>
              <a:rPr lang="en-US" sz="1700" dirty="0">
                <a:solidFill>
                  <a:srgbClr val="8C8074"/>
                </a:solidFill>
                <a:latin typeface="Yu Gothic" pitchFamily="34" charset="0"/>
                <a:ea typeface="Yu Gothic" pitchFamily="34" charset="-122"/>
                <a:cs typeface="Yu Gothic" pitchFamily="34" charset="-120"/>
              </a:rPr>
              <a:t>毎回同じようなプロンプトを入力している／コンテキストが肥大化すると意図が薄れる／会話はセッションが終われば消えてしまう。</a:t>
            </a:r>
            <a:endParaRPr lang="en-US" sz="1700" dirty="0"/>
          </a:p>
          <a:p>
            <a:pPr marL="0" indent="0">
              <a:buNone/>
            </a:pPr>
            <a:r>
              <a:rPr lang="en-US" sz="1700" dirty="0">
                <a:solidFill>
                  <a:srgbClr val="8C8074"/>
                </a:solidFill>
                <a:latin typeface="Yu Gothic" pitchFamily="34" charset="0"/>
                <a:ea typeface="Yu Gothic" pitchFamily="34" charset="-122"/>
                <a:cs typeface="Yu Gothic" pitchFamily="34" charset="-120"/>
              </a:rPr>
              <a:t>ここでは「情報をどう渡し、どう持たせ続けるか」という工夫を3つ紹介します。</a:t>
            </a:r>
            <a:endParaRPr lang="en-US" sz="1700" dirty="0"/>
          </a:p>
        </p:txBody>
      </p:sp>
      <p:sp>
        <p:nvSpPr>
          <p:cNvPr id="5" name="Shape 3"/>
          <p:cNvSpPr/>
          <p:nvPr/>
        </p:nvSpPr>
        <p:spPr>
          <a:xfrm>
            <a:off x="822960" y="5394960"/>
            <a:ext cx="2743200" cy="530352"/>
          </a:xfrm>
          <a:prstGeom prst="roundRect">
            <a:avLst>
              <a:gd name="adj" fmla="val 50000"/>
            </a:avLst>
          </a:prstGeom>
          <a:solidFill>
            <a:srgbClr val="FBEEE7"/>
          </a:solidFill>
          <a:ln/>
        </p:spPr>
      </p:sp>
      <p:sp>
        <p:nvSpPr>
          <p:cNvPr id="6" name="Text 4"/>
          <p:cNvSpPr/>
          <p:nvPr/>
        </p:nvSpPr>
        <p:spPr>
          <a:xfrm>
            <a:off x="822960" y="5394960"/>
            <a:ext cx="2743200" cy="530352"/>
          </a:xfrm>
          <a:prstGeom prst="rect">
            <a:avLst/>
          </a:prstGeom>
          <a:noFill/>
          <a:ln/>
        </p:spPr>
        <p:txBody>
          <a:bodyPr wrap="square" rtlCol="0" anchor="ctr"/>
          <a:lstStyle/>
          <a:p>
            <a:pPr marL="0" indent="0" algn="ctr">
              <a:buNone/>
            </a:pPr>
            <a:r>
              <a:rPr lang="en-US" sz="1450" b="1" dirty="0">
                <a:solidFill>
                  <a:srgbClr val="C1613F"/>
                </a:solidFill>
                <a:latin typeface="Yu Gothic" pitchFamily="34" charset="0"/>
                <a:ea typeface="Yu Gothic" pitchFamily="34" charset="-122"/>
                <a:cs typeface="Yu Gothic" pitchFamily="34" charset="-120"/>
              </a:rPr>
              <a:t>工夫 ①〜③</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274320"/>
            <a:ext cx="3533340" cy="307777"/>
          </a:xfrm>
          <a:prstGeom prst="rect">
            <a:avLst/>
          </a:prstGeom>
          <a:noFill/>
        </p:spPr>
        <p:txBody>
          <a:bodyPr wrap="none">
            <a:spAutoFit/>
          </a:bodyPr>
          <a:lstStyle/>
          <a:p>
            <a:r>
              <a:rPr lang="en-US" sz="1400" dirty="0">
                <a:solidFill>
                  <a:schemeClr val="bg1">
                    <a:lumMod val="65000"/>
                  </a:schemeClr>
                </a:solidFill>
                <a:latin typeface="Yu Gothic" panose="020B0400000000000000" pitchFamily="34" charset="-128"/>
                <a:ea typeface="Yu Gothic" panose="020B0400000000000000" pitchFamily="34" charset="-128"/>
                <a:cs typeface="Meiryo"/>
              </a:rPr>
              <a:t>01</a:t>
            </a:r>
            <a:r>
              <a:rPr sz="1400" dirty="0">
                <a:solidFill>
                  <a:schemeClr val="bg1">
                    <a:lumMod val="65000"/>
                  </a:schemeClr>
                </a:solidFill>
                <a:latin typeface="Yu Gothic" panose="020B0400000000000000" pitchFamily="34" charset="-128"/>
                <a:ea typeface="Yu Gothic" panose="020B0400000000000000" pitchFamily="34" charset="-128"/>
                <a:cs typeface="Meiryo"/>
              </a:rPr>
              <a:t>. </a:t>
            </a:r>
            <a:r>
              <a:rPr sz="1400" dirty="0" err="1">
                <a:solidFill>
                  <a:schemeClr val="bg1">
                    <a:lumMod val="65000"/>
                  </a:schemeClr>
                </a:solidFill>
                <a:latin typeface="Yu Gothic" panose="020B0400000000000000" pitchFamily="34" charset="-128"/>
                <a:ea typeface="Yu Gothic" panose="020B0400000000000000" pitchFamily="34" charset="-128"/>
                <a:cs typeface="Meiryo"/>
              </a:rPr>
              <a:t>コンテキストをどう渡し、維持するか</a:t>
            </a:r>
            <a:endParaRPr sz="1400" dirty="0">
              <a:solidFill>
                <a:schemeClr val="bg1">
                  <a:lumMod val="65000"/>
                </a:schemeClr>
              </a:solidFill>
              <a:latin typeface="Yu Gothic" panose="020B0400000000000000" pitchFamily="34" charset="-128"/>
              <a:ea typeface="Yu Gothic" panose="020B0400000000000000" pitchFamily="34" charset="-128"/>
              <a:cs typeface="Meiryo"/>
            </a:endParaRPr>
          </a:p>
        </p:txBody>
      </p:sp>
      <p:sp>
        <p:nvSpPr>
          <p:cNvPr id="3" name="TextBox 2"/>
          <p:cNvSpPr txBox="1"/>
          <p:nvPr/>
        </p:nvSpPr>
        <p:spPr>
          <a:xfrm>
            <a:off x="640080" y="530352"/>
            <a:ext cx="11064240" cy="584775"/>
          </a:xfrm>
          <a:prstGeom prst="rect">
            <a:avLst/>
          </a:prstGeom>
          <a:noFill/>
        </p:spPr>
        <p:txBody>
          <a:bodyPr wrap="square">
            <a:spAutoFit/>
          </a:bodyPr>
          <a:lstStyle/>
          <a:p>
            <a:r>
              <a:rPr sz="3200" b="1" dirty="0">
                <a:latin typeface="Yu Gothic" panose="020B0400000000000000" pitchFamily="34" charset="-128"/>
                <a:ea typeface="Yu Gothic" panose="020B0400000000000000" pitchFamily="34" charset="-128"/>
                <a:cs typeface="Meiryo"/>
              </a:rPr>
              <a:t>① </a:t>
            </a:r>
            <a:r>
              <a:rPr sz="3200" b="1" dirty="0" err="1">
                <a:latin typeface="Yu Gothic" panose="020B0400000000000000" pitchFamily="34" charset="-128"/>
                <a:ea typeface="Yu Gothic" panose="020B0400000000000000" pitchFamily="34" charset="-128"/>
                <a:cs typeface="Meiryo"/>
              </a:rPr>
              <a:t>作業の単位でセッションを分ける</a:t>
            </a:r>
            <a:endParaRPr sz="3200" b="1" dirty="0">
              <a:latin typeface="Yu Gothic" panose="020B0400000000000000" pitchFamily="34" charset="-128"/>
              <a:ea typeface="Yu Gothic" panose="020B0400000000000000" pitchFamily="34" charset="-128"/>
              <a:cs typeface="Meiryo"/>
            </a:endParaRPr>
          </a:p>
        </p:txBody>
      </p:sp>
      <p:sp>
        <p:nvSpPr>
          <p:cNvPr id="4" name="Rectangle 3"/>
          <p:cNvSpPr/>
          <p:nvPr/>
        </p:nvSpPr>
        <p:spPr>
          <a:xfrm>
            <a:off x="676656" y="1225296"/>
            <a:ext cx="1097280" cy="4445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76656" y="1469453"/>
            <a:ext cx="10881360" cy="4693977"/>
          </a:xfrm>
          <a:prstGeom prst="rect">
            <a:avLst/>
          </a:prstGeom>
          <a:noFill/>
        </p:spPr>
        <p:txBody>
          <a:bodyPr wrap="square">
            <a:spAutoFit/>
          </a:bodyPr>
          <a:lstStyle/>
          <a:p>
            <a:pPr>
              <a:lnSpc>
                <a:spcPct val="110000"/>
              </a:lnSpc>
              <a:spcBef>
                <a:spcPts val="0"/>
              </a:spcBef>
              <a:spcAft>
                <a:spcPts val="300"/>
              </a:spcAft>
            </a:pPr>
            <a:r>
              <a:rPr lang="ja-JP" altLang="en-US" sz="2000" b="1">
                <a:solidFill>
                  <a:srgbClr val="FBECE8"/>
                </a:solidFill>
                <a:highlight>
                  <a:srgbClr val="FAECE7"/>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FAECE7"/>
                </a:highlight>
                <a:latin typeface="Yu Gothic" panose="020B0400000000000000" pitchFamily="34" charset="-128"/>
                <a:ea typeface="Yu Gothic" panose="020B0400000000000000" pitchFamily="34" charset="-128"/>
                <a:cs typeface="Meiryo"/>
              </a:rPr>
              <a:t>課題</a:t>
            </a:r>
            <a:r>
              <a:rPr lang="en-US" altLang="ja-JP" sz="1000" b="1" dirty="0">
                <a:solidFill>
                  <a:srgbClr val="FBECE8"/>
                </a:solidFill>
                <a:highlight>
                  <a:srgbClr val="FAECE7"/>
                </a:highlight>
                <a:latin typeface="Yu Gothic" panose="020B0400000000000000" pitchFamily="34" charset="-128"/>
                <a:ea typeface="Yu Gothic" panose="020B0400000000000000" pitchFamily="34" charset="-128"/>
                <a:cs typeface="Meiryo"/>
              </a:rPr>
              <a:t>a</a:t>
            </a:r>
            <a:r>
              <a:rPr lang="en-US" altLang="ja-JP" sz="2000" b="1" dirty="0">
                <a:solidFill>
                  <a:schemeClr val="tx1">
                    <a:lumMod val="75000"/>
                    <a:lumOff val="25000"/>
                  </a:schemeClr>
                </a:solidFill>
                <a:highlight>
                  <a:srgbClr val="FAECE7"/>
                </a:highlight>
                <a:latin typeface="Yu Gothic" panose="020B0400000000000000" pitchFamily="34" charset="-128"/>
                <a:ea typeface="Yu Gothic" panose="020B0400000000000000" pitchFamily="34" charset="-128"/>
                <a:cs typeface="Meiryo"/>
              </a:rPr>
              <a:t> </a:t>
            </a:r>
            <a:r>
              <a:rPr lang="ja-JP" altLang="en-US" sz="2000" b="1">
                <a:solidFill>
                  <a:srgbClr val="712B13"/>
                </a:solidFill>
                <a:highlight>
                  <a:srgbClr val="FAECE7"/>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en-US" altLang="ja-JP" dirty="0">
                <a:solidFill>
                  <a:srgbClr val="404040"/>
                </a:solidFill>
                <a:latin typeface="Yu Gothic"/>
                <a:ea typeface="Yu Gothic"/>
                <a:cs typeface="Yu Gothic"/>
              </a:rPr>
              <a:t>1</a:t>
            </a:r>
            <a:r>
              <a:rPr lang="ja-JP" altLang="en-US">
                <a:solidFill>
                  <a:srgbClr val="404040"/>
                </a:solidFill>
                <a:latin typeface="Yu Gothic"/>
                <a:ea typeface="Yu Gothic"/>
                <a:cs typeface="Yu Gothic"/>
              </a:rPr>
              <a:t>つのセッションで作業し続けると、コンテキストが圧迫し出力の質が下がっていく</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会話が長くなるほど、古い情報と新しい情報が混在し、指示の意図が薄れていく</a:t>
            </a:r>
          </a:p>
          <a:p>
            <a:pPr marL="274320" indent="0">
              <a:lnSpc>
                <a:spcPct val="113000"/>
              </a:lnSpc>
              <a:spcAft>
                <a:spcPts val="350"/>
              </a:spcAft>
            </a:pPr>
            <a:endParaRPr lang="ja-JP" altLang="en-US">
              <a:solidFill>
                <a:srgbClr val="404040"/>
              </a:solidFill>
              <a:latin typeface="Yu Gothic"/>
              <a:ea typeface="Yu Gothic"/>
              <a:cs typeface="Yu Gothic"/>
            </a:endParaRPr>
          </a:p>
          <a:p>
            <a:pPr>
              <a:lnSpc>
                <a:spcPct val="110000"/>
              </a:lnSpc>
              <a:spcBef>
                <a:spcPts val="0"/>
              </a:spcBef>
              <a:spcAft>
                <a:spcPts val="300"/>
              </a:spcAft>
            </a:pPr>
            <a:r>
              <a:rPr lang="ja-JP" altLang="en-US" sz="2000" b="1">
                <a:solidFill>
                  <a:srgbClr val="0C447C"/>
                </a:solidFill>
                <a:highlight>
                  <a:srgbClr val="E6F1FB"/>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E6F1FB"/>
                </a:highlight>
                <a:latin typeface="Yu Gothic" panose="020B0400000000000000" pitchFamily="34" charset="-128"/>
                <a:ea typeface="Yu Gothic" panose="020B0400000000000000" pitchFamily="34" charset="-128"/>
                <a:cs typeface="Meiryo"/>
              </a:rPr>
              <a:t>活用方法</a:t>
            </a:r>
            <a:r>
              <a:rPr lang="en-US" altLang="ja-JP" sz="1000" b="1" dirty="0">
                <a:solidFill>
                  <a:srgbClr val="E7F2FC"/>
                </a:solidFill>
                <a:highlight>
                  <a:srgbClr val="E6F1FB"/>
                </a:highlight>
                <a:latin typeface="Yu Gothic" panose="020B0400000000000000" pitchFamily="34" charset="-128"/>
                <a:ea typeface="Yu Gothic" panose="020B0400000000000000" pitchFamily="34" charset="-128"/>
                <a:cs typeface="Meiryo"/>
              </a:rPr>
              <a:t>a</a:t>
            </a:r>
            <a:r>
              <a:rPr lang="ja-JP" altLang="en-US" sz="2000" b="1">
                <a:solidFill>
                  <a:srgbClr val="0C447C"/>
                </a:solidFill>
                <a:highlight>
                  <a:srgbClr val="E6F1FB"/>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調査、設計、実装、レビューなど、作業の単位ごとにセッションを明確に分ける</a:t>
            </a:r>
          </a:p>
          <a:p>
            <a:pPr marL="274320" indent="0">
              <a:lnSpc>
                <a:spcPct val="113000"/>
              </a:lnSpc>
              <a:spcAft>
                <a:spcPts val="350"/>
              </a:spcAft>
            </a:pPr>
            <a:r>
              <a:rPr lang="ja-JP" altLang="en-US">
                <a:solidFill>
                  <a:srgbClr val="8C8C8C"/>
                </a:solidFill>
                <a:latin typeface="Yu Gothic"/>
                <a:ea typeface="Yu Gothic"/>
                <a:cs typeface="Yu Gothic"/>
              </a:rPr>
              <a:t>    </a:t>
            </a:r>
            <a:r>
              <a:rPr lang="en-US" altLang="ja-JP" dirty="0">
                <a:solidFill>
                  <a:srgbClr val="8C8C8C"/>
                </a:solidFill>
                <a:latin typeface="Yu Gothic"/>
                <a:ea typeface="Yu Gothic"/>
                <a:cs typeface="Yu Gothic"/>
              </a:rPr>
              <a:t>–</a:t>
            </a:r>
            <a:r>
              <a:rPr lang="ja-JP" altLang="en-US">
                <a:solidFill>
                  <a:srgbClr val="2E74B5"/>
                </a:solidFill>
                <a:latin typeface="Yu Gothic"/>
                <a:ea typeface="Yu Gothic"/>
                <a:cs typeface="Yu Gothic"/>
              </a:rPr>
              <a:t> </a:t>
            </a:r>
            <a:r>
              <a:rPr lang="en-US" altLang="ja-JP" dirty="0">
                <a:solidFill>
                  <a:srgbClr val="404040"/>
                </a:solidFill>
                <a:latin typeface="Yu Gothic"/>
                <a:ea typeface="Yu Gothic"/>
                <a:cs typeface="Yu Gothic"/>
              </a:rPr>
              <a:t>/</a:t>
            </a:r>
            <a:r>
              <a:rPr lang="en" altLang="ja-JP" dirty="0">
                <a:solidFill>
                  <a:srgbClr val="404040"/>
                </a:solidFill>
                <a:latin typeface="Yu Gothic"/>
                <a:ea typeface="Yu Gothic"/>
                <a:cs typeface="Yu Gothic"/>
              </a:rPr>
              <a:t>clear </a:t>
            </a:r>
            <a:r>
              <a:rPr lang="ja-JP" altLang="en-US">
                <a:solidFill>
                  <a:srgbClr val="404040"/>
                </a:solidFill>
                <a:latin typeface="Yu Gothic"/>
                <a:ea typeface="Yu Gothic"/>
                <a:cs typeface="Yu Gothic"/>
              </a:rPr>
              <a:t>コマンドを使う</a:t>
            </a:r>
          </a:p>
          <a:p>
            <a:pPr marL="274320" indent="0">
              <a:lnSpc>
                <a:spcPct val="113000"/>
              </a:lnSpc>
              <a:spcAft>
                <a:spcPts val="350"/>
              </a:spcAft>
            </a:pPr>
            <a:r>
              <a:rPr lang="ja-JP" altLang="en-US">
                <a:solidFill>
                  <a:srgbClr val="8C8C8C"/>
                </a:solidFill>
                <a:latin typeface="Yu Gothic"/>
                <a:ea typeface="Yu Gothic"/>
                <a:cs typeface="Yu Gothic"/>
              </a:rPr>
              <a:t>    </a:t>
            </a:r>
            <a:r>
              <a:rPr lang="en-US" altLang="ja-JP" dirty="0">
                <a:solidFill>
                  <a:srgbClr val="8C8C8C"/>
                </a:solidFill>
                <a:latin typeface="Yu Gothic"/>
                <a:ea typeface="Yu Gothic"/>
                <a:cs typeface="Yu Gothic"/>
              </a:rPr>
              <a:t>– </a:t>
            </a:r>
            <a:r>
              <a:rPr lang="ja-JP" altLang="en-US">
                <a:solidFill>
                  <a:srgbClr val="404040"/>
                </a:solidFill>
                <a:latin typeface="Yu Gothic"/>
                <a:ea typeface="Yu Gothic"/>
                <a:cs typeface="Yu Gothic"/>
              </a:rPr>
              <a:t>新しくセッションを開き直す</a:t>
            </a:r>
          </a:p>
          <a:p>
            <a:pPr>
              <a:lnSpc>
                <a:spcPct val="110000"/>
              </a:lnSpc>
              <a:spcBef>
                <a:spcPts val="0"/>
              </a:spcBef>
              <a:spcAft>
                <a:spcPts val="300"/>
              </a:spcAft>
            </a:pPr>
            <a:endParaRPr lang="ja-JP" altLang="en-US">
              <a:solidFill>
                <a:srgbClr val="595959"/>
              </a:solidFill>
              <a:latin typeface="Yu Gothic" panose="020B0400000000000000" pitchFamily="34" charset="-128"/>
              <a:ea typeface="Yu Gothic" panose="020B0400000000000000" pitchFamily="34" charset="-128"/>
              <a:cs typeface="Meiryo"/>
            </a:endParaRPr>
          </a:p>
          <a:p>
            <a:pPr>
              <a:lnSpc>
                <a:spcPct val="110000"/>
              </a:lnSpc>
              <a:spcBef>
                <a:spcPts val="0"/>
              </a:spcBef>
              <a:spcAft>
                <a:spcPts val="300"/>
              </a:spcAft>
            </a:pPr>
            <a:r>
              <a:rPr lang="ja-JP" altLang="en-US" sz="2000" b="1">
                <a:solidFill>
                  <a:srgbClr val="085041"/>
                </a:solidFill>
                <a:highlight>
                  <a:srgbClr val="E1F5EE"/>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E1F5EE"/>
                </a:highlight>
                <a:latin typeface="Yu Gothic" panose="020B0400000000000000" pitchFamily="34" charset="-128"/>
                <a:ea typeface="Yu Gothic" panose="020B0400000000000000" pitchFamily="34" charset="-128"/>
                <a:cs typeface="Meiryo"/>
              </a:rPr>
              <a:t>ポイント・注意点</a:t>
            </a:r>
            <a:r>
              <a:rPr lang="en-US" altLang="ja-JP" sz="1000" b="1" dirty="0">
                <a:solidFill>
                  <a:srgbClr val="E2F5EE"/>
                </a:solidFill>
                <a:highlight>
                  <a:srgbClr val="E1F5EE"/>
                </a:highlight>
                <a:latin typeface="Yu Gothic" panose="020B0400000000000000" pitchFamily="34" charset="-128"/>
                <a:ea typeface="Yu Gothic" panose="020B0400000000000000" pitchFamily="34" charset="-128"/>
                <a:cs typeface="Meiryo"/>
              </a:rPr>
              <a:t>a</a:t>
            </a:r>
            <a:r>
              <a:rPr lang="ja-JP" altLang="en-US" sz="2000" b="1">
                <a:solidFill>
                  <a:srgbClr val="085041"/>
                </a:solidFill>
                <a:highlight>
                  <a:srgbClr val="E1F5EE"/>
                </a:highlight>
                <a:latin typeface="Yu Gothic" panose="020B0400000000000000" pitchFamily="34" charset="-128"/>
                <a:ea typeface="Yu Gothic" panose="020B0400000000000000" pitchFamily="34" charset="-128"/>
                <a:cs typeface="Meiryo"/>
              </a:rPr>
              <a:t> </a:t>
            </a:r>
          </a:p>
          <a:p>
            <a:pPr>
              <a:lnSpc>
                <a:spcPct val="110000"/>
              </a:lnSpc>
              <a:spcAft>
                <a:spcPts val="300"/>
              </a:spcAft>
            </a:pPr>
            <a:r>
              <a:rPr lang="ja-JP" altLang="en-US">
                <a:solidFill>
                  <a:srgbClr val="2E74B5"/>
                </a:solidFill>
                <a:latin typeface="Yu Gothic"/>
                <a:ea typeface="Yu Gothic"/>
                <a:cs typeface="Yu Gothic"/>
              </a:rPr>
              <a:t>   </a:t>
            </a: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a:t>
            </a:r>
            <a:r>
              <a:rPr lang="en-US" altLang="ja-JP" dirty="0">
                <a:solidFill>
                  <a:srgbClr val="404040"/>
                </a:solidFill>
                <a:latin typeface="Yu Gothic"/>
                <a:ea typeface="Yu Gothic"/>
                <a:cs typeface="Yu Gothic"/>
              </a:rPr>
              <a:t>1</a:t>
            </a:r>
            <a:r>
              <a:rPr lang="ja-JP" altLang="en-US">
                <a:solidFill>
                  <a:srgbClr val="404040"/>
                </a:solidFill>
                <a:latin typeface="Yu Gothic"/>
                <a:ea typeface="Yu Gothic"/>
                <a:cs typeface="Yu Gothic"/>
              </a:rPr>
              <a:t>セッション＝</a:t>
            </a:r>
            <a:r>
              <a:rPr lang="en-US" altLang="ja-JP" dirty="0">
                <a:solidFill>
                  <a:srgbClr val="404040"/>
                </a:solidFill>
                <a:latin typeface="Yu Gothic"/>
                <a:ea typeface="Yu Gothic"/>
                <a:cs typeface="Yu Gothic"/>
              </a:rPr>
              <a:t>1</a:t>
            </a:r>
            <a:r>
              <a:rPr lang="ja-JP" altLang="en-US">
                <a:solidFill>
                  <a:srgbClr val="404040"/>
                </a:solidFill>
                <a:latin typeface="Yu Gothic"/>
                <a:ea typeface="Yu Gothic"/>
                <a:cs typeface="Yu Gothic"/>
              </a:rPr>
              <a:t>目的」を意識するだけで出力の安定感が大きく変わる</a:t>
            </a:r>
          </a:p>
          <a:p>
            <a:pPr>
              <a:lnSpc>
                <a:spcPct val="110000"/>
              </a:lnSpc>
              <a:spcAft>
                <a:spcPts val="300"/>
              </a:spcAft>
            </a:pPr>
            <a:r>
              <a:rPr lang="ja-JP" altLang="en-US">
                <a:solidFill>
                  <a:srgbClr val="404040"/>
                </a:solidFill>
                <a:latin typeface="Yu Gothic"/>
                <a:ea typeface="Yu Gothic"/>
                <a:cs typeface="Yu Gothic"/>
              </a:rPr>
              <a:t>   </a:t>
            </a: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en-US" altLang="ja-JP" dirty="0">
                <a:solidFill>
                  <a:srgbClr val="404040"/>
                </a:solidFill>
                <a:latin typeface="Yu Gothic"/>
                <a:ea typeface="Yu Gothic"/>
                <a:cs typeface="Yu Gothic"/>
              </a:rPr>
              <a:t>/</a:t>
            </a:r>
            <a:r>
              <a:rPr lang="en" altLang="ja-JP" dirty="0">
                <a:solidFill>
                  <a:srgbClr val="404040"/>
                </a:solidFill>
                <a:latin typeface="Yu Gothic"/>
                <a:ea typeface="Yu Gothic"/>
                <a:cs typeface="Yu Gothic"/>
              </a:rPr>
              <a:t>compact </a:t>
            </a:r>
            <a:r>
              <a:rPr lang="ja-JP" altLang="en-US">
                <a:solidFill>
                  <a:srgbClr val="404040"/>
                </a:solidFill>
                <a:latin typeface="Yu Gothic"/>
                <a:ea typeface="Yu Gothic"/>
                <a:cs typeface="Yu Gothic"/>
              </a:rPr>
              <a:t>コマンドは要約の精度に依存し重要な文脈が欠落するリスクがあるため</a:t>
            </a:r>
            <a:r>
              <a:rPr lang="en-US" altLang="ja-JP" dirty="0">
                <a:solidFill>
                  <a:srgbClr val="404040"/>
                </a:solidFill>
                <a:latin typeface="Yu Gothic"/>
                <a:ea typeface="Yu Gothic"/>
                <a:cs typeface="Yu Gothic"/>
              </a:rPr>
              <a:t>/</a:t>
            </a:r>
            <a:r>
              <a:rPr lang="en" altLang="ja-JP" dirty="0">
                <a:solidFill>
                  <a:srgbClr val="404040"/>
                </a:solidFill>
                <a:latin typeface="Yu Gothic"/>
                <a:ea typeface="Yu Gothic"/>
                <a:cs typeface="Yu Gothic"/>
              </a:rPr>
              <a:t>clear </a:t>
            </a:r>
            <a:r>
              <a:rPr lang="ja-JP" altLang="en-US">
                <a:solidFill>
                  <a:srgbClr val="404040"/>
                </a:solidFill>
                <a:latin typeface="Yu Gothic"/>
                <a:ea typeface="Yu Gothic"/>
                <a:cs typeface="Yu Gothic"/>
              </a:rPr>
              <a:t>や別セッション立ち上げの方がおすすめ</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80" y="530352"/>
            <a:ext cx="11064240" cy="584775"/>
          </a:xfrm>
          <a:prstGeom prst="rect">
            <a:avLst/>
          </a:prstGeom>
          <a:noFill/>
        </p:spPr>
        <p:txBody>
          <a:bodyPr wrap="square">
            <a:spAutoFit/>
          </a:bodyPr>
          <a:lstStyle/>
          <a:p>
            <a:r>
              <a:rPr sz="3200" b="1" dirty="0">
                <a:latin typeface="Yu Gothic" panose="020B0400000000000000" pitchFamily="34" charset="-128"/>
                <a:ea typeface="Yu Gothic" panose="020B0400000000000000" pitchFamily="34" charset="-128"/>
                <a:cs typeface="Meiryo"/>
              </a:rPr>
              <a:t>② </a:t>
            </a:r>
            <a:r>
              <a:rPr sz="3200" b="1" dirty="0" err="1">
                <a:latin typeface="Yu Gothic" panose="020B0400000000000000" pitchFamily="34" charset="-128"/>
                <a:ea typeface="Yu Gothic" panose="020B0400000000000000" pitchFamily="34" charset="-128"/>
                <a:cs typeface="Meiryo"/>
              </a:rPr>
              <a:t>出力をMarkdownファイルにさせる</a:t>
            </a:r>
            <a:endParaRPr sz="3200" b="1" dirty="0">
              <a:latin typeface="Yu Gothic" panose="020B0400000000000000" pitchFamily="34" charset="-128"/>
              <a:ea typeface="Yu Gothic" panose="020B0400000000000000" pitchFamily="34" charset="-128"/>
              <a:cs typeface="Meiryo"/>
            </a:endParaRPr>
          </a:p>
        </p:txBody>
      </p:sp>
      <p:sp>
        <p:nvSpPr>
          <p:cNvPr id="4" name="Rectangle 3"/>
          <p:cNvSpPr/>
          <p:nvPr/>
        </p:nvSpPr>
        <p:spPr>
          <a:xfrm>
            <a:off x="676656" y="1225296"/>
            <a:ext cx="1097280" cy="4445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76656" y="1481328"/>
            <a:ext cx="10881360" cy="4386585"/>
          </a:xfrm>
          <a:prstGeom prst="rect">
            <a:avLst/>
          </a:prstGeom>
          <a:noFill/>
        </p:spPr>
        <p:txBody>
          <a:bodyPr wrap="square">
            <a:spAutoFit/>
          </a:bodyPr>
          <a:lstStyle/>
          <a:p>
            <a:pPr>
              <a:lnSpc>
                <a:spcPct val="110000"/>
              </a:lnSpc>
              <a:spcBef>
                <a:spcPts val="0"/>
              </a:spcBef>
              <a:spcAft>
                <a:spcPts val="300"/>
              </a:spcAft>
            </a:pPr>
            <a:r>
              <a:rPr lang="ja-JP" altLang="en-US" sz="2000" b="1">
                <a:solidFill>
                  <a:srgbClr val="712B13"/>
                </a:solidFill>
                <a:highlight>
                  <a:srgbClr val="FAECE7"/>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FAECE7"/>
                </a:highlight>
                <a:latin typeface="Yu Gothic" panose="020B0400000000000000" pitchFamily="34" charset="-128"/>
                <a:ea typeface="Yu Gothic" panose="020B0400000000000000" pitchFamily="34" charset="-128"/>
                <a:cs typeface="Meiryo"/>
              </a:rPr>
              <a:t>課題</a:t>
            </a:r>
            <a:r>
              <a:rPr lang="en-US" altLang="ja-JP" sz="1000" b="1" dirty="0">
                <a:solidFill>
                  <a:srgbClr val="FBECE8"/>
                </a:solidFill>
                <a:highlight>
                  <a:srgbClr val="FAECE7"/>
                </a:highlight>
                <a:latin typeface="Yu Gothic" panose="020B0400000000000000" pitchFamily="34" charset="-128"/>
                <a:ea typeface="Yu Gothic" panose="020B0400000000000000" pitchFamily="34" charset="-128"/>
                <a:cs typeface="Meiryo"/>
              </a:rPr>
              <a:t>a</a:t>
            </a:r>
            <a:endParaRPr lang="ja-JP" altLang="en-US" sz="2000" b="1">
              <a:solidFill>
                <a:srgbClr val="712B13"/>
              </a:solidFill>
              <a:highlight>
                <a:srgbClr val="FAECE7"/>
              </a:highlight>
              <a:latin typeface="Yu Gothic" panose="020B0400000000000000" pitchFamily="34" charset="-128"/>
              <a:ea typeface="Yu Gothic" panose="020B0400000000000000" pitchFamily="34" charset="-128"/>
              <a:cs typeface="Meiryo"/>
            </a:endParaRP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会話の中だけで出力させると、セッションが終わった瞬間にその内容が失われる</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長い出力ほど、後から見返す・引き継ぐことが難しい</a:t>
            </a:r>
          </a:p>
          <a:p>
            <a:pPr marL="274320" indent="0">
              <a:lnSpc>
                <a:spcPct val="113000"/>
              </a:lnSpc>
              <a:spcAft>
                <a:spcPts val="350"/>
              </a:spcAft>
            </a:pPr>
            <a:endParaRPr lang="ja-JP" altLang="en-US">
              <a:solidFill>
                <a:srgbClr val="404040"/>
              </a:solidFill>
              <a:latin typeface="Yu Gothic"/>
              <a:ea typeface="Yu Gothic"/>
              <a:cs typeface="Yu Gothic"/>
            </a:endParaRPr>
          </a:p>
          <a:p>
            <a:pPr>
              <a:lnSpc>
                <a:spcPct val="110000"/>
              </a:lnSpc>
              <a:spcBef>
                <a:spcPts val="0"/>
              </a:spcBef>
              <a:spcAft>
                <a:spcPts val="300"/>
              </a:spcAft>
            </a:pPr>
            <a:r>
              <a:rPr lang="ja-JP" altLang="en-US" sz="2000" b="1">
                <a:solidFill>
                  <a:srgbClr val="0C447C"/>
                </a:solidFill>
                <a:highlight>
                  <a:srgbClr val="E6F1FB"/>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E6F1FB"/>
                </a:highlight>
                <a:latin typeface="Yu Gothic" panose="020B0400000000000000" pitchFamily="34" charset="-128"/>
                <a:ea typeface="Yu Gothic" panose="020B0400000000000000" pitchFamily="34" charset="-128"/>
                <a:cs typeface="Meiryo"/>
              </a:rPr>
              <a:t>活用方法</a:t>
            </a:r>
            <a:r>
              <a:rPr lang="en-US" altLang="ja-JP" sz="1000" b="1" dirty="0">
                <a:solidFill>
                  <a:srgbClr val="E7F2FC"/>
                </a:solidFill>
                <a:highlight>
                  <a:srgbClr val="E6F1FB"/>
                </a:highlight>
                <a:latin typeface="Yu Gothic" panose="020B0400000000000000" pitchFamily="34" charset="-128"/>
                <a:ea typeface="Yu Gothic" panose="020B0400000000000000" pitchFamily="34" charset="-128"/>
                <a:cs typeface="Meiryo"/>
              </a:rPr>
              <a:t>a</a:t>
            </a:r>
            <a:r>
              <a:rPr lang="ja-JP" altLang="en-US" sz="2000" b="1">
                <a:solidFill>
                  <a:srgbClr val="0C447C"/>
                </a:solidFill>
                <a:highlight>
                  <a:srgbClr val="E6F1FB"/>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調査結果・設計方針・作業ログなどを、</a:t>
            </a:r>
            <a:r>
              <a:rPr lang="en" altLang="ja-JP" dirty="0">
                <a:solidFill>
                  <a:srgbClr val="404040"/>
                </a:solidFill>
                <a:latin typeface="Yu Gothic"/>
                <a:ea typeface="Yu Gothic"/>
                <a:cs typeface="Yu Gothic"/>
              </a:rPr>
              <a:t>Markdown</a:t>
            </a:r>
            <a:r>
              <a:rPr lang="ja-JP" altLang="en-US">
                <a:solidFill>
                  <a:srgbClr val="404040"/>
                </a:solidFill>
                <a:latin typeface="Yu Gothic"/>
                <a:ea typeface="Yu Gothic"/>
                <a:cs typeface="Yu Gothic"/>
              </a:rPr>
              <a:t>ファイルとして出力させる</a:t>
            </a:r>
          </a:p>
          <a:p>
            <a:pPr marL="274320" indent="0">
              <a:lnSpc>
                <a:spcPct val="113000"/>
              </a:lnSpc>
              <a:spcAft>
                <a:spcPts val="350"/>
              </a:spcAft>
            </a:pPr>
            <a:r>
              <a:rPr lang="en-US" altLang="ja-JP" dirty="0">
                <a:latin typeface="Yu Gothic"/>
                <a:ea typeface="Yu Gothic"/>
                <a:cs typeface="Yu Gothic"/>
              </a:rPr>
              <a:t>•</a:t>
            </a:r>
            <a:r>
              <a:rPr lang="ja-JP" altLang="en-US">
                <a:solidFill>
                  <a:srgbClr val="404040"/>
                </a:solidFill>
                <a:latin typeface="Yu Gothic"/>
                <a:ea typeface="Yu Gothic"/>
                <a:cs typeface="Yu Gothic"/>
              </a:rPr>
              <a:t>出力された</a:t>
            </a:r>
            <a:r>
              <a:rPr lang="en" altLang="ja-JP" dirty="0">
                <a:solidFill>
                  <a:srgbClr val="404040"/>
                </a:solidFill>
                <a:latin typeface="Yu Gothic"/>
                <a:ea typeface="Yu Gothic"/>
                <a:cs typeface="Yu Gothic"/>
              </a:rPr>
              <a:t>Markdown</a:t>
            </a:r>
            <a:r>
              <a:rPr lang="ja-JP" altLang="en-US">
                <a:solidFill>
                  <a:srgbClr val="404040"/>
                </a:solidFill>
                <a:latin typeface="Yu Gothic"/>
                <a:ea typeface="Yu Gothic"/>
                <a:cs typeface="Yu Gothic"/>
              </a:rPr>
              <a:t>ファイルを新しいセッションで読み込ませて作業を引き継ぐ</a:t>
            </a:r>
          </a:p>
          <a:p>
            <a:pPr marL="274320" indent="0">
              <a:lnSpc>
                <a:spcPct val="113000"/>
              </a:lnSpc>
              <a:spcAft>
                <a:spcPts val="350"/>
              </a:spcAft>
            </a:pPr>
            <a:endParaRPr lang="ja-JP" altLang="en-US">
              <a:solidFill>
                <a:srgbClr val="404040"/>
              </a:solidFill>
              <a:latin typeface="Yu Gothic"/>
              <a:ea typeface="Yu Gothic"/>
              <a:cs typeface="Yu Gothic"/>
            </a:endParaRPr>
          </a:p>
          <a:p>
            <a:pPr>
              <a:lnSpc>
                <a:spcPct val="110000"/>
              </a:lnSpc>
              <a:spcBef>
                <a:spcPts val="0"/>
              </a:spcBef>
              <a:spcAft>
                <a:spcPts val="300"/>
              </a:spcAft>
            </a:pPr>
            <a:r>
              <a:rPr lang="ja-JP" altLang="en-US" sz="2000" b="1">
                <a:solidFill>
                  <a:srgbClr val="085041"/>
                </a:solidFill>
                <a:highlight>
                  <a:srgbClr val="E1F5EE"/>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E1F5EE"/>
                </a:highlight>
                <a:latin typeface="Yu Gothic" panose="020B0400000000000000" pitchFamily="34" charset="-128"/>
                <a:ea typeface="Yu Gothic" panose="020B0400000000000000" pitchFamily="34" charset="-128"/>
                <a:cs typeface="Meiryo"/>
              </a:rPr>
              <a:t>ポイント・注意点</a:t>
            </a:r>
            <a:r>
              <a:rPr lang="en-US" altLang="ja-JP" sz="1000" b="1" dirty="0">
                <a:solidFill>
                  <a:srgbClr val="E2F5EE"/>
                </a:solidFill>
                <a:highlight>
                  <a:srgbClr val="E1F5EE"/>
                </a:highlight>
                <a:latin typeface="Yu Gothic" panose="020B0400000000000000" pitchFamily="34" charset="-128"/>
                <a:ea typeface="Yu Gothic" panose="020B0400000000000000" pitchFamily="34" charset="-128"/>
                <a:cs typeface="Meiryo"/>
              </a:rPr>
              <a:t>a</a:t>
            </a:r>
            <a:r>
              <a:rPr lang="ja-JP" altLang="en-US" sz="2000" b="1">
                <a:solidFill>
                  <a:srgbClr val="085041"/>
                </a:solidFill>
                <a:highlight>
                  <a:srgbClr val="E1F5EE"/>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消えない形で残すことが、様々な活用方法における土台になる</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人間の視認性・レビューのしやすさを高めたい場合は、</a:t>
            </a:r>
            <a:r>
              <a:rPr lang="en" altLang="ja-JP" dirty="0">
                <a:solidFill>
                  <a:srgbClr val="404040"/>
                </a:solidFill>
                <a:latin typeface="Yu Gothic"/>
                <a:ea typeface="Yu Gothic"/>
                <a:cs typeface="Yu Gothic"/>
              </a:rPr>
              <a:t>Markdown</a:t>
            </a:r>
            <a:r>
              <a:rPr lang="ja-JP" altLang="en-US">
                <a:solidFill>
                  <a:srgbClr val="404040"/>
                </a:solidFill>
                <a:latin typeface="Yu Gothic"/>
                <a:ea typeface="Yu Gothic"/>
                <a:cs typeface="Yu Gothic"/>
              </a:rPr>
              <a:t>に加えて</a:t>
            </a:r>
            <a:r>
              <a:rPr lang="en" altLang="ja-JP" dirty="0">
                <a:solidFill>
                  <a:srgbClr val="404040"/>
                </a:solidFill>
                <a:latin typeface="Yu Gothic"/>
                <a:ea typeface="Yu Gothic"/>
                <a:cs typeface="Yu Gothic"/>
              </a:rPr>
              <a:t>HTML</a:t>
            </a:r>
            <a:r>
              <a:rPr lang="ja-JP" altLang="en-US">
                <a:solidFill>
                  <a:srgbClr val="404040"/>
                </a:solidFill>
                <a:latin typeface="Yu Gothic"/>
                <a:ea typeface="Yu Gothic"/>
                <a:cs typeface="Yu Gothic"/>
              </a:rPr>
              <a:t>ファイルとして出力させるのもおすすめ</a:t>
            </a:r>
          </a:p>
        </p:txBody>
      </p:sp>
      <p:sp>
        <p:nvSpPr>
          <p:cNvPr id="7" name="TextBox 1">
            <a:extLst>
              <a:ext uri="{FF2B5EF4-FFF2-40B4-BE49-F238E27FC236}">
                <a16:creationId xmlns:a16="http://schemas.microsoft.com/office/drawing/2014/main" id="{D912BD5F-C73D-84E5-6F23-6744B32C318D}"/>
              </a:ext>
            </a:extLst>
          </p:cNvPr>
          <p:cNvSpPr txBox="1"/>
          <p:nvPr/>
        </p:nvSpPr>
        <p:spPr>
          <a:xfrm>
            <a:off x="658368" y="274320"/>
            <a:ext cx="3533340" cy="307777"/>
          </a:xfrm>
          <a:prstGeom prst="rect">
            <a:avLst/>
          </a:prstGeom>
          <a:noFill/>
        </p:spPr>
        <p:txBody>
          <a:bodyPr wrap="none">
            <a:spAutoFit/>
          </a:bodyPr>
          <a:lstStyle/>
          <a:p>
            <a:r>
              <a:rPr lang="en-US" sz="1400" dirty="0">
                <a:solidFill>
                  <a:schemeClr val="bg1">
                    <a:lumMod val="65000"/>
                  </a:schemeClr>
                </a:solidFill>
                <a:latin typeface="Yu Gothic" panose="020B0400000000000000" pitchFamily="34" charset="-128"/>
                <a:ea typeface="Yu Gothic" panose="020B0400000000000000" pitchFamily="34" charset="-128"/>
                <a:cs typeface="Meiryo"/>
              </a:rPr>
              <a:t>01</a:t>
            </a:r>
            <a:r>
              <a:rPr sz="1400" dirty="0">
                <a:solidFill>
                  <a:schemeClr val="bg1">
                    <a:lumMod val="65000"/>
                  </a:schemeClr>
                </a:solidFill>
                <a:latin typeface="Yu Gothic" panose="020B0400000000000000" pitchFamily="34" charset="-128"/>
                <a:ea typeface="Yu Gothic" panose="020B0400000000000000" pitchFamily="34" charset="-128"/>
                <a:cs typeface="Meiryo"/>
              </a:rPr>
              <a:t>. </a:t>
            </a:r>
            <a:r>
              <a:rPr sz="1400" dirty="0" err="1">
                <a:solidFill>
                  <a:schemeClr val="bg1">
                    <a:lumMod val="65000"/>
                  </a:schemeClr>
                </a:solidFill>
                <a:latin typeface="Yu Gothic" panose="020B0400000000000000" pitchFamily="34" charset="-128"/>
                <a:ea typeface="Yu Gothic" panose="020B0400000000000000" pitchFamily="34" charset="-128"/>
                <a:cs typeface="Meiryo"/>
              </a:rPr>
              <a:t>コンテキストをどう渡し、維持するか</a:t>
            </a:r>
            <a:endParaRPr sz="1400" dirty="0">
              <a:solidFill>
                <a:schemeClr val="bg1">
                  <a:lumMod val="65000"/>
                </a:schemeClr>
              </a:solidFill>
              <a:latin typeface="Yu Gothic" panose="020B0400000000000000" pitchFamily="34" charset="-128"/>
              <a:ea typeface="Yu Gothic" panose="020B0400000000000000" pitchFamily="34" charset="-128"/>
              <a:cs typeface="Meiry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80" y="530352"/>
            <a:ext cx="11064240" cy="584775"/>
          </a:xfrm>
          <a:prstGeom prst="rect">
            <a:avLst/>
          </a:prstGeom>
          <a:noFill/>
        </p:spPr>
        <p:txBody>
          <a:bodyPr wrap="square">
            <a:spAutoFit/>
          </a:bodyPr>
          <a:lstStyle/>
          <a:p>
            <a:r>
              <a:rPr sz="3200" b="1" dirty="0">
                <a:latin typeface="Yu Gothic" panose="020B0400000000000000" pitchFamily="34" charset="-128"/>
                <a:ea typeface="Yu Gothic" panose="020B0400000000000000" pitchFamily="34" charset="-128"/>
                <a:cs typeface="Meiryo"/>
              </a:rPr>
              <a:t>③ </a:t>
            </a:r>
            <a:r>
              <a:rPr sz="3200" b="1" dirty="0" err="1">
                <a:latin typeface="Yu Gothic" panose="020B0400000000000000" pitchFamily="34" charset="-128"/>
                <a:ea typeface="Yu Gothic" panose="020B0400000000000000" pitchFamily="34" charset="-128"/>
                <a:cs typeface="Meiryo"/>
              </a:rPr>
              <a:t>MEMORY.mdで汎用スキルを個別最適化する</a:t>
            </a:r>
            <a:endParaRPr sz="3200" b="1" dirty="0">
              <a:latin typeface="Yu Gothic" panose="020B0400000000000000" pitchFamily="34" charset="-128"/>
              <a:ea typeface="Yu Gothic" panose="020B0400000000000000" pitchFamily="34" charset="-128"/>
              <a:cs typeface="Meiryo"/>
            </a:endParaRPr>
          </a:p>
        </p:txBody>
      </p:sp>
      <p:sp>
        <p:nvSpPr>
          <p:cNvPr id="4" name="Rectangle 3"/>
          <p:cNvSpPr/>
          <p:nvPr/>
        </p:nvSpPr>
        <p:spPr>
          <a:xfrm>
            <a:off x="676656" y="1225296"/>
            <a:ext cx="1097280" cy="4445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76656" y="1481328"/>
            <a:ext cx="10881360" cy="4961358"/>
          </a:xfrm>
          <a:prstGeom prst="rect">
            <a:avLst/>
          </a:prstGeom>
          <a:noFill/>
        </p:spPr>
        <p:txBody>
          <a:bodyPr wrap="square">
            <a:spAutoFit/>
          </a:bodyPr>
          <a:lstStyle/>
          <a:p>
            <a:pPr>
              <a:lnSpc>
                <a:spcPct val="110000"/>
              </a:lnSpc>
              <a:spcBef>
                <a:spcPts val="0"/>
              </a:spcBef>
              <a:spcAft>
                <a:spcPts val="300"/>
              </a:spcAft>
            </a:pPr>
            <a:r>
              <a:rPr lang="ja-JP" altLang="en-US" sz="2000" b="1">
                <a:solidFill>
                  <a:srgbClr val="FBECE8"/>
                </a:solidFill>
                <a:highlight>
                  <a:srgbClr val="FAECE7"/>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FAECE7"/>
                </a:highlight>
                <a:latin typeface="Yu Gothic" panose="020B0400000000000000" pitchFamily="34" charset="-128"/>
                <a:ea typeface="Yu Gothic" panose="020B0400000000000000" pitchFamily="34" charset="-128"/>
                <a:cs typeface="Meiryo"/>
              </a:rPr>
              <a:t>課題</a:t>
            </a:r>
            <a:r>
              <a:rPr lang="en-US" altLang="ja-JP" sz="1000" b="1" dirty="0">
                <a:solidFill>
                  <a:srgbClr val="FBECE8"/>
                </a:solidFill>
                <a:highlight>
                  <a:srgbClr val="FAECE7"/>
                </a:highlight>
                <a:latin typeface="Yu Gothic" panose="020B0400000000000000" pitchFamily="34" charset="-128"/>
                <a:ea typeface="Yu Gothic" panose="020B0400000000000000" pitchFamily="34" charset="-128"/>
                <a:cs typeface="Meiryo"/>
              </a:rPr>
              <a:t>a</a:t>
            </a:r>
            <a:r>
              <a:rPr lang="ja-JP" altLang="en-US" sz="2000" b="1">
                <a:solidFill>
                  <a:srgbClr val="712B13"/>
                </a:solidFill>
                <a:highlight>
                  <a:srgbClr val="FAECE7"/>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プロジェクトやチームで用意されているスキル・ルールは汎用的に作られており、自分向けの設定を毎回指定し直す手間が発生する</a:t>
            </a:r>
          </a:p>
          <a:p>
            <a:pPr marL="274320" indent="0">
              <a:lnSpc>
                <a:spcPct val="113000"/>
              </a:lnSpc>
              <a:spcAft>
                <a:spcPts val="350"/>
              </a:spcAft>
            </a:pPr>
            <a:endParaRPr lang="ja-JP" altLang="en-US">
              <a:solidFill>
                <a:srgbClr val="404040"/>
              </a:solidFill>
              <a:latin typeface="Yu Gothic"/>
              <a:ea typeface="Yu Gothic"/>
              <a:cs typeface="Yu Gothic"/>
            </a:endParaRPr>
          </a:p>
          <a:p>
            <a:pPr>
              <a:lnSpc>
                <a:spcPct val="110000"/>
              </a:lnSpc>
              <a:spcBef>
                <a:spcPts val="0"/>
              </a:spcBef>
              <a:spcAft>
                <a:spcPts val="300"/>
              </a:spcAft>
            </a:pPr>
            <a:r>
              <a:rPr lang="ja-JP" altLang="en-US" sz="2000" b="1">
                <a:solidFill>
                  <a:srgbClr val="0C447C"/>
                </a:solidFill>
                <a:highlight>
                  <a:srgbClr val="E6F1FB"/>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E6F1FB"/>
                </a:highlight>
                <a:latin typeface="Yu Gothic" panose="020B0400000000000000" pitchFamily="34" charset="-128"/>
                <a:ea typeface="Yu Gothic" panose="020B0400000000000000" pitchFamily="34" charset="-128"/>
                <a:cs typeface="Meiryo"/>
              </a:rPr>
              <a:t>活用方法</a:t>
            </a:r>
            <a:r>
              <a:rPr lang="en-US" altLang="ja-JP" sz="1000" b="1" dirty="0">
                <a:solidFill>
                  <a:srgbClr val="E7F2FC"/>
                </a:solidFill>
                <a:highlight>
                  <a:srgbClr val="E6F1FB"/>
                </a:highlight>
                <a:latin typeface="Yu Gothic" panose="020B0400000000000000" pitchFamily="34" charset="-128"/>
                <a:ea typeface="Yu Gothic" panose="020B0400000000000000" pitchFamily="34" charset="-128"/>
                <a:cs typeface="Meiryo"/>
              </a:rPr>
              <a:t>a</a:t>
            </a:r>
            <a:r>
              <a:rPr lang="ja-JP" altLang="en-US" sz="2000" b="1">
                <a:solidFill>
                  <a:srgbClr val="0C447C"/>
                </a:solidFill>
                <a:highlight>
                  <a:srgbClr val="E6F1FB"/>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自分専用の </a:t>
            </a:r>
            <a:r>
              <a:rPr lang="en" altLang="ja-JP" dirty="0" err="1">
                <a:solidFill>
                  <a:srgbClr val="404040"/>
                </a:solidFill>
                <a:latin typeface="Yu Gothic"/>
                <a:ea typeface="Yu Gothic"/>
                <a:cs typeface="Yu Gothic"/>
              </a:rPr>
              <a:t>MEMORY.md</a:t>
            </a:r>
            <a:r>
              <a:rPr lang="en" altLang="ja-JP" dirty="0">
                <a:solidFill>
                  <a:srgbClr val="404040"/>
                </a:solidFill>
                <a:latin typeface="Yu Gothic"/>
                <a:ea typeface="Yu Gothic"/>
                <a:cs typeface="Yu Gothic"/>
              </a:rPr>
              <a:t> </a:t>
            </a:r>
            <a:r>
              <a:rPr lang="ja-JP" altLang="en-US">
                <a:solidFill>
                  <a:srgbClr val="404040"/>
                </a:solidFill>
                <a:latin typeface="Yu Gothic"/>
                <a:ea typeface="Yu Gothic"/>
                <a:cs typeface="Yu Gothic"/>
              </a:rPr>
              <a:t>を活用し、自分のやり方・環境に合わせて個別最適化する</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会話中に「今後も常に〇〇して」「記憶しておいて」と指示すると、</a:t>
            </a:r>
            <a:r>
              <a:rPr lang="en" altLang="ja-JP" dirty="0">
                <a:solidFill>
                  <a:srgbClr val="404040"/>
                </a:solidFill>
                <a:latin typeface="Yu Gothic"/>
                <a:ea typeface="Yu Gothic"/>
                <a:cs typeface="Yu Gothic"/>
              </a:rPr>
              <a:t>AI</a:t>
            </a:r>
            <a:r>
              <a:rPr lang="ja-JP" altLang="en-US">
                <a:solidFill>
                  <a:srgbClr val="404040"/>
                </a:solidFill>
                <a:latin typeface="Yu Gothic"/>
                <a:ea typeface="Yu Gothic"/>
                <a:cs typeface="Yu Gothic"/>
              </a:rPr>
              <a:t>自身が自動で </a:t>
            </a:r>
            <a:r>
              <a:rPr lang="en" altLang="ja-JP" dirty="0" err="1">
                <a:solidFill>
                  <a:srgbClr val="404040"/>
                </a:solidFill>
                <a:latin typeface="Yu Gothic"/>
                <a:ea typeface="Yu Gothic"/>
                <a:cs typeface="Yu Gothic"/>
              </a:rPr>
              <a:t>MEMORY.md</a:t>
            </a:r>
            <a:r>
              <a:rPr lang="en" altLang="ja-JP" dirty="0">
                <a:solidFill>
                  <a:srgbClr val="404040"/>
                </a:solidFill>
                <a:latin typeface="Yu Gothic"/>
                <a:ea typeface="Yu Gothic"/>
                <a:cs typeface="Yu Gothic"/>
              </a:rPr>
              <a:t> </a:t>
            </a:r>
            <a:r>
              <a:rPr lang="ja-JP" altLang="en-US">
                <a:solidFill>
                  <a:srgbClr val="404040"/>
                </a:solidFill>
                <a:latin typeface="Yu Gothic"/>
                <a:ea typeface="Yu Gothic"/>
                <a:cs typeface="Yu Gothic"/>
              </a:rPr>
              <a:t>に書き込んで記憶してくれる</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例：スキル実行時に「所属チーム」を指定する場合、</a:t>
            </a:r>
            <a:r>
              <a:rPr lang="en" altLang="ja-JP" dirty="0" err="1">
                <a:solidFill>
                  <a:srgbClr val="404040"/>
                </a:solidFill>
                <a:latin typeface="Yu Gothic"/>
                <a:ea typeface="Yu Gothic"/>
                <a:cs typeface="Yu Gothic"/>
              </a:rPr>
              <a:t>MEMORY.md</a:t>
            </a:r>
            <a:r>
              <a:rPr lang="en" altLang="ja-JP" dirty="0">
                <a:solidFill>
                  <a:srgbClr val="404040"/>
                </a:solidFill>
                <a:latin typeface="Yu Gothic"/>
                <a:ea typeface="Yu Gothic"/>
                <a:cs typeface="Yu Gothic"/>
              </a:rPr>
              <a:t> </a:t>
            </a:r>
            <a:r>
              <a:rPr lang="ja-JP" altLang="en-US">
                <a:solidFill>
                  <a:srgbClr val="404040"/>
                </a:solidFill>
                <a:latin typeface="Yu Gothic"/>
                <a:ea typeface="Yu Gothic"/>
                <a:cs typeface="Yu Gothic"/>
              </a:rPr>
              <a:t>に記録させておくことで次回以降の指示が不要になる</a:t>
            </a:r>
          </a:p>
          <a:p>
            <a:pPr marL="274320" indent="0">
              <a:lnSpc>
                <a:spcPct val="113000"/>
              </a:lnSpc>
              <a:spcAft>
                <a:spcPts val="350"/>
              </a:spcAft>
            </a:pPr>
            <a:endParaRPr lang="ja-JP" altLang="en-US">
              <a:solidFill>
                <a:srgbClr val="404040"/>
              </a:solidFill>
              <a:latin typeface="Yu Gothic"/>
              <a:ea typeface="Yu Gothic"/>
              <a:cs typeface="Yu Gothic"/>
            </a:endParaRPr>
          </a:p>
          <a:p>
            <a:pPr>
              <a:lnSpc>
                <a:spcPct val="110000"/>
              </a:lnSpc>
              <a:spcBef>
                <a:spcPts val="0"/>
              </a:spcBef>
              <a:spcAft>
                <a:spcPts val="300"/>
              </a:spcAft>
            </a:pPr>
            <a:r>
              <a:rPr lang="ja-JP" altLang="en-US" sz="2000" b="1">
                <a:solidFill>
                  <a:srgbClr val="085041"/>
                </a:solidFill>
                <a:highlight>
                  <a:srgbClr val="E1F5EE"/>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E1F5EE"/>
                </a:highlight>
                <a:latin typeface="Yu Gothic" panose="020B0400000000000000" pitchFamily="34" charset="-128"/>
                <a:ea typeface="Yu Gothic" panose="020B0400000000000000" pitchFamily="34" charset="-128"/>
                <a:cs typeface="Meiryo"/>
              </a:rPr>
              <a:t>ポイント・注意点</a:t>
            </a:r>
            <a:r>
              <a:rPr lang="en-US" altLang="ja-JP" sz="1000" b="1" dirty="0">
                <a:solidFill>
                  <a:srgbClr val="E2F5EE"/>
                </a:solidFill>
                <a:highlight>
                  <a:srgbClr val="E1F5EE"/>
                </a:highlight>
                <a:latin typeface="Yu Gothic" panose="020B0400000000000000" pitchFamily="34" charset="-128"/>
                <a:ea typeface="Yu Gothic" panose="020B0400000000000000" pitchFamily="34" charset="-128"/>
                <a:cs typeface="Meiryo"/>
              </a:rPr>
              <a:t>a</a:t>
            </a:r>
            <a:r>
              <a:rPr lang="ja-JP" altLang="en-US" sz="2000" b="1">
                <a:solidFill>
                  <a:srgbClr val="085041"/>
                </a:solidFill>
                <a:highlight>
                  <a:srgbClr val="E1F5EE"/>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プロジェクト共通の汎用ルールや、一時的なセッション固有の情報まで何でも書き込みすぎると、毎セッションのコンテキストを圧迫する原因になるため、記録する情報の見極めが重要</a:t>
            </a:r>
          </a:p>
        </p:txBody>
      </p:sp>
      <p:sp>
        <p:nvSpPr>
          <p:cNvPr id="7" name="TextBox 1">
            <a:extLst>
              <a:ext uri="{FF2B5EF4-FFF2-40B4-BE49-F238E27FC236}">
                <a16:creationId xmlns:a16="http://schemas.microsoft.com/office/drawing/2014/main" id="{A035DA42-BACC-90FB-B942-5707037BC2A0}"/>
              </a:ext>
            </a:extLst>
          </p:cNvPr>
          <p:cNvSpPr txBox="1"/>
          <p:nvPr/>
        </p:nvSpPr>
        <p:spPr>
          <a:xfrm>
            <a:off x="658368" y="274320"/>
            <a:ext cx="3533340" cy="307777"/>
          </a:xfrm>
          <a:prstGeom prst="rect">
            <a:avLst/>
          </a:prstGeom>
          <a:noFill/>
        </p:spPr>
        <p:txBody>
          <a:bodyPr wrap="none">
            <a:spAutoFit/>
          </a:bodyPr>
          <a:lstStyle/>
          <a:p>
            <a:r>
              <a:rPr lang="en-US" sz="1400" dirty="0">
                <a:solidFill>
                  <a:schemeClr val="bg1">
                    <a:lumMod val="65000"/>
                  </a:schemeClr>
                </a:solidFill>
                <a:latin typeface="Yu Gothic" panose="020B0400000000000000" pitchFamily="34" charset="-128"/>
                <a:ea typeface="Yu Gothic" panose="020B0400000000000000" pitchFamily="34" charset="-128"/>
                <a:cs typeface="Meiryo"/>
              </a:rPr>
              <a:t>01</a:t>
            </a:r>
            <a:r>
              <a:rPr sz="1400" dirty="0">
                <a:solidFill>
                  <a:schemeClr val="bg1">
                    <a:lumMod val="65000"/>
                  </a:schemeClr>
                </a:solidFill>
                <a:latin typeface="Yu Gothic" panose="020B0400000000000000" pitchFamily="34" charset="-128"/>
                <a:ea typeface="Yu Gothic" panose="020B0400000000000000" pitchFamily="34" charset="-128"/>
                <a:cs typeface="Meiryo"/>
              </a:rPr>
              <a:t>. </a:t>
            </a:r>
            <a:r>
              <a:rPr sz="1400" dirty="0" err="1">
                <a:solidFill>
                  <a:schemeClr val="bg1">
                    <a:lumMod val="65000"/>
                  </a:schemeClr>
                </a:solidFill>
                <a:latin typeface="Yu Gothic" panose="020B0400000000000000" pitchFamily="34" charset="-128"/>
                <a:ea typeface="Yu Gothic" panose="020B0400000000000000" pitchFamily="34" charset="-128"/>
                <a:cs typeface="Meiryo"/>
              </a:rPr>
              <a:t>コンテキストをどう渡し、維持するか</a:t>
            </a:r>
            <a:endParaRPr sz="1400" dirty="0">
              <a:solidFill>
                <a:schemeClr val="bg1">
                  <a:lumMod val="65000"/>
                </a:schemeClr>
              </a:solidFill>
              <a:latin typeface="Yu Gothic" panose="020B0400000000000000" pitchFamily="34" charset="-128"/>
              <a:ea typeface="Yu Gothic" panose="020B0400000000000000" pitchFamily="34" charset="-128"/>
              <a:cs typeface="Meiry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5800" y="822960"/>
            <a:ext cx="3657600" cy="2377440"/>
          </a:xfrm>
          <a:prstGeom prst="rect">
            <a:avLst/>
          </a:prstGeom>
          <a:noFill/>
          <a:ln/>
        </p:spPr>
        <p:txBody>
          <a:bodyPr wrap="square" rtlCol="0" anchor="ctr"/>
          <a:lstStyle/>
          <a:p>
            <a:pPr marL="0" indent="0">
              <a:buNone/>
            </a:pPr>
            <a:r>
              <a:rPr lang="en-US" sz="13000" b="1" dirty="0">
                <a:solidFill>
                  <a:srgbClr val="C1613F"/>
                </a:solidFill>
                <a:latin typeface="Yu Gothic" pitchFamily="34" charset="0"/>
                <a:ea typeface="Yu Gothic" pitchFamily="34" charset="-122"/>
                <a:cs typeface="Yu Gothic" pitchFamily="34" charset="-120"/>
              </a:rPr>
              <a:t>02</a:t>
            </a:r>
            <a:endParaRPr lang="en-US" sz="13000" dirty="0"/>
          </a:p>
        </p:txBody>
      </p:sp>
      <p:sp>
        <p:nvSpPr>
          <p:cNvPr id="3" name="Text 1"/>
          <p:cNvSpPr/>
          <p:nvPr/>
        </p:nvSpPr>
        <p:spPr>
          <a:xfrm>
            <a:off x="777240" y="3246120"/>
            <a:ext cx="9875520" cy="914400"/>
          </a:xfrm>
          <a:prstGeom prst="rect">
            <a:avLst/>
          </a:prstGeom>
          <a:noFill/>
          <a:ln/>
        </p:spPr>
        <p:txBody>
          <a:bodyPr wrap="square" rtlCol="0" anchor="ctr"/>
          <a:lstStyle/>
          <a:p>
            <a:pPr marL="0" indent="0">
              <a:buNone/>
            </a:pPr>
            <a:r>
              <a:rPr lang="en-US" sz="3400" b="1" dirty="0">
                <a:solidFill>
                  <a:srgbClr val="3B322B"/>
                </a:solidFill>
                <a:latin typeface="Yu Gothic" pitchFamily="34" charset="0"/>
                <a:ea typeface="Yu Gothic" pitchFamily="34" charset="-122"/>
                <a:cs typeface="Yu Gothic" pitchFamily="34" charset="-120"/>
              </a:rPr>
              <a:t>環境・道具として何を整えるか</a:t>
            </a:r>
            <a:endParaRPr lang="en-US" sz="3400" dirty="0"/>
          </a:p>
        </p:txBody>
      </p:sp>
      <p:sp>
        <p:nvSpPr>
          <p:cNvPr id="4" name="Text 2"/>
          <p:cNvSpPr/>
          <p:nvPr/>
        </p:nvSpPr>
        <p:spPr>
          <a:xfrm>
            <a:off x="822960" y="4096512"/>
            <a:ext cx="9601200" cy="1097280"/>
          </a:xfrm>
          <a:prstGeom prst="rect">
            <a:avLst/>
          </a:prstGeom>
          <a:noFill/>
          <a:ln/>
        </p:spPr>
        <p:txBody>
          <a:bodyPr wrap="square" rtlCol="0" anchor="t"/>
          <a:lstStyle/>
          <a:p>
            <a:pPr marL="0" indent="0">
              <a:buNone/>
            </a:pPr>
            <a:r>
              <a:rPr lang="en-US" sz="1700" dirty="0">
                <a:solidFill>
                  <a:srgbClr val="8C8074"/>
                </a:solidFill>
                <a:latin typeface="Yu Gothic" pitchFamily="34" charset="0"/>
                <a:ea typeface="Yu Gothic" pitchFamily="34" charset="-122"/>
                <a:cs typeface="Yu Gothic" pitchFamily="34" charset="-120"/>
              </a:rPr>
              <a:t>コンテキストの渡し方を工夫しても、「Claude Codeという道具自体の設定」を見直すことで、さらに質と効率が上がります。</a:t>
            </a:r>
            <a:endParaRPr lang="en-US" sz="1700" dirty="0"/>
          </a:p>
          <a:p>
            <a:pPr marL="0" indent="0">
              <a:buNone/>
            </a:pPr>
            <a:r>
              <a:rPr lang="en-US" sz="1700" dirty="0">
                <a:solidFill>
                  <a:srgbClr val="8C8074"/>
                </a:solidFill>
                <a:latin typeface="Yu Gothic" pitchFamily="34" charset="0"/>
                <a:ea typeface="Yu Gothic" pitchFamily="34" charset="-122"/>
                <a:cs typeface="Yu Gothic" pitchFamily="34" charset="-120"/>
              </a:rPr>
              <a:t>ここでは環境・ツールのチューニングという観点の工夫を3つ紹介します。</a:t>
            </a:r>
            <a:endParaRPr lang="en-US" sz="1700" dirty="0"/>
          </a:p>
        </p:txBody>
      </p:sp>
      <p:sp>
        <p:nvSpPr>
          <p:cNvPr id="5" name="Shape 3"/>
          <p:cNvSpPr/>
          <p:nvPr/>
        </p:nvSpPr>
        <p:spPr>
          <a:xfrm>
            <a:off x="822960" y="5394960"/>
            <a:ext cx="2743200" cy="530352"/>
          </a:xfrm>
          <a:prstGeom prst="roundRect">
            <a:avLst>
              <a:gd name="adj" fmla="val 50000"/>
            </a:avLst>
          </a:prstGeom>
          <a:solidFill>
            <a:srgbClr val="FBEEE7"/>
          </a:solidFill>
          <a:ln/>
        </p:spPr>
      </p:sp>
      <p:sp>
        <p:nvSpPr>
          <p:cNvPr id="6" name="Text 4"/>
          <p:cNvSpPr/>
          <p:nvPr/>
        </p:nvSpPr>
        <p:spPr>
          <a:xfrm>
            <a:off x="822960" y="5394960"/>
            <a:ext cx="2743200" cy="530352"/>
          </a:xfrm>
          <a:prstGeom prst="rect">
            <a:avLst/>
          </a:prstGeom>
          <a:noFill/>
          <a:ln/>
        </p:spPr>
        <p:txBody>
          <a:bodyPr wrap="square" rtlCol="0" anchor="ctr"/>
          <a:lstStyle/>
          <a:p>
            <a:pPr marL="0" indent="0" algn="ctr">
              <a:buNone/>
            </a:pPr>
            <a:r>
              <a:rPr lang="en-US" sz="1450" b="1" dirty="0">
                <a:solidFill>
                  <a:srgbClr val="C1613F"/>
                </a:solidFill>
                <a:latin typeface="Yu Gothic" pitchFamily="34" charset="0"/>
                <a:ea typeface="Yu Gothic" pitchFamily="34" charset="-122"/>
                <a:cs typeface="Yu Gothic" pitchFamily="34" charset="-120"/>
              </a:rPr>
              <a:t>工夫 ④〜⑥</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80" y="530352"/>
            <a:ext cx="11064240" cy="584775"/>
          </a:xfrm>
          <a:prstGeom prst="rect">
            <a:avLst/>
          </a:prstGeom>
          <a:noFill/>
        </p:spPr>
        <p:txBody>
          <a:bodyPr wrap="square">
            <a:spAutoFit/>
          </a:bodyPr>
          <a:lstStyle/>
          <a:p>
            <a:r>
              <a:rPr lang="en-US" altLang="ja-JP" sz="3200" b="1" dirty="0">
                <a:latin typeface="Yu Gothic" panose="020B0400000000000000" pitchFamily="34" charset="-128"/>
                <a:ea typeface="Yu Gothic" panose="020B0400000000000000" pitchFamily="34" charset="-128"/>
                <a:cs typeface="Meiryo"/>
              </a:rPr>
              <a:t>④</a:t>
            </a:r>
            <a:r>
              <a:rPr sz="3200" b="1" dirty="0">
                <a:latin typeface="Yu Gothic" panose="020B0400000000000000" pitchFamily="34" charset="-128"/>
                <a:ea typeface="Yu Gothic" panose="020B0400000000000000" pitchFamily="34" charset="-128"/>
                <a:cs typeface="Meiryo"/>
              </a:rPr>
              <a:t> output </a:t>
            </a:r>
            <a:r>
              <a:rPr sz="3200" b="1" dirty="0" err="1">
                <a:latin typeface="Yu Gothic" panose="020B0400000000000000" pitchFamily="34" charset="-128"/>
                <a:ea typeface="Yu Gothic" panose="020B0400000000000000" pitchFamily="34" charset="-128"/>
                <a:cs typeface="Meiryo"/>
              </a:rPr>
              <a:t>styleで出力形式をカスタマイズする</a:t>
            </a:r>
            <a:endParaRPr sz="3200" b="1" dirty="0">
              <a:latin typeface="Yu Gothic" panose="020B0400000000000000" pitchFamily="34" charset="-128"/>
              <a:ea typeface="Yu Gothic" panose="020B0400000000000000" pitchFamily="34" charset="-128"/>
              <a:cs typeface="Meiryo"/>
            </a:endParaRPr>
          </a:p>
        </p:txBody>
      </p:sp>
      <p:sp>
        <p:nvSpPr>
          <p:cNvPr id="4" name="Rectangle 3"/>
          <p:cNvSpPr/>
          <p:nvPr/>
        </p:nvSpPr>
        <p:spPr>
          <a:xfrm>
            <a:off x="676656" y="1225296"/>
            <a:ext cx="1097280" cy="4445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76656" y="1481328"/>
            <a:ext cx="10881360" cy="5166543"/>
          </a:xfrm>
          <a:prstGeom prst="rect">
            <a:avLst/>
          </a:prstGeom>
          <a:noFill/>
        </p:spPr>
        <p:txBody>
          <a:bodyPr wrap="square">
            <a:spAutoFit/>
          </a:bodyPr>
          <a:lstStyle/>
          <a:p>
            <a:pPr>
              <a:lnSpc>
                <a:spcPct val="110000"/>
              </a:lnSpc>
              <a:spcBef>
                <a:spcPts val="0"/>
              </a:spcBef>
              <a:spcAft>
                <a:spcPts val="300"/>
              </a:spcAft>
            </a:pPr>
            <a:r>
              <a:rPr lang="ja-JP" altLang="en-US" sz="2000" b="1">
                <a:solidFill>
                  <a:srgbClr val="FBECE8"/>
                </a:solidFill>
                <a:highlight>
                  <a:srgbClr val="FAECE7"/>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FAECE7"/>
                </a:highlight>
                <a:latin typeface="Yu Gothic" panose="020B0400000000000000" pitchFamily="34" charset="-128"/>
                <a:ea typeface="Yu Gothic" panose="020B0400000000000000" pitchFamily="34" charset="-128"/>
                <a:cs typeface="Meiryo"/>
              </a:rPr>
              <a:t>課題</a:t>
            </a:r>
            <a:r>
              <a:rPr lang="en-US" altLang="ja-JP" sz="1000" b="1" dirty="0">
                <a:solidFill>
                  <a:srgbClr val="FBECE8"/>
                </a:solidFill>
                <a:highlight>
                  <a:srgbClr val="FAECE7"/>
                </a:highlight>
                <a:latin typeface="Yu Gothic" panose="020B0400000000000000" pitchFamily="34" charset="-128"/>
                <a:ea typeface="Yu Gothic" panose="020B0400000000000000" pitchFamily="34" charset="-128"/>
                <a:cs typeface="Meiryo"/>
              </a:rPr>
              <a:t>a</a:t>
            </a:r>
            <a:r>
              <a:rPr lang="ja-JP" altLang="en-US" sz="2000" b="1">
                <a:solidFill>
                  <a:srgbClr val="712B13"/>
                </a:solidFill>
                <a:highlight>
                  <a:srgbClr val="FAECE7"/>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デフォルトの応答だと前置きや装飾が多く、必要な情報に素早くアクセスしづらい</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会話の中で「簡潔に答えて」と指示しても、会話が長くなると指示が薄れてしまいやすい</a:t>
            </a:r>
          </a:p>
          <a:p>
            <a:pPr marL="274320" indent="0">
              <a:lnSpc>
                <a:spcPct val="113000"/>
              </a:lnSpc>
              <a:spcAft>
                <a:spcPts val="350"/>
              </a:spcAft>
            </a:pPr>
            <a:endParaRPr lang="ja-JP" altLang="en-US">
              <a:solidFill>
                <a:srgbClr val="404040"/>
              </a:solidFill>
              <a:latin typeface="Yu Gothic"/>
              <a:ea typeface="Yu Gothic"/>
              <a:cs typeface="Yu Gothic"/>
            </a:endParaRPr>
          </a:p>
          <a:p>
            <a:pPr>
              <a:lnSpc>
                <a:spcPct val="110000"/>
              </a:lnSpc>
              <a:spcBef>
                <a:spcPts val="0"/>
              </a:spcBef>
              <a:spcAft>
                <a:spcPts val="300"/>
              </a:spcAft>
            </a:pPr>
            <a:r>
              <a:rPr lang="ja-JP" altLang="en-US" sz="2000" b="1">
                <a:solidFill>
                  <a:srgbClr val="0C447C"/>
                </a:solidFill>
                <a:highlight>
                  <a:srgbClr val="E6F1FB"/>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E6F1FB"/>
                </a:highlight>
                <a:latin typeface="Yu Gothic" panose="020B0400000000000000" pitchFamily="34" charset="-128"/>
                <a:ea typeface="Yu Gothic" panose="020B0400000000000000" pitchFamily="34" charset="-128"/>
                <a:cs typeface="Meiryo"/>
              </a:rPr>
              <a:t>活用方法</a:t>
            </a:r>
            <a:r>
              <a:rPr lang="en-US" altLang="ja-JP" sz="1000" b="1" dirty="0">
                <a:solidFill>
                  <a:srgbClr val="E7F2FC"/>
                </a:solidFill>
                <a:highlight>
                  <a:srgbClr val="E6F1FB"/>
                </a:highlight>
                <a:latin typeface="Yu Gothic" panose="020B0400000000000000" pitchFamily="34" charset="-128"/>
                <a:ea typeface="Yu Gothic" panose="020B0400000000000000" pitchFamily="34" charset="-128"/>
                <a:cs typeface="Meiryo"/>
              </a:rPr>
              <a:t>a</a:t>
            </a:r>
            <a:r>
              <a:rPr lang="ja-JP" altLang="en-US" sz="2000" b="1">
                <a:solidFill>
                  <a:srgbClr val="0C447C"/>
                </a:solidFill>
                <a:highlight>
                  <a:srgbClr val="E6F1FB"/>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en" altLang="ja-JP" dirty="0">
                <a:solidFill>
                  <a:srgbClr val="404040"/>
                </a:solidFill>
                <a:latin typeface="Yu Gothic"/>
                <a:ea typeface="Yu Gothic"/>
                <a:cs typeface="Yu Gothic"/>
              </a:rPr>
              <a:t>output style</a:t>
            </a:r>
            <a:r>
              <a:rPr lang="ja-JP" altLang="en-US">
                <a:solidFill>
                  <a:srgbClr val="404040"/>
                </a:solidFill>
                <a:latin typeface="Yu Gothic"/>
                <a:ea typeface="Yu Gothic"/>
                <a:cs typeface="Yu Gothic"/>
              </a:rPr>
              <a:t>を活用し、</a:t>
            </a:r>
            <a:r>
              <a:rPr lang="en" altLang="ja-JP" dirty="0">
                <a:solidFill>
                  <a:srgbClr val="404040"/>
                </a:solidFill>
                <a:latin typeface="Yu Gothic"/>
                <a:ea typeface="Yu Gothic"/>
                <a:cs typeface="Yu Gothic"/>
              </a:rPr>
              <a:t>Claude Code</a:t>
            </a:r>
            <a:r>
              <a:rPr lang="ja-JP" altLang="en-US">
                <a:solidFill>
                  <a:srgbClr val="404040"/>
                </a:solidFill>
                <a:latin typeface="Yu Gothic"/>
                <a:ea typeface="Yu Gothic"/>
                <a:cs typeface="Yu Gothic"/>
              </a:rPr>
              <a:t>の応答の「役割・トーン・出力フォーマット」を変更する</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システムプロンプトに追加されるため、セッション全体を通じて強力に出力形式を固定できる</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en-US" altLang="ja-JP" dirty="0">
                <a:solidFill>
                  <a:srgbClr val="404040"/>
                </a:solidFill>
                <a:latin typeface="Yu Gothic"/>
                <a:ea typeface="Yu Gothic"/>
                <a:cs typeface="Yu Gothic"/>
              </a:rPr>
              <a:t>/</a:t>
            </a:r>
            <a:r>
              <a:rPr lang="en" altLang="ja-JP" dirty="0">
                <a:solidFill>
                  <a:srgbClr val="404040"/>
                </a:solidFill>
                <a:latin typeface="Yu Gothic"/>
                <a:ea typeface="Yu Gothic"/>
                <a:cs typeface="Yu Gothic"/>
              </a:rPr>
              <a:t>config </a:t>
            </a:r>
            <a:r>
              <a:rPr lang="ja-JP" altLang="en-US">
                <a:solidFill>
                  <a:srgbClr val="404040"/>
                </a:solidFill>
                <a:latin typeface="Yu Gothic"/>
                <a:ea typeface="Yu Gothic"/>
                <a:cs typeface="Yu Gothic"/>
              </a:rPr>
              <a:t>から選択するほか、</a:t>
            </a:r>
            <a:r>
              <a:rPr lang="en-US" altLang="ja-JP" dirty="0">
                <a:solidFill>
                  <a:srgbClr val="404040"/>
                </a:solidFill>
                <a:latin typeface="Yu Gothic"/>
                <a:ea typeface="Yu Gothic"/>
                <a:cs typeface="Yu Gothic"/>
              </a:rPr>
              <a:t>.</a:t>
            </a:r>
            <a:r>
              <a:rPr lang="en" altLang="ja-JP" dirty="0" err="1">
                <a:solidFill>
                  <a:srgbClr val="404040"/>
                </a:solidFill>
                <a:latin typeface="Yu Gothic"/>
                <a:ea typeface="Yu Gothic"/>
                <a:cs typeface="Yu Gothic"/>
              </a:rPr>
              <a:t>claude</a:t>
            </a:r>
            <a:r>
              <a:rPr lang="en" altLang="ja-JP" dirty="0">
                <a:solidFill>
                  <a:srgbClr val="404040"/>
                </a:solidFill>
                <a:latin typeface="Yu Gothic"/>
                <a:ea typeface="Yu Gothic"/>
                <a:cs typeface="Yu Gothic"/>
              </a:rPr>
              <a:t>/output-styles/ </a:t>
            </a:r>
            <a:r>
              <a:rPr lang="ja-JP" altLang="en-US">
                <a:solidFill>
                  <a:srgbClr val="404040"/>
                </a:solidFill>
                <a:latin typeface="Yu Gothic"/>
                <a:ea typeface="Yu Gothic"/>
                <a:cs typeface="Yu Gothic"/>
              </a:rPr>
              <a:t>に</a:t>
            </a:r>
            <a:r>
              <a:rPr lang="en" altLang="ja-JP" dirty="0">
                <a:solidFill>
                  <a:srgbClr val="404040"/>
                </a:solidFill>
                <a:latin typeface="Yu Gothic"/>
                <a:ea typeface="Yu Gothic"/>
                <a:cs typeface="Yu Gothic"/>
              </a:rPr>
              <a:t>Markdown</a:t>
            </a:r>
            <a:r>
              <a:rPr lang="ja-JP" altLang="en-US">
                <a:solidFill>
                  <a:srgbClr val="404040"/>
                </a:solidFill>
                <a:latin typeface="Yu Gothic"/>
                <a:ea typeface="Yu Gothic"/>
                <a:cs typeface="Yu Gothic"/>
              </a:rPr>
              <a:t>ファイルを置いて自作可能</a:t>
            </a:r>
          </a:p>
          <a:p>
            <a:pPr marL="274320" indent="0">
              <a:lnSpc>
                <a:spcPct val="113000"/>
              </a:lnSpc>
              <a:spcAft>
                <a:spcPts val="350"/>
              </a:spcAft>
            </a:pPr>
            <a:r>
              <a:rPr lang="ja-JP" altLang="en-US">
                <a:latin typeface="Yu Gothic"/>
                <a:ea typeface="Yu Gothic"/>
                <a:cs typeface="Yu Gothic"/>
              </a:rPr>
              <a:t>　</a:t>
            </a: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例：</a:t>
            </a:r>
            <a:r>
              <a:rPr lang="en" altLang="ja-JP" dirty="0" err="1">
                <a:solidFill>
                  <a:srgbClr val="404040"/>
                </a:solidFill>
                <a:latin typeface="Yu Gothic"/>
                <a:ea typeface="Yu Gothic"/>
                <a:cs typeface="Yu Gothic"/>
              </a:rPr>
              <a:t>genshijin</a:t>
            </a:r>
            <a:r>
              <a:rPr lang="ja-JP" altLang="en-US">
                <a:solidFill>
                  <a:srgbClr val="404040"/>
                </a:solidFill>
                <a:latin typeface="Yu Gothic"/>
                <a:ea typeface="Yu Gothic"/>
                <a:cs typeface="Yu Gothic"/>
              </a:rPr>
              <a:t>スキルと同等の内容を</a:t>
            </a:r>
            <a:r>
              <a:rPr lang="en" altLang="ja-JP" dirty="0">
                <a:solidFill>
                  <a:srgbClr val="404040"/>
                </a:solidFill>
                <a:latin typeface="Yu Gothic"/>
                <a:ea typeface="Yu Gothic"/>
                <a:cs typeface="Yu Gothic"/>
              </a:rPr>
              <a:t>output style</a:t>
            </a:r>
            <a:r>
              <a:rPr lang="ja-JP" altLang="en-US">
                <a:solidFill>
                  <a:srgbClr val="404040"/>
                </a:solidFill>
                <a:latin typeface="Yu Gothic"/>
                <a:ea typeface="Yu Gothic"/>
                <a:cs typeface="Yu Gothic"/>
              </a:rPr>
              <a:t>に設定し、簡潔に出力させる</a:t>
            </a:r>
          </a:p>
          <a:p>
            <a:pPr marL="274320" indent="0">
              <a:lnSpc>
                <a:spcPct val="113000"/>
              </a:lnSpc>
              <a:spcAft>
                <a:spcPts val="350"/>
              </a:spcAft>
            </a:pPr>
            <a:endParaRPr lang="ja-JP" altLang="en-US">
              <a:solidFill>
                <a:srgbClr val="404040"/>
              </a:solidFill>
              <a:latin typeface="Yu Gothic"/>
              <a:ea typeface="Yu Gothic"/>
              <a:cs typeface="Yu Gothic"/>
            </a:endParaRPr>
          </a:p>
          <a:p>
            <a:pPr>
              <a:lnSpc>
                <a:spcPct val="110000"/>
              </a:lnSpc>
              <a:spcBef>
                <a:spcPts val="0"/>
              </a:spcBef>
              <a:spcAft>
                <a:spcPts val="300"/>
              </a:spcAft>
            </a:pPr>
            <a:r>
              <a:rPr lang="ja-JP" altLang="en-US" sz="2000" b="1">
                <a:solidFill>
                  <a:srgbClr val="085041"/>
                </a:solidFill>
                <a:highlight>
                  <a:srgbClr val="E1F5EE"/>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E1F5EE"/>
                </a:highlight>
                <a:latin typeface="Yu Gothic" panose="020B0400000000000000" pitchFamily="34" charset="-128"/>
                <a:ea typeface="Yu Gothic" panose="020B0400000000000000" pitchFamily="34" charset="-128"/>
                <a:cs typeface="Meiryo"/>
              </a:rPr>
              <a:t>ポイント・注意点</a:t>
            </a:r>
            <a:r>
              <a:rPr lang="en-US" altLang="ja-JP" sz="1000" b="1" dirty="0">
                <a:solidFill>
                  <a:srgbClr val="E2F5EE"/>
                </a:solidFill>
                <a:highlight>
                  <a:srgbClr val="E1F5EE"/>
                </a:highlight>
                <a:latin typeface="Yu Gothic" panose="020B0400000000000000" pitchFamily="34" charset="-128"/>
                <a:ea typeface="Yu Gothic" panose="020B0400000000000000" pitchFamily="34" charset="-128"/>
                <a:cs typeface="Meiryo"/>
              </a:rPr>
              <a:t>a</a:t>
            </a:r>
            <a:r>
              <a:rPr lang="ja-JP" altLang="en-US" sz="2000" b="1">
                <a:solidFill>
                  <a:srgbClr val="085041"/>
                </a:solidFill>
                <a:highlight>
                  <a:srgbClr val="E1F5EE"/>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設定時に必須のオプション：</a:t>
            </a:r>
            <a:r>
              <a:rPr lang="en" altLang="ja-JP" dirty="0">
                <a:solidFill>
                  <a:srgbClr val="404040"/>
                </a:solidFill>
                <a:latin typeface="Yu Gothic"/>
                <a:ea typeface="Yu Gothic"/>
                <a:cs typeface="Yu Gothic"/>
              </a:rPr>
              <a:t>keep-coding-instructions: true</a:t>
            </a:r>
          </a:p>
          <a:p>
            <a:pPr marL="548640" indent="0">
              <a:lnSpc>
                <a:spcPct val="113000"/>
              </a:lnSpc>
              <a:spcAft>
                <a:spcPts val="350"/>
              </a:spcAft>
            </a:pPr>
            <a:r>
              <a:rPr lang="en" altLang="ja-JP" dirty="0">
                <a:solidFill>
                  <a:srgbClr val="8C8C8C"/>
                </a:solidFill>
                <a:latin typeface="Yu Gothic"/>
                <a:ea typeface="Yu Gothic"/>
                <a:cs typeface="Yu Gothic"/>
              </a:rPr>
              <a:t>– </a:t>
            </a:r>
            <a:r>
              <a:rPr lang="en" altLang="ja-JP" dirty="0">
                <a:solidFill>
                  <a:srgbClr val="404040"/>
                </a:solidFill>
                <a:latin typeface="Yu Gothic"/>
                <a:ea typeface="Yu Gothic"/>
                <a:cs typeface="Yu Gothic"/>
              </a:rPr>
              <a:t>Claude Code</a:t>
            </a:r>
            <a:r>
              <a:rPr lang="ja-JP" altLang="en-US">
                <a:solidFill>
                  <a:srgbClr val="404040"/>
                </a:solidFill>
                <a:latin typeface="Yu Gothic"/>
                <a:ea typeface="Yu Gothic"/>
                <a:cs typeface="Yu Gothic"/>
              </a:rPr>
              <a:t>が元々持っているソフトウェアエンジニアリングの振る舞いが失われてしまう</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最近追加された</a:t>
            </a:r>
            <a:r>
              <a:rPr lang="en" altLang="ja-JP" dirty="0">
                <a:solidFill>
                  <a:srgbClr val="404040"/>
                </a:solidFill>
                <a:latin typeface="Yu Gothic"/>
                <a:ea typeface="Yu Gothic"/>
                <a:cs typeface="Yu Gothic"/>
              </a:rPr>
              <a:t>Concise</a:t>
            </a:r>
            <a:r>
              <a:rPr lang="ja-JP" altLang="en-US">
                <a:solidFill>
                  <a:srgbClr val="404040"/>
                </a:solidFill>
                <a:latin typeface="Yu Gothic"/>
                <a:ea typeface="Yu Gothic"/>
                <a:cs typeface="Yu Gothic"/>
              </a:rPr>
              <a:t>を設定することで、出力形式を簡潔にすることができる</a:t>
            </a:r>
          </a:p>
        </p:txBody>
      </p:sp>
      <p:sp>
        <p:nvSpPr>
          <p:cNvPr id="7" name="TextBox 1">
            <a:extLst>
              <a:ext uri="{FF2B5EF4-FFF2-40B4-BE49-F238E27FC236}">
                <a16:creationId xmlns:a16="http://schemas.microsoft.com/office/drawing/2014/main" id="{304D4168-7F81-9309-E865-D1F0E7186684}"/>
              </a:ext>
            </a:extLst>
          </p:cNvPr>
          <p:cNvSpPr txBox="1"/>
          <p:nvPr/>
        </p:nvSpPr>
        <p:spPr>
          <a:xfrm>
            <a:off x="658368" y="274320"/>
            <a:ext cx="2994731" cy="307777"/>
          </a:xfrm>
          <a:prstGeom prst="rect">
            <a:avLst/>
          </a:prstGeom>
          <a:noFill/>
        </p:spPr>
        <p:txBody>
          <a:bodyPr wrap="none">
            <a:spAutoFit/>
          </a:bodyPr>
          <a:lstStyle/>
          <a:p>
            <a:r>
              <a:rPr lang="en-US" sz="1400" dirty="0">
                <a:solidFill>
                  <a:schemeClr val="bg1">
                    <a:lumMod val="65000"/>
                  </a:schemeClr>
                </a:solidFill>
                <a:latin typeface="Yu Gothic" panose="020B0400000000000000" pitchFamily="34" charset="-128"/>
                <a:ea typeface="Yu Gothic" panose="020B0400000000000000" pitchFamily="34" charset="-128"/>
                <a:cs typeface="Meiryo"/>
              </a:rPr>
              <a:t>02</a:t>
            </a:r>
            <a:r>
              <a:rPr sz="1400" dirty="0">
                <a:solidFill>
                  <a:schemeClr val="bg1">
                    <a:lumMod val="65000"/>
                  </a:schemeClr>
                </a:solidFill>
                <a:latin typeface="Yu Gothic" panose="020B0400000000000000" pitchFamily="34" charset="-128"/>
                <a:ea typeface="Yu Gothic" panose="020B0400000000000000" pitchFamily="34" charset="-128"/>
                <a:cs typeface="Meiryo"/>
              </a:rPr>
              <a:t>. </a:t>
            </a:r>
            <a:r>
              <a:rPr sz="1400" dirty="0" err="1">
                <a:solidFill>
                  <a:schemeClr val="bg1">
                    <a:lumMod val="65000"/>
                  </a:schemeClr>
                </a:solidFill>
                <a:latin typeface="Yu Gothic" panose="020B0400000000000000" pitchFamily="34" charset="-128"/>
                <a:ea typeface="Yu Gothic" panose="020B0400000000000000" pitchFamily="34" charset="-128"/>
                <a:cs typeface="Meiryo"/>
              </a:rPr>
              <a:t>環境・道具として何を整えるか</a:t>
            </a:r>
            <a:endParaRPr sz="1400" dirty="0">
              <a:solidFill>
                <a:schemeClr val="bg1">
                  <a:lumMod val="65000"/>
                </a:schemeClr>
              </a:solidFill>
              <a:latin typeface="Yu Gothic" panose="020B0400000000000000" pitchFamily="34" charset="-128"/>
              <a:ea typeface="Yu Gothic" panose="020B0400000000000000" pitchFamily="34" charset="-128"/>
              <a:cs typeface="Meiry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80" y="530352"/>
            <a:ext cx="11064240" cy="584775"/>
          </a:xfrm>
          <a:prstGeom prst="rect">
            <a:avLst/>
          </a:prstGeom>
          <a:noFill/>
        </p:spPr>
        <p:txBody>
          <a:bodyPr wrap="square">
            <a:spAutoFit/>
          </a:bodyPr>
          <a:lstStyle/>
          <a:p>
            <a:r>
              <a:rPr lang="en-US" altLang="ja-JP" sz="3200" b="1" dirty="0">
                <a:latin typeface="Yu Gothic" panose="020B0400000000000000" pitchFamily="34" charset="-128"/>
                <a:ea typeface="Yu Gothic" panose="020B0400000000000000" pitchFamily="34" charset="-128"/>
                <a:cs typeface="Meiryo"/>
              </a:rPr>
              <a:t>⑤</a:t>
            </a:r>
            <a:r>
              <a:rPr sz="3200" b="1" dirty="0">
                <a:latin typeface="Yu Gothic" panose="020B0400000000000000" pitchFamily="34" charset="-128"/>
                <a:ea typeface="Yu Gothic" panose="020B0400000000000000" pitchFamily="34" charset="-128"/>
                <a:cs typeface="Meiryo"/>
              </a:rPr>
              <a:t> </a:t>
            </a:r>
            <a:r>
              <a:rPr sz="3200" b="1" dirty="0" err="1">
                <a:latin typeface="Yu Gothic" panose="020B0400000000000000" pitchFamily="34" charset="-128"/>
                <a:ea typeface="Yu Gothic" panose="020B0400000000000000" pitchFamily="34" charset="-128"/>
                <a:cs typeface="Meiryo"/>
              </a:rPr>
              <a:t>advisorを設定する</a:t>
            </a:r>
            <a:endParaRPr sz="3200" b="1" dirty="0">
              <a:latin typeface="Yu Gothic" panose="020B0400000000000000" pitchFamily="34" charset="-128"/>
              <a:ea typeface="Yu Gothic" panose="020B0400000000000000" pitchFamily="34" charset="-128"/>
              <a:cs typeface="Meiryo"/>
            </a:endParaRPr>
          </a:p>
        </p:txBody>
      </p:sp>
      <p:sp>
        <p:nvSpPr>
          <p:cNvPr id="4" name="Rectangle 3"/>
          <p:cNvSpPr/>
          <p:nvPr/>
        </p:nvSpPr>
        <p:spPr>
          <a:xfrm>
            <a:off x="676656" y="1225296"/>
            <a:ext cx="1097280" cy="4445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76656" y="1481328"/>
            <a:ext cx="10881360" cy="4335289"/>
          </a:xfrm>
          <a:prstGeom prst="rect">
            <a:avLst/>
          </a:prstGeom>
          <a:noFill/>
        </p:spPr>
        <p:txBody>
          <a:bodyPr wrap="square">
            <a:spAutoFit/>
          </a:bodyPr>
          <a:lstStyle/>
          <a:p>
            <a:pPr>
              <a:lnSpc>
                <a:spcPct val="110000"/>
              </a:lnSpc>
              <a:spcBef>
                <a:spcPts val="0"/>
              </a:spcBef>
              <a:spcAft>
                <a:spcPts val="300"/>
              </a:spcAft>
            </a:pPr>
            <a:r>
              <a:rPr lang="ja-JP" altLang="en-US" sz="2000" b="1">
                <a:solidFill>
                  <a:srgbClr val="FBECE8"/>
                </a:solidFill>
                <a:highlight>
                  <a:srgbClr val="FAECE7"/>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FAECE7"/>
                </a:highlight>
                <a:latin typeface="Yu Gothic" panose="020B0400000000000000" pitchFamily="34" charset="-128"/>
                <a:ea typeface="Yu Gothic" panose="020B0400000000000000" pitchFamily="34" charset="-128"/>
                <a:cs typeface="Meiryo"/>
              </a:rPr>
              <a:t>課題</a:t>
            </a:r>
            <a:r>
              <a:rPr lang="en-US" altLang="ja-JP" sz="1000" b="1" dirty="0">
                <a:solidFill>
                  <a:srgbClr val="FBECE8"/>
                </a:solidFill>
                <a:highlight>
                  <a:srgbClr val="FAECE7"/>
                </a:highlight>
                <a:latin typeface="Yu Gothic" panose="020B0400000000000000" pitchFamily="34" charset="-128"/>
                <a:ea typeface="Yu Gothic" panose="020B0400000000000000" pitchFamily="34" charset="-128"/>
                <a:cs typeface="Meiryo"/>
              </a:rPr>
              <a:t>a</a:t>
            </a:r>
            <a:r>
              <a:rPr lang="ja-JP" altLang="en-US" sz="2000" b="1">
                <a:solidFill>
                  <a:srgbClr val="712B13"/>
                </a:solidFill>
                <a:highlight>
                  <a:srgbClr val="FAECE7"/>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メインモデル（</a:t>
            </a:r>
            <a:r>
              <a:rPr lang="en" altLang="ja-JP" dirty="0">
                <a:solidFill>
                  <a:srgbClr val="404040"/>
                </a:solidFill>
                <a:latin typeface="Yu Gothic"/>
                <a:ea typeface="Yu Gothic"/>
                <a:cs typeface="Yu Gothic"/>
              </a:rPr>
              <a:t>Sonnet</a:t>
            </a:r>
            <a:r>
              <a:rPr lang="ja-JP" altLang="en-US">
                <a:solidFill>
                  <a:srgbClr val="404040"/>
                </a:solidFill>
                <a:latin typeface="Yu Gothic"/>
                <a:ea typeface="Yu Gothic"/>
                <a:cs typeface="Yu Gothic"/>
              </a:rPr>
              <a:t>等）だけで進めると、難度の高い設計や複雑なエラーループで詰まってしまうことがある</a:t>
            </a:r>
          </a:p>
          <a:p>
            <a:pPr marL="274320" indent="0">
              <a:lnSpc>
                <a:spcPct val="113000"/>
              </a:lnSpc>
              <a:spcAft>
                <a:spcPts val="350"/>
              </a:spcAft>
            </a:pPr>
            <a:endParaRPr lang="ja-JP" altLang="en-US">
              <a:solidFill>
                <a:srgbClr val="404040"/>
              </a:solidFill>
              <a:latin typeface="Yu Gothic"/>
              <a:ea typeface="Yu Gothic"/>
              <a:cs typeface="Yu Gothic"/>
            </a:endParaRPr>
          </a:p>
          <a:p>
            <a:pPr>
              <a:lnSpc>
                <a:spcPct val="110000"/>
              </a:lnSpc>
              <a:spcBef>
                <a:spcPts val="0"/>
              </a:spcBef>
              <a:spcAft>
                <a:spcPts val="300"/>
              </a:spcAft>
            </a:pPr>
            <a:r>
              <a:rPr lang="ja-JP" altLang="en-US" sz="2000" b="1">
                <a:solidFill>
                  <a:srgbClr val="0C447C"/>
                </a:solidFill>
                <a:highlight>
                  <a:srgbClr val="E6F1FB"/>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E6F1FB"/>
                </a:highlight>
                <a:latin typeface="Yu Gothic" panose="020B0400000000000000" pitchFamily="34" charset="-128"/>
                <a:ea typeface="Yu Gothic" panose="020B0400000000000000" pitchFamily="34" charset="-128"/>
                <a:cs typeface="Meiryo"/>
              </a:rPr>
              <a:t>活用方法</a:t>
            </a:r>
            <a:r>
              <a:rPr lang="en-US" altLang="ja-JP" sz="1000" b="1" dirty="0">
                <a:solidFill>
                  <a:srgbClr val="E7F2FC"/>
                </a:solidFill>
                <a:highlight>
                  <a:srgbClr val="E6F1FB"/>
                </a:highlight>
                <a:latin typeface="Yu Gothic" panose="020B0400000000000000" pitchFamily="34" charset="-128"/>
                <a:ea typeface="Yu Gothic" panose="020B0400000000000000" pitchFamily="34" charset="-128"/>
                <a:cs typeface="Meiryo"/>
              </a:rPr>
              <a:t>a</a:t>
            </a:r>
            <a:r>
              <a:rPr lang="ja-JP" altLang="en-US" sz="2000" b="1">
                <a:solidFill>
                  <a:srgbClr val="0C447C"/>
                </a:solidFill>
                <a:highlight>
                  <a:srgbClr val="E6F1FB"/>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en" altLang="ja-JP" dirty="0">
                <a:solidFill>
                  <a:srgbClr val="404040"/>
                </a:solidFill>
                <a:latin typeface="Yu Gothic"/>
                <a:ea typeface="Yu Gothic"/>
                <a:cs typeface="Yu Gothic"/>
              </a:rPr>
              <a:t>advisor</a:t>
            </a:r>
            <a:r>
              <a:rPr lang="ja-JP" altLang="en-US">
                <a:solidFill>
                  <a:srgbClr val="404040"/>
                </a:solidFill>
                <a:latin typeface="Yu Gothic"/>
                <a:ea typeface="Yu Gothic"/>
                <a:cs typeface="Yu Gothic"/>
              </a:rPr>
              <a:t>を設定し、要所要所でメインとは別の「もう一段階強いモデル（</a:t>
            </a:r>
            <a:r>
              <a:rPr lang="en" altLang="ja-JP" dirty="0">
                <a:solidFill>
                  <a:srgbClr val="404040"/>
                </a:solidFill>
                <a:latin typeface="Yu Gothic"/>
                <a:ea typeface="Yu Gothic"/>
                <a:cs typeface="Yu Gothic"/>
              </a:rPr>
              <a:t>Opus</a:t>
            </a:r>
            <a:r>
              <a:rPr lang="ja-JP" altLang="en-US">
                <a:solidFill>
                  <a:srgbClr val="404040"/>
                </a:solidFill>
                <a:latin typeface="Yu Gothic"/>
                <a:ea typeface="Yu Gothic"/>
                <a:cs typeface="Yu Gothic"/>
              </a:rPr>
              <a:t>等）」に相談させる</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大きなリファクタ、同じエラーの連続発生、タスク完了を宣言する前のチェックなどで効果を発揮</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設定方法：</a:t>
            </a:r>
            <a:r>
              <a:rPr lang="en-US" altLang="ja-JP" dirty="0">
                <a:solidFill>
                  <a:srgbClr val="404040"/>
                </a:solidFill>
                <a:latin typeface="Yu Gothic"/>
                <a:ea typeface="Yu Gothic"/>
                <a:cs typeface="Yu Gothic"/>
              </a:rPr>
              <a:t>/</a:t>
            </a:r>
            <a:r>
              <a:rPr lang="en" altLang="ja-JP" dirty="0">
                <a:solidFill>
                  <a:srgbClr val="404040"/>
                </a:solidFill>
                <a:latin typeface="Yu Gothic"/>
                <a:ea typeface="Yu Gothic"/>
                <a:cs typeface="Yu Gothic"/>
              </a:rPr>
              <a:t>advisor opus</a:t>
            </a:r>
            <a:r>
              <a:rPr lang="ja-JP" altLang="en">
                <a:solidFill>
                  <a:srgbClr val="404040"/>
                </a:solidFill>
                <a:latin typeface="Yu Gothic"/>
                <a:ea typeface="Yu Gothic"/>
                <a:cs typeface="Yu Gothic"/>
              </a:rPr>
              <a:t>、</a:t>
            </a:r>
            <a:r>
              <a:rPr lang="ja-JP" altLang="en-US">
                <a:solidFill>
                  <a:srgbClr val="404040"/>
                </a:solidFill>
                <a:latin typeface="Yu Gothic"/>
                <a:ea typeface="Yu Gothic"/>
                <a:cs typeface="Yu Gothic"/>
              </a:rPr>
              <a:t>設定ファイルに </a:t>
            </a:r>
            <a:r>
              <a:rPr lang="en-US" altLang="ja-JP" dirty="0">
                <a:solidFill>
                  <a:srgbClr val="404040"/>
                </a:solidFill>
                <a:latin typeface="Yu Gothic"/>
                <a:ea typeface="Yu Gothic"/>
                <a:cs typeface="Yu Gothic"/>
              </a:rPr>
              <a:t>"</a:t>
            </a:r>
            <a:r>
              <a:rPr lang="en" altLang="ja-JP" dirty="0" err="1">
                <a:solidFill>
                  <a:srgbClr val="404040"/>
                </a:solidFill>
                <a:latin typeface="Yu Gothic"/>
                <a:ea typeface="Yu Gothic"/>
                <a:cs typeface="Yu Gothic"/>
              </a:rPr>
              <a:t>advisorModel</a:t>
            </a:r>
            <a:r>
              <a:rPr lang="en" altLang="ja-JP" dirty="0">
                <a:solidFill>
                  <a:srgbClr val="404040"/>
                </a:solidFill>
                <a:latin typeface="Yu Gothic"/>
                <a:ea typeface="Yu Gothic"/>
                <a:cs typeface="Yu Gothic"/>
              </a:rPr>
              <a:t>": "opus”</a:t>
            </a:r>
            <a:r>
              <a:rPr lang="ja-JP" altLang="en">
                <a:solidFill>
                  <a:srgbClr val="404040"/>
                </a:solidFill>
                <a:latin typeface="Yu Gothic"/>
                <a:ea typeface="Yu Gothic"/>
                <a:cs typeface="Yu Gothic"/>
              </a:rPr>
              <a:t>、</a:t>
            </a:r>
            <a:r>
              <a:rPr lang="ja-JP" altLang="en-US">
                <a:solidFill>
                  <a:srgbClr val="404040"/>
                </a:solidFill>
                <a:latin typeface="Yu Gothic"/>
                <a:ea typeface="Yu Gothic"/>
                <a:cs typeface="Yu Gothic"/>
              </a:rPr>
              <a:t>など</a:t>
            </a:r>
          </a:p>
          <a:p>
            <a:pPr marL="274320" indent="0">
              <a:lnSpc>
                <a:spcPct val="113000"/>
              </a:lnSpc>
              <a:spcAft>
                <a:spcPts val="350"/>
              </a:spcAft>
            </a:pPr>
            <a:endParaRPr lang="ja-JP" altLang="en-US">
              <a:solidFill>
                <a:srgbClr val="404040"/>
              </a:solidFill>
              <a:latin typeface="Yu Gothic"/>
              <a:ea typeface="Yu Gothic"/>
              <a:cs typeface="Yu Gothic"/>
            </a:endParaRPr>
          </a:p>
          <a:p>
            <a:pPr>
              <a:lnSpc>
                <a:spcPct val="110000"/>
              </a:lnSpc>
              <a:spcBef>
                <a:spcPts val="0"/>
              </a:spcBef>
              <a:spcAft>
                <a:spcPts val="300"/>
              </a:spcAft>
            </a:pPr>
            <a:r>
              <a:rPr lang="ja-JP" altLang="en-US" sz="2000" b="1">
                <a:solidFill>
                  <a:srgbClr val="085041"/>
                </a:solidFill>
                <a:highlight>
                  <a:srgbClr val="E1F5EE"/>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E1F5EE"/>
                </a:highlight>
                <a:latin typeface="Yu Gothic" panose="020B0400000000000000" pitchFamily="34" charset="-128"/>
                <a:ea typeface="Yu Gothic" panose="020B0400000000000000" pitchFamily="34" charset="-128"/>
                <a:cs typeface="Meiryo"/>
              </a:rPr>
              <a:t>ポイント・注意点</a:t>
            </a:r>
            <a:r>
              <a:rPr lang="en-US" altLang="ja-JP" sz="1000" b="1" dirty="0">
                <a:solidFill>
                  <a:srgbClr val="E2F5EE"/>
                </a:solidFill>
                <a:highlight>
                  <a:srgbClr val="E1F5EE"/>
                </a:highlight>
                <a:latin typeface="Yu Gothic" panose="020B0400000000000000" pitchFamily="34" charset="-128"/>
                <a:ea typeface="Yu Gothic" panose="020B0400000000000000" pitchFamily="34" charset="-128"/>
                <a:cs typeface="Meiryo"/>
              </a:rPr>
              <a:t>a</a:t>
            </a:r>
            <a:r>
              <a:rPr lang="ja-JP" altLang="en-US" sz="2000" b="1">
                <a:solidFill>
                  <a:srgbClr val="085041"/>
                </a:solidFill>
                <a:highlight>
                  <a:srgbClr val="E1F5EE"/>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普段は</a:t>
            </a:r>
            <a:r>
              <a:rPr lang="en" altLang="ja-JP" dirty="0">
                <a:solidFill>
                  <a:srgbClr val="404040"/>
                </a:solidFill>
                <a:latin typeface="Yu Gothic"/>
                <a:ea typeface="Yu Gothic"/>
                <a:cs typeface="Yu Gothic"/>
              </a:rPr>
              <a:t>Sonnet</a:t>
            </a:r>
            <a:r>
              <a:rPr lang="ja-JP" altLang="en-US">
                <a:solidFill>
                  <a:srgbClr val="404040"/>
                </a:solidFill>
                <a:latin typeface="Yu Gothic"/>
                <a:ea typeface="Yu Gothic"/>
                <a:cs typeface="Yu Gothic"/>
              </a:rPr>
              <a:t>で高速・低コストに進め、難所や最終チェックのみ</a:t>
            </a:r>
            <a:r>
              <a:rPr lang="en" altLang="ja-JP" dirty="0">
                <a:solidFill>
                  <a:srgbClr val="404040"/>
                </a:solidFill>
                <a:latin typeface="Yu Gothic"/>
                <a:ea typeface="Yu Gothic"/>
                <a:cs typeface="Yu Gothic"/>
              </a:rPr>
              <a:t>Opus</a:t>
            </a:r>
            <a:r>
              <a:rPr lang="ja-JP" altLang="en-US">
                <a:solidFill>
                  <a:srgbClr val="404040"/>
                </a:solidFill>
                <a:latin typeface="Yu Gothic"/>
                <a:ea typeface="Yu Gothic"/>
                <a:cs typeface="Yu Gothic"/>
              </a:rPr>
              <a:t>に相談させる構成にすることで、スピード・コスト・品質のベストバランスを作れる</a:t>
            </a:r>
          </a:p>
        </p:txBody>
      </p:sp>
      <p:sp>
        <p:nvSpPr>
          <p:cNvPr id="7" name="TextBox 1">
            <a:extLst>
              <a:ext uri="{FF2B5EF4-FFF2-40B4-BE49-F238E27FC236}">
                <a16:creationId xmlns:a16="http://schemas.microsoft.com/office/drawing/2014/main" id="{9E6B0D1D-E64F-00DF-86E9-587EB02BD4FB}"/>
              </a:ext>
            </a:extLst>
          </p:cNvPr>
          <p:cNvSpPr txBox="1"/>
          <p:nvPr/>
        </p:nvSpPr>
        <p:spPr>
          <a:xfrm>
            <a:off x="658368" y="274320"/>
            <a:ext cx="2994731" cy="307777"/>
          </a:xfrm>
          <a:prstGeom prst="rect">
            <a:avLst/>
          </a:prstGeom>
          <a:noFill/>
        </p:spPr>
        <p:txBody>
          <a:bodyPr wrap="none">
            <a:spAutoFit/>
          </a:bodyPr>
          <a:lstStyle/>
          <a:p>
            <a:r>
              <a:rPr lang="en-US" sz="1400" dirty="0">
                <a:solidFill>
                  <a:schemeClr val="bg1">
                    <a:lumMod val="65000"/>
                  </a:schemeClr>
                </a:solidFill>
                <a:latin typeface="Yu Gothic" panose="020B0400000000000000" pitchFamily="34" charset="-128"/>
                <a:ea typeface="Yu Gothic" panose="020B0400000000000000" pitchFamily="34" charset="-128"/>
                <a:cs typeface="Meiryo"/>
              </a:rPr>
              <a:t>02</a:t>
            </a:r>
            <a:r>
              <a:rPr sz="1400" dirty="0">
                <a:solidFill>
                  <a:schemeClr val="bg1">
                    <a:lumMod val="65000"/>
                  </a:schemeClr>
                </a:solidFill>
                <a:latin typeface="Yu Gothic" panose="020B0400000000000000" pitchFamily="34" charset="-128"/>
                <a:ea typeface="Yu Gothic" panose="020B0400000000000000" pitchFamily="34" charset="-128"/>
                <a:cs typeface="Meiryo"/>
              </a:rPr>
              <a:t>. </a:t>
            </a:r>
            <a:r>
              <a:rPr sz="1400" dirty="0" err="1">
                <a:solidFill>
                  <a:schemeClr val="bg1">
                    <a:lumMod val="65000"/>
                  </a:schemeClr>
                </a:solidFill>
                <a:latin typeface="Yu Gothic" panose="020B0400000000000000" pitchFamily="34" charset="-128"/>
                <a:ea typeface="Yu Gothic" panose="020B0400000000000000" pitchFamily="34" charset="-128"/>
                <a:cs typeface="Meiryo"/>
              </a:rPr>
              <a:t>環境・道具として何を整えるか</a:t>
            </a:r>
            <a:endParaRPr sz="1400" dirty="0">
              <a:solidFill>
                <a:schemeClr val="bg1">
                  <a:lumMod val="65000"/>
                </a:schemeClr>
              </a:solidFill>
              <a:latin typeface="Yu Gothic" panose="020B0400000000000000" pitchFamily="34" charset="-128"/>
              <a:ea typeface="Yu Gothic" panose="020B0400000000000000" pitchFamily="34" charset="-128"/>
              <a:cs typeface="Meiry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80" y="530352"/>
            <a:ext cx="11064240" cy="584775"/>
          </a:xfrm>
          <a:prstGeom prst="rect">
            <a:avLst/>
          </a:prstGeom>
          <a:noFill/>
        </p:spPr>
        <p:txBody>
          <a:bodyPr wrap="square">
            <a:spAutoFit/>
          </a:bodyPr>
          <a:lstStyle/>
          <a:p>
            <a:r>
              <a:rPr lang="en-US" altLang="ja-JP" sz="3200" b="1" dirty="0">
                <a:latin typeface="Yu Gothic" panose="020B0400000000000000" pitchFamily="34" charset="-128"/>
                <a:ea typeface="Yu Gothic" panose="020B0400000000000000" pitchFamily="34" charset="-128"/>
                <a:cs typeface="Meiryo"/>
              </a:rPr>
              <a:t>⑥</a:t>
            </a:r>
            <a:r>
              <a:rPr sz="3200" b="1" dirty="0">
                <a:latin typeface="Yu Gothic" panose="020B0400000000000000" pitchFamily="34" charset="-128"/>
                <a:ea typeface="Yu Gothic" panose="020B0400000000000000" pitchFamily="34" charset="-128"/>
                <a:cs typeface="Meiryo"/>
              </a:rPr>
              <a:t> </a:t>
            </a:r>
            <a:r>
              <a:rPr sz="3200" b="1" dirty="0" err="1">
                <a:latin typeface="Yu Gothic" panose="020B0400000000000000" pitchFamily="34" charset="-128"/>
                <a:ea typeface="Yu Gothic" panose="020B0400000000000000" pitchFamily="34" charset="-128"/>
                <a:cs typeface="Meiryo"/>
              </a:rPr>
              <a:t>スキルを作成・改善する</a:t>
            </a:r>
            <a:endParaRPr sz="3200" b="1" dirty="0">
              <a:latin typeface="Yu Gothic" panose="020B0400000000000000" pitchFamily="34" charset="-128"/>
              <a:ea typeface="Yu Gothic" panose="020B0400000000000000" pitchFamily="34" charset="-128"/>
              <a:cs typeface="Meiryo"/>
            </a:endParaRPr>
          </a:p>
        </p:txBody>
      </p:sp>
      <p:sp>
        <p:nvSpPr>
          <p:cNvPr id="4" name="Rectangle 3"/>
          <p:cNvSpPr/>
          <p:nvPr/>
        </p:nvSpPr>
        <p:spPr>
          <a:xfrm>
            <a:off x="676656" y="1225296"/>
            <a:ext cx="1097280" cy="4445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76656" y="1481328"/>
            <a:ext cx="10881360" cy="5063950"/>
          </a:xfrm>
          <a:prstGeom prst="rect">
            <a:avLst/>
          </a:prstGeom>
          <a:noFill/>
        </p:spPr>
        <p:txBody>
          <a:bodyPr wrap="square">
            <a:spAutoFit/>
          </a:bodyPr>
          <a:lstStyle/>
          <a:p>
            <a:pPr>
              <a:lnSpc>
                <a:spcPct val="110000"/>
              </a:lnSpc>
              <a:spcBef>
                <a:spcPts val="0"/>
              </a:spcBef>
              <a:spcAft>
                <a:spcPts val="300"/>
              </a:spcAft>
            </a:pPr>
            <a:r>
              <a:rPr lang="ja-JP" altLang="en-US" sz="2000" b="1">
                <a:solidFill>
                  <a:srgbClr val="FBECE8"/>
                </a:solidFill>
                <a:highlight>
                  <a:srgbClr val="FAECE7"/>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FAECE7"/>
                </a:highlight>
                <a:latin typeface="Yu Gothic" panose="020B0400000000000000" pitchFamily="34" charset="-128"/>
                <a:ea typeface="Yu Gothic" panose="020B0400000000000000" pitchFamily="34" charset="-128"/>
                <a:cs typeface="Meiryo"/>
              </a:rPr>
              <a:t>課題</a:t>
            </a:r>
            <a:r>
              <a:rPr lang="en-US" altLang="ja-JP" sz="1000" b="1" dirty="0">
                <a:solidFill>
                  <a:srgbClr val="FBECE8"/>
                </a:solidFill>
                <a:highlight>
                  <a:srgbClr val="FAECE7"/>
                </a:highlight>
                <a:latin typeface="Yu Gothic" panose="020B0400000000000000" pitchFamily="34" charset="-128"/>
                <a:ea typeface="Yu Gothic" panose="020B0400000000000000" pitchFamily="34" charset="-128"/>
                <a:cs typeface="Meiryo"/>
              </a:rPr>
              <a:t>a</a:t>
            </a:r>
            <a:r>
              <a:rPr lang="ja-JP" altLang="en-US" sz="2000" b="1">
                <a:solidFill>
                  <a:srgbClr val="712B13"/>
                </a:solidFill>
                <a:highlight>
                  <a:srgbClr val="FAECE7"/>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同じような定型作業を繰り返すたびに、毎回プロンプトを組み立てるのは非効率でばらつきが出る</a:t>
            </a:r>
          </a:p>
          <a:p>
            <a:pPr marL="274320" indent="0">
              <a:lnSpc>
                <a:spcPct val="113000"/>
              </a:lnSpc>
              <a:spcAft>
                <a:spcPts val="350"/>
              </a:spcAft>
            </a:pPr>
            <a:endParaRPr lang="ja-JP" altLang="en-US">
              <a:solidFill>
                <a:srgbClr val="404040"/>
              </a:solidFill>
              <a:latin typeface="Yu Gothic"/>
              <a:ea typeface="Yu Gothic"/>
              <a:cs typeface="Yu Gothic"/>
            </a:endParaRPr>
          </a:p>
          <a:p>
            <a:pPr>
              <a:lnSpc>
                <a:spcPct val="110000"/>
              </a:lnSpc>
              <a:spcBef>
                <a:spcPts val="0"/>
              </a:spcBef>
              <a:spcAft>
                <a:spcPts val="300"/>
              </a:spcAft>
            </a:pPr>
            <a:r>
              <a:rPr lang="ja-JP" altLang="en-US" sz="2000" b="1">
                <a:solidFill>
                  <a:srgbClr val="0C447C"/>
                </a:solidFill>
                <a:highlight>
                  <a:srgbClr val="E6F1FB"/>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E6F1FB"/>
                </a:highlight>
                <a:latin typeface="Yu Gothic" panose="020B0400000000000000" pitchFamily="34" charset="-128"/>
                <a:ea typeface="Yu Gothic" panose="020B0400000000000000" pitchFamily="34" charset="-128"/>
                <a:cs typeface="Meiryo"/>
              </a:rPr>
              <a:t>活用方法</a:t>
            </a:r>
            <a:r>
              <a:rPr lang="en-US" altLang="ja-JP" sz="1000" b="1" dirty="0">
                <a:solidFill>
                  <a:srgbClr val="E7F2FC"/>
                </a:solidFill>
                <a:highlight>
                  <a:srgbClr val="E6F1FB"/>
                </a:highlight>
                <a:latin typeface="Yu Gothic" panose="020B0400000000000000" pitchFamily="34" charset="-128"/>
                <a:ea typeface="Yu Gothic" panose="020B0400000000000000" pitchFamily="34" charset="-128"/>
                <a:cs typeface="Meiryo"/>
              </a:rPr>
              <a:t>a</a:t>
            </a:r>
            <a:r>
              <a:rPr lang="ja-JP" altLang="en-US" sz="2000" b="1">
                <a:solidFill>
                  <a:srgbClr val="0C447C"/>
                </a:solidFill>
                <a:highlight>
                  <a:srgbClr val="E6F1FB"/>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定型作業をどんどんスキル化する：細かい設計に悩みすぎるより、繰り返し行う作業をスキルとして切り出すだけで開発効率が向上する</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作成したスキルを</a:t>
            </a:r>
            <a:r>
              <a:rPr lang="en-US" altLang="ja-JP" dirty="0">
                <a:solidFill>
                  <a:srgbClr val="404040"/>
                </a:solidFill>
                <a:latin typeface="Yu Gothic"/>
                <a:ea typeface="Yu Gothic"/>
                <a:cs typeface="Yu Gothic"/>
              </a:rPr>
              <a:t>3</a:t>
            </a:r>
            <a:r>
              <a:rPr lang="ja-JP" altLang="en-US">
                <a:solidFill>
                  <a:srgbClr val="404040"/>
                </a:solidFill>
                <a:latin typeface="Yu Gothic"/>
                <a:ea typeface="Yu Gothic"/>
                <a:cs typeface="Yu Gothic"/>
              </a:rPr>
              <a:t>つの観点で改善・高度化する</a:t>
            </a:r>
          </a:p>
          <a:p>
            <a:pPr marL="548640" indent="0">
              <a:lnSpc>
                <a:spcPct val="113000"/>
              </a:lnSpc>
              <a:spcAft>
                <a:spcPts val="350"/>
              </a:spcAft>
            </a:pPr>
            <a:r>
              <a:rPr lang="en-US" altLang="ja-JP" dirty="0">
                <a:solidFill>
                  <a:srgbClr val="8C8C8C"/>
                </a:solidFill>
                <a:latin typeface="Yu Gothic"/>
                <a:ea typeface="Yu Gothic"/>
                <a:cs typeface="Yu Gothic"/>
              </a:rPr>
              <a:t>– </a:t>
            </a:r>
            <a:r>
              <a:rPr lang="ja-JP" altLang="en-US">
                <a:solidFill>
                  <a:srgbClr val="404040"/>
                </a:solidFill>
                <a:latin typeface="Yu Gothic"/>
                <a:ea typeface="Yu Gothic"/>
                <a:cs typeface="Yu Gothic"/>
              </a:rPr>
              <a:t>スクリプト化：定型処理はスクリプトに落とし込み、</a:t>
            </a:r>
            <a:r>
              <a:rPr lang="en" altLang="ja-JP" dirty="0">
                <a:solidFill>
                  <a:srgbClr val="404040"/>
                </a:solidFill>
                <a:latin typeface="Yu Gothic"/>
                <a:ea typeface="Yu Gothic"/>
                <a:cs typeface="Yu Gothic"/>
              </a:rPr>
              <a:t>AI</a:t>
            </a:r>
            <a:r>
              <a:rPr lang="ja-JP" altLang="en-US">
                <a:solidFill>
                  <a:srgbClr val="404040"/>
                </a:solidFill>
                <a:latin typeface="Yu Gothic"/>
                <a:ea typeface="Yu Gothic"/>
                <a:cs typeface="Yu Gothic"/>
              </a:rPr>
              <a:t>に都度考えさせず確実に実行させる</a:t>
            </a:r>
          </a:p>
          <a:p>
            <a:pPr marL="548640" indent="0">
              <a:lnSpc>
                <a:spcPct val="113000"/>
              </a:lnSpc>
              <a:spcAft>
                <a:spcPts val="350"/>
              </a:spcAft>
            </a:pPr>
            <a:r>
              <a:rPr lang="en-US" altLang="ja-JP" dirty="0">
                <a:solidFill>
                  <a:srgbClr val="8C8C8C"/>
                </a:solidFill>
                <a:latin typeface="Yu Gothic"/>
                <a:ea typeface="Yu Gothic"/>
                <a:cs typeface="Yu Gothic"/>
              </a:rPr>
              <a:t>– </a:t>
            </a:r>
            <a:r>
              <a:rPr lang="ja-JP" altLang="en-US">
                <a:solidFill>
                  <a:srgbClr val="404040"/>
                </a:solidFill>
                <a:latin typeface="Yu Gothic"/>
                <a:ea typeface="Yu Gothic"/>
                <a:cs typeface="Yu Gothic"/>
              </a:rPr>
              <a:t>ファイル切り出し（段階的開示）：必要なタイミングで必要な情報だけを読ませる設計にする</a:t>
            </a:r>
          </a:p>
          <a:p>
            <a:pPr marL="548640" indent="0">
              <a:lnSpc>
                <a:spcPct val="113000"/>
              </a:lnSpc>
              <a:spcAft>
                <a:spcPts val="350"/>
              </a:spcAft>
            </a:pPr>
            <a:r>
              <a:rPr lang="en-US" altLang="ja-JP" dirty="0">
                <a:solidFill>
                  <a:srgbClr val="8C8C8C"/>
                </a:solidFill>
                <a:latin typeface="Yu Gothic"/>
                <a:ea typeface="Yu Gothic"/>
                <a:cs typeface="Yu Gothic"/>
              </a:rPr>
              <a:t>– </a:t>
            </a:r>
            <a:r>
              <a:rPr lang="en-US" altLang="ja-JP" dirty="0">
                <a:solidFill>
                  <a:srgbClr val="404040"/>
                </a:solidFill>
                <a:latin typeface="Yu Gothic"/>
                <a:ea typeface="Yu Gothic"/>
                <a:cs typeface="Yu Gothic"/>
              </a:rPr>
              <a:t>2</a:t>
            </a:r>
            <a:r>
              <a:rPr lang="ja-JP" altLang="en-US">
                <a:solidFill>
                  <a:srgbClr val="404040"/>
                </a:solidFill>
                <a:latin typeface="Yu Gothic"/>
                <a:ea typeface="Yu Gothic"/>
                <a:cs typeface="Yu Gothic"/>
              </a:rPr>
              <a:t>段階検証：スキルの実行結果自体をもう一段階チェックする仕組みを組み込む</a:t>
            </a:r>
          </a:p>
          <a:p>
            <a:pPr marL="548640" indent="0">
              <a:lnSpc>
                <a:spcPct val="113000"/>
              </a:lnSpc>
              <a:spcAft>
                <a:spcPts val="350"/>
              </a:spcAft>
            </a:pPr>
            <a:endParaRPr lang="ja-JP" altLang="en-US">
              <a:solidFill>
                <a:srgbClr val="404040"/>
              </a:solidFill>
              <a:latin typeface="Yu Gothic"/>
              <a:ea typeface="Yu Gothic"/>
              <a:cs typeface="Yu Gothic"/>
            </a:endParaRPr>
          </a:p>
          <a:p>
            <a:pPr>
              <a:lnSpc>
                <a:spcPct val="110000"/>
              </a:lnSpc>
              <a:spcBef>
                <a:spcPts val="0"/>
              </a:spcBef>
              <a:spcAft>
                <a:spcPts val="300"/>
              </a:spcAft>
            </a:pPr>
            <a:r>
              <a:rPr lang="ja-JP" altLang="en-US" sz="2000" b="1">
                <a:solidFill>
                  <a:srgbClr val="085041"/>
                </a:solidFill>
                <a:highlight>
                  <a:srgbClr val="E1F5EE"/>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E1F5EE"/>
                </a:highlight>
                <a:latin typeface="Yu Gothic" panose="020B0400000000000000" pitchFamily="34" charset="-128"/>
                <a:ea typeface="Yu Gothic" panose="020B0400000000000000" pitchFamily="34" charset="-128"/>
                <a:cs typeface="Meiryo"/>
              </a:rPr>
              <a:t>ポイント・注意点</a:t>
            </a:r>
            <a:r>
              <a:rPr lang="en-US" altLang="ja-JP" sz="1000" b="1" dirty="0">
                <a:solidFill>
                  <a:srgbClr val="E2F5EE"/>
                </a:solidFill>
                <a:highlight>
                  <a:srgbClr val="E1F5EE"/>
                </a:highlight>
                <a:latin typeface="Yu Gothic" panose="020B0400000000000000" pitchFamily="34" charset="-128"/>
                <a:ea typeface="Yu Gothic" panose="020B0400000000000000" pitchFamily="34" charset="-128"/>
                <a:cs typeface="Meiryo"/>
              </a:rPr>
              <a:t>a</a:t>
            </a:r>
            <a:r>
              <a:rPr lang="ja-JP" altLang="en-US" sz="2000" b="1">
                <a:solidFill>
                  <a:srgbClr val="085041"/>
                </a:solidFill>
                <a:highlight>
                  <a:srgbClr val="E1F5EE"/>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スクリプト化や段階的開示を取り入れることで、</a:t>
            </a:r>
            <a:r>
              <a:rPr lang="en" altLang="ja-JP" dirty="0">
                <a:solidFill>
                  <a:srgbClr val="404040"/>
                </a:solidFill>
                <a:latin typeface="Yu Gothic"/>
                <a:ea typeface="Yu Gothic"/>
                <a:cs typeface="Yu Gothic"/>
              </a:rPr>
              <a:t>AI</a:t>
            </a:r>
            <a:r>
              <a:rPr lang="ja-JP" altLang="en-US">
                <a:solidFill>
                  <a:srgbClr val="404040"/>
                </a:solidFill>
                <a:latin typeface="Yu Gothic"/>
                <a:ea typeface="Yu Gothic"/>
                <a:cs typeface="Yu Gothic"/>
              </a:rPr>
              <a:t>の挙動が安定するだけでなく、無駄なコンテキスト読み込みを防ぎトークン消費の削減にもつながる</a:t>
            </a:r>
          </a:p>
        </p:txBody>
      </p:sp>
      <p:sp>
        <p:nvSpPr>
          <p:cNvPr id="7" name="TextBox 1">
            <a:extLst>
              <a:ext uri="{FF2B5EF4-FFF2-40B4-BE49-F238E27FC236}">
                <a16:creationId xmlns:a16="http://schemas.microsoft.com/office/drawing/2014/main" id="{190D6C1E-FB32-C83C-759C-ECD7FE5C0A85}"/>
              </a:ext>
            </a:extLst>
          </p:cNvPr>
          <p:cNvSpPr txBox="1"/>
          <p:nvPr/>
        </p:nvSpPr>
        <p:spPr>
          <a:xfrm>
            <a:off x="658368" y="274320"/>
            <a:ext cx="2994731" cy="307777"/>
          </a:xfrm>
          <a:prstGeom prst="rect">
            <a:avLst/>
          </a:prstGeom>
          <a:noFill/>
        </p:spPr>
        <p:txBody>
          <a:bodyPr wrap="none">
            <a:spAutoFit/>
          </a:bodyPr>
          <a:lstStyle/>
          <a:p>
            <a:r>
              <a:rPr lang="en-US" sz="1400" dirty="0">
                <a:solidFill>
                  <a:schemeClr val="bg1">
                    <a:lumMod val="65000"/>
                  </a:schemeClr>
                </a:solidFill>
                <a:latin typeface="Yu Gothic" panose="020B0400000000000000" pitchFamily="34" charset="-128"/>
                <a:ea typeface="Yu Gothic" panose="020B0400000000000000" pitchFamily="34" charset="-128"/>
                <a:cs typeface="Meiryo"/>
              </a:rPr>
              <a:t>02</a:t>
            </a:r>
            <a:r>
              <a:rPr sz="1400" dirty="0">
                <a:solidFill>
                  <a:schemeClr val="bg1">
                    <a:lumMod val="65000"/>
                  </a:schemeClr>
                </a:solidFill>
                <a:latin typeface="Yu Gothic" panose="020B0400000000000000" pitchFamily="34" charset="-128"/>
                <a:ea typeface="Yu Gothic" panose="020B0400000000000000" pitchFamily="34" charset="-128"/>
                <a:cs typeface="Meiryo"/>
              </a:rPr>
              <a:t>. </a:t>
            </a:r>
            <a:r>
              <a:rPr sz="1400" dirty="0" err="1">
                <a:solidFill>
                  <a:schemeClr val="bg1">
                    <a:lumMod val="65000"/>
                  </a:schemeClr>
                </a:solidFill>
                <a:latin typeface="Yu Gothic" panose="020B0400000000000000" pitchFamily="34" charset="-128"/>
                <a:ea typeface="Yu Gothic" panose="020B0400000000000000" pitchFamily="34" charset="-128"/>
                <a:cs typeface="Meiryo"/>
              </a:rPr>
              <a:t>環境・道具として何を整えるか</a:t>
            </a:r>
            <a:endParaRPr sz="1400" dirty="0">
              <a:solidFill>
                <a:schemeClr val="bg1">
                  <a:lumMod val="65000"/>
                </a:schemeClr>
              </a:solidFill>
              <a:latin typeface="Yu Gothic" panose="020B0400000000000000" pitchFamily="34" charset="-128"/>
              <a:ea typeface="Yu Gothic" panose="020B0400000000000000" pitchFamily="34" charset="-128"/>
              <a:cs typeface="Meiry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5800" y="822960"/>
            <a:ext cx="3657600" cy="2377440"/>
          </a:xfrm>
          <a:prstGeom prst="rect">
            <a:avLst/>
          </a:prstGeom>
          <a:noFill/>
          <a:ln/>
        </p:spPr>
        <p:txBody>
          <a:bodyPr wrap="square" rtlCol="0" anchor="ctr"/>
          <a:lstStyle/>
          <a:p>
            <a:pPr marL="0" indent="0">
              <a:buNone/>
            </a:pPr>
            <a:r>
              <a:rPr lang="en-US" sz="13000" b="1" dirty="0">
                <a:solidFill>
                  <a:srgbClr val="C1613F"/>
                </a:solidFill>
                <a:latin typeface="Yu Gothic" pitchFamily="34" charset="0"/>
                <a:ea typeface="Yu Gothic" pitchFamily="34" charset="-122"/>
                <a:cs typeface="Yu Gothic" pitchFamily="34" charset="-120"/>
              </a:rPr>
              <a:t>03</a:t>
            </a:r>
            <a:endParaRPr lang="en-US" sz="13000" dirty="0"/>
          </a:p>
        </p:txBody>
      </p:sp>
      <p:sp>
        <p:nvSpPr>
          <p:cNvPr id="3" name="Text 1"/>
          <p:cNvSpPr/>
          <p:nvPr/>
        </p:nvSpPr>
        <p:spPr>
          <a:xfrm>
            <a:off x="777240" y="3246120"/>
            <a:ext cx="9875520" cy="914400"/>
          </a:xfrm>
          <a:prstGeom prst="rect">
            <a:avLst/>
          </a:prstGeom>
          <a:noFill/>
          <a:ln/>
        </p:spPr>
        <p:txBody>
          <a:bodyPr wrap="square" rtlCol="0" anchor="ctr"/>
          <a:lstStyle/>
          <a:p>
            <a:pPr marL="0" indent="0">
              <a:buNone/>
            </a:pPr>
            <a:r>
              <a:rPr lang="en-US" sz="3400" b="1" dirty="0">
                <a:solidFill>
                  <a:srgbClr val="3B322B"/>
                </a:solidFill>
                <a:latin typeface="Yu Gothic" pitchFamily="34" charset="0"/>
                <a:ea typeface="Yu Gothic" pitchFamily="34" charset="-122"/>
                <a:cs typeface="Yu Gothic" pitchFamily="34" charset="-120"/>
              </a:rPr>
              <a:t>検証のループをどう回すか</a:t>
            </a:r>
            <a:endParaRPr lang="en-US" sz="3400" dirty="0"/>
          </a:p>
        </p:txBody>
      </p:sp>
      <p:sp>
        <p:nvSpPr>
          <p:cNvPr id="4" name="Text 2"/>
          <p:cNvSpPr/>
          <p:nvPr/>
        </p:nvSpPr>
        <p:spPr>
          <a:xfrm>
            <a:off x="822960" y="4096512"/>
            <a:ext cx="9601200" cy="1097280"/>
          </a:xfrm>
          <a:prstGeom prst="rect">
            <a:avLst/>
          </a:prstGeom>
          <a:noFill/>
          <a:ln/>
        </p:spPr>
        <p:txBody>
          <a:bodyPr wrap="square" rtlCol="0" anchor="t"/>
          <a:lstStyle/>
          <a:p>
            <a:pPr marL="0" indent="0">
              <a:buNone/>
            </a:pPr>
            <a:r>
              <a:rPr lang="en-US" sz="1700" dirty="0">
                <a:solidFill>
                  <a:srgbClr val="8C8074"/>
                </a:solidFill>
                <a:latin typeface="Yu Gothic" pitchFamily="34" charset="0"/>
                <a:ea typeface="Yu Gothic" pitchFamily="34" charset="-122"/>
                <a:cs typeface="Yu Gothic" pitchFamily="34" charset="-120"/>
              </a:rPr>
              <a:t>どれだけ環境を整えても、Claude Codeの出力を一発で完璧にするのは難しいものです。</a:t>
            </a:r>
            <a:endParaRPr lang="en-US" sz="1700" dirty="0"/>
          </a:p>
          <a:p>
            <a:pPr marL="0" indent="0">
              <a:buNone/>
            </a:pPr>
            <a:r>
              <a:rPr lang="en-US" sz="1700" dirty="0">
                <a:solidFill>
                  <a:srgbClr val="8C8074"/>
                </a:solidFill>
                <a:latin typeface="Yu Gothic" pitchFamily="34" charset="0"/>
                <a:ea typeface="Yu Gothic" pitchFamily="34" charset="-122"/>
                <a:cs typeface="Yu Gothic" pitchFamily="34" charset="-120"/>
              </a:rPr>
              <a:t>「一発勝負」ではなく「検証・修正を繰り返す」という考え方への転換が必要です。ここでは工夫を2つ紹介します。</a:t>
            </a:r>
            <a:endParaRPr lang="en-US" sz="1700" dirty="0"/>
          </a:p>
        </p:txBody>
      </p:sp>
      <p:sp>
        <p:nvSpPr>
          <p:cNvPr id="5" name="Shape 3"/>
          <p:cNvSpPr/>
          <p:nvPr/>
        </p:nvSpPr>
        <p:spPr>
          <a:xfrm>
            <a:off x="822960" y="5394960"/>
            <a:ext cx="2743200" cy="530352"/>
          </a:xfrm>
          <a:prstGeom prst="roundRect">
            <a:avLst>
              <a:gd name="adj" fmla="val 50000"/>
            </a:avLst>
          </a:prstGeom>
          <a:solidFill>
            <a:srgbClr val="FBEEE7"/>
          </a:solidFill>
          <a:ln/>
        </p:spPr>
      </p:sp>
      <p:sp>
        <p:nvSpPr>
          <p:cNvPr id="6" name="Text 4"/>
          <p:cNvSpPr/>
          <p:nvPr/>
        </p:nvSpPr>
        <p:spPr>
          <a:xfrm>
            <a:off x="822960" y="5394960"/>
            <a:ext cx="2743200" cy="530352"/>
          </a:xfrm>
          <a:prstGeom prst="rect">
            <a:avLst/>
          </a:prstGeom>
          <a:noFill/>
          <a:ln/>
        </p:spPr>
        <p:txBody>
          <a:bodyPr wrap="square" rtlCol="0" anchor="ctr"/>
          <a:lstStyle/>
          <a:p>
            <a:pPr marL="0" indent="0" algn="ctr">
              <a:buNone/>
            </a:pPr>
            <a:r>
              <a:rPr lang="en-US" sz="1450" b="1" dirty="0" err="1">
                <a:solidFill>
                  <a:srgbClr val="C1613F"/>
                </a:solidFill>
                <a:latin typeface="Yu Gothic" pitchFamily="34" charset="0"/>
                <a:ea typeface="Yu Gothic" pitchFamily="34" charset="-122"/>
                <a:cs typeface="Yu Gothic" pitchFamily="34" charset="-120"/>
              </a:rPr>
              <a:t>工夫</a:t>
            </a:r>
            <a:r>
              <a:rPr lang="en-US" sz="1450" b="1" dirty="0">
                <a:solidFill>
                  <a:srgbClr val="C1613F"/>
                </a:solidFill>
                <a:latin typeface="Yu Gothic" pitchFamily="34" charset="0"/>
                <a:ea typeface="Yu Gothic" pitchFamily="34" charset="-122"/>
                <a:cs typeface="Yu Gothic" pitchFamily="34" charset="-120"/>
              </a:rPr>
              <a:t> ⑦〜⑧</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274320"/>
            <a:ext cx="2635658" cy="307777"/>
          </a:xfrm>
          <a:prstGeom prst="rect">
            <a:avLst/>
          </a:prstGeom>
          <a:noFill/>
        </p:spPr>
        <p:txBody>
          <a:bodyPr wrap="none">
            <a:spAutoFit/>
          </a:bodyPr>
          <a:lstStyle/>
          <a:p>
            <a:r>
              <a:rPr lang="en-US" sz="1400" dirty="0">
                <a:solidFill>
                  <a:schemeClr val="bg1">
                    <a:lumMod val="65000"/>
                  </a:schemeClr>
                </a:solidFill>
                <a:latin typeface="Yu Gothic" panose="020B0400000000000000" pitchFamily="34" charset="-128"/>
                <a:ea typeface="Yu Gothic" panose="020B0400000000000000" pitchFamily="34" charset="-128"/>
                <a:cs typeface="Meiryo"/>
              </a:rPr>
              <a:t>03</a:t>
            </a:r>
            <a:r>
              <a:rPr sz="1400" dirty="0">
                <a:solidFill>
                  <a:schemeClr val="bg1">
                    <a:lumMod val="65000"/>
                  </a:schemeClr>
                </a:solidFill>
                <a:latin typeface="Yu Gothic" panose="020B0400000000000000" pitchFamily="34" charset="-128"/>
                <a:ea typeface="Yu Gothic" panose="020B0400000000000000" pitchFamily="34" charset="-128"/>
                <a:cs typeface="Meiryo"/>
              </a:rPr>
              <a:t>. </a:t>
            </a:r>
            <a:r>
              <a:rPr sz="1400" dirty="0" err="1">
                <a:solidFill>
                  <a:schemeClr val="bg1">
                    <a:lumMod val="65000"/>
                  </a:schemeClr>
                </a:solidFill>
                <a:latin typeface="Yu Gothic" panose="020B0400000000000000" pitchFamily="34" charset="-128"/>
                <a:ea typeface="Yu Gothic" panose="020B0400000000000000" pitchFamily="34" charset="-128"/>
                <a:cs typeface="Meiryo"/>
              </a:rPr>
              <a:t>検証のループをどう回すか</a:t>
            </a:r>
            <a:endParaRPr sz="1400" dirty="0">
              <a:solidFill>
                <a:schemeClr val="bg1">
                  <a:lumMod val="65000"/>
                </a:schemeClr>
              </a:solidFill>
              <a:latin typeface="Yu Gothic" panose="020B0400000000000000" pitchFamily="34" charset="-128"/>
              <a:ea typeface="Yu Gothic" panose="020B0400000000000000" pitchFamily="34" charset="-128"/>
              <a:cs typeface="Meiryo"/>
            </a:endParaRPr>
          </a:p>
        </p:txBody>
      </p:sp>
      <p:sp>
        <p:nvSpPr>
          <p:cNvPr id="3" name="TextBox 2"/>
          <p:cNvSpPr txBox="1"/>
          <p:nvPr/>
        </p:nvSpPr>
        <p:spPr>
          <a:xfrm>
            <a:off x="640080" y="530352"/>
            <a:ext cx="11064240" cy="584775"/>
          </a:xfrm>
          <a:prstGeom prst="rect">
            <a:avLst/>
          </a:prstGeom>
          <a:noFill/>
        </p:spPr>
        <p:txBody>
          <a:bodyPr wrap="square">
            <a:spAutoFit/>
          </a:bodyPr>
          <a:lstStyle/>
          <a:p>
            <a:r>
              <a:rPr lang="en-US" altLang="ja-JP" sz="3200" b="1" dirty="0">
                <a:latin typeface="Yu Gothic" panose="020B0400000000000000" pitchFamily="34" charset="-128"/>
                <a:ea typeface="Yu Gothic" panose="020B0400000000000000" pitchFamily="34" charset="-128"/>
                <a:cs typeface="Meiryo"/>
              </a:rPr>
              <a:t>⑦</a:t>
            </a:r>
            <a:r>
              <a:rPr sz="3200" b="1" dirty="0">
                <a:latin typeface="Yu Gothic" panose="020B0400000000000000" pitchFamily="34" charset="-128"/>
                <a:ea typeface="Yu Gothic" panose="020B0400000000000000" pitchFamily="34" charset="-128"/>
                <a:cs typeface="Meiryo"/>
              </a:rPr>
              <a:t> </a:t>
            </a:r>
            <a:r>
              <a:rPr sz="3200" b="1" dirty="0" err="1">
                <a:latin typeface="Yu Gothic" panose="020B0400000000000000" pitchFamily="34" charset="-128"/>
                <a:ea typeface="Yu Gothic" panose="020B0400000000000000" pitchFamily="34" charset="-128"/>
                <a:cs typeface="Meiryo"/>
              </a:rPr>
              <a:t>検証のループを回す</a:t>
            </a:r>
            <a:endParaRPr sz="3200" b="1" dirty="0">
              <a:latin typeface="Yu Gothic" panose="020B0400000000000000" pitchFamily="34" charset="-128"/>
              <a:ea typeface="Yu Gothic" panose="020B0400000000000000" pitchFamily="34" charset="-128"/>
              <a:cs typeface="Meiryo"/>
            </a:endParaRPr>
          </a:p>
        </p:txBody>
      </p:sp>
      <p:sp>
        <p:nvSpPr>
          <p:cNvPr id="4" name="Rectangle 3"/>
          <p:cNvSpPr/>
          <p:nvPr/>
        </p:nvSpPr>
        <p:spPr>
          <a:xfrm>
            <a:off x="676656" y="1225296"/>
            <a:ext cx="1097280" cy="4445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76656" y="1481328"/>
            <a:ext cx="10881360" cy="5012654"/>
          </a:xfrm>
          <a:prstGeom prst="rect">
            <a:avLst/>
          </a:prstGeom>
          <a:noFill/>
        </p:spPr>
        <p:txBody>
          <a:bodyPr wrap="square">
            <a:spAutoFit/>
          </a:bodyPr>
          <a:lstStyle/>
          <a:p>
            <a:pPr>
              <a:lnSpc>
                <a:spcPct val="110000"/>
              </a:lnSpc>
              <a:spcBef>
                <a:spcPts val="0"/>
              </a:spcBef>
              <a:spcAft>
                <a:spcPts val="300"/>
              </a:spcAft>
            </a:pPr>
            <a:r>
              <a:rPr lang="ja-JP" altLang="en-US" sz="2000" b="1">
                <a:solidFill>
                  <a:srgbClr val="FBECE8"/>
                </a:solidFill>
                <a:highlight>
                  <a:srgbClr val="FAECE7"/>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FAECE7"/>
                </a:highlight>
                <a:latin typeface="Yu Gothic" panose="020B0400000000000000" pitchFamily="34" charset="-128"/>
                <a:ea typeface="Yu Gothic" panose="020B0400000000000000" pitchFamily="34" charset="-128"/>
                <a:cs typeface="Meiryo"/>
              </a:rPr>
              <a:t>課題</a:t>
            </a:r>
            <a:r>
              <a:rPr lang="en-US" altLang="ja-JP" sz="1000" b="1" dirty="0">
                <a:solidFill>
                  <a:srgbClr val="FBECE8"/>
                </a:solidFill>
                <a:highlight>
                  <a:srgbClr val="FAECE7"/>
                </a:highlight>
                <a:latin typeface="Yu Gothic" panose="020B0400000000000000" pitchFamily="34" charset="-128"/>
                <a:ea typeface="Yu Gothic" panose="020B0400000000000000" pitchFamily="34" charset="-128"/>
                <a:cs typeface="Meiryo"/>
              </a:rPr>
              <a:t>a</a:t>
            </a:r>
            <a:r>
              <a:rPr lang="ja-JP" altLang="en-US" sz="2000" b="1">
                <a:solidFill>
                  <a:srgbClr val="712B13"/>
                </a:solidFill>
                <a:highlight>
                  <a:srgbClr val="FAECE7"/>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生成された成果物をそのまま採用すると、見落としや誤りに気づけないまま進んでしまう</a:t>
            </a:r>
          </a:p>
          <a:p>
            <a:pPr marL="274320" indent="0">
              <a:lnSpc>
                <a:spcPct val="113000"/>
              </a:lnSpc>
              <a:spcAft>
                <a:spcPts val="350"/>
              </a:spcAft>
            </a:pPr>
            <a:endParaRPr lang="ja-JP" altLang="en-US">
              <a:solidFill>
                <a:srgbClr val="404040"/>
              </a:solidFill>
              <a:latin typeface="Yu Gothic"/>
              <a:ea typeface="Yu Gothic"/>
              <a:cs typeface="Yu Gothic"/>
            </a:endParaRPr>
          </a:p>
          <a:p>
            <a:pPr>
              <a:lnSpc>
                <a:spcPct val="110000"/>
              </a:lnSpc>
              <a:spcBef>
                <a:spcPts val="0"/>
              </a:spcBef>
              <a:spcAft>
                <a:spcPts val="300"/>
              </a:spcAft>
            </a:pPr>
            <a:r>
              <a:rPr lang="ja-JP" altLang="en-US" sz="2000" b="1">
                <a:solidFill>
                  <a:srgbClr val="0C447C"/>
                </a:solidFill>
                <a:highlight>
                  <a:srgbClr val="E6F1FB"/>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E6F1FB"/>
                </a:highlight>
                <a:latin typeface="Yu Gothic" panose="020B0400000000000000" pitchFamily="34" charset="-128"/>
                <a:ea typeface="Yu Gothic" panose="020B0400000000000000" pitchFamily="34" charset="-128"/>
                <a:cs typeface="Meiryo"/>
              </a:rPr>
              <a:t>活用方法</a:t>
            </a:r>
            <a:r>
              <a:rPr lang="en-US" altLang="ja-JP" sz="1000" b="1" dirty="0">
                <a:solidFill>
                  <a:srgbClr val="E7F2FC"/>
                </a:solidFill>
                <a:highlight>
                  <a:srgbClr val="E6F1FB"/>
                </a:highlight>
                <a:latin typeface="Yu Gothic" panose="020B0400000000000000" pitchFamily="34" charset="-128"/>
                <a:ea typeface="Yu Gothic" panose="020B0400000000000000" pitchFamily="34" charset="-128"/>
                <a:cs typeface="Meiryo"/>
              </a:rPr>
              <a:t>a</a:t>
            </a:r>
            <a:r>
              <a:rPr lang="ja-JP" altLang="en-US" sz="2000" b="1">
                <a:solidFill>
                  <a:srgbClr val="0C447C"/>
                </a:solidFill>
                <a:highlight>
                  <a:srgbClr val="E6F1FB"/>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「生成 → 検証 → 修正」のループを</a:t>
            </a:r>
            <a:r>
              <a:rPr lang="en-US" altLang="ja-JP" dirty="0">
                <a:solidFill>
                  <a:srgbClr val="404040"/>
                </a:solidFill>
                <a:latin typeface="Yu Gothic"/>
                <a:ea typeface="Yu Gothic"/>
                <a:cs typeface="Yu Gothic"/>
              </a:rPr>
              <a:t>1</a:t>
            </a:r>
            <a:r>
              <a:rPr lang="ja-JP" altLang="en-US">
                <a:solidFill>
                  <a:srgbClr val="404040"/>
                </a:solidFill>
                <a:latin typeface="Yu Gothic"/>
                <a:ea typeface="Yu Gothic"/>
                <a:cs typeface="Yu Gothic"/>
              </a:rPr>
              <a:t>回で終わらせず、意図的に検証サイクルを組み込む</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スキルやプロンプトに組み込む：「コード変更後に必ずテストや</a:t>
            </a:r>
            <a:r>
              <a:rPr lang="en" altLang="ja-JP" dirty="0">
                <a:solidFill>
                  <a:srgbClr val="404040"/>
                </a:solidFill>
                <a:latin typeface="Yu Gothic"/>
                <a:ea typeface="Yu Gothic"/>
                <a:cs typeface="Yu Gothic"/>
              </a:rPr>
              <a:t>lint</a:t>
            </a:r>
            <a:r>
              <a:rPr lang="ja-JP" altLang="en-US">
                <a:solidFill>
                  <a:srgbClr val="404040"/>
                </a:solidFill>
                <a:latin typeface="Yu Gothic"/>
                <a:ea typeface="Yu Gothic"/>
                <a:cs typeface="Yu Gothic"/>
              </a:rPr>
              <a:t>を実行し、失敗があれば修正する」までを</a:t>
            </a:r>
            <a:r>
              <a:rPr lang="en-US" altLang="ja-JP" dirty="0">
                <a:solidFill>
                  <a:srgbClr val="404040"/>
                </a:solidFill>
                <a:latin typeface="Yu Gothic"/>
                <a:ea typeface="Yu Gothic"/>
                <a:cs typeface="Yu Gothic"/>
              </a:rPr>
              <a:t>1</a:t>
            </a:r>
            <a:r>
              <a:rPr lang="ja-JP" altLang="en-US">
                <a:solidFill>
                  <a:srgbClr val="404040"/>
                </a:solidFill>
                <a:latin typeface="Yu Gothic"/>
                <a:ea typeface="Yu Gothic"/>
                <a:cs typeface="Yu Gothic"/>
              </a:rPr>
              <a:t>つの手順として指示・スキル化する</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en-US" altLang="ja-JP" dirty="0">
                <a:solidFill>
                  <a:srgbClr val="404040"/>
                </a:solidFill>
                <a:latin typeface="Yu Gothic"/>
                <a:ea typeface="Yu Gothic"/>
                <a:cs typeface="Yu Gothic"/>
              </a:rPr>
              <a:t>/</a:t>
            </a:r>
            <a:r>
              <a:rPr lang="en" altLang="ja-JP" dirty="0">
                <a:solidFill>
                  <a:srgbClr val="404040"/>
                </a:solidFill>
                <a:latin typeface="Yu Gothic"/>
                <a:ea typeface="Yu Gothic"/>
                <a:cs typeface="Yu Gothic"/>
              </a:rPr>
              <a:t>goal </a:t>
            </a:r>
            <a:r>
              <a:rPr lang="ja-JP" altLang="en-US">
                <a:solidFill>
                  <a:srgbClr val="404040"/>
                </a:solidFill>
                <a:latin typeface="Yu Gothic"/>
                <a:ea typeface="Yu Gothic"/>
                <a:cs typeface="Yu Gothic"/>
              </a:rPr>
              <a:t>コマンドを活用する：完了条件を設定し、条件を満たすまで</a:t>
            </a:r>
            <a:r>
              <a:rPr lang="en" altLang="ja-JP" dirty="0">
                <a:solidFill>
                  <a:srgbClr val="404040"/>
                </a:solidFill>
                <a:latin typeface="Yu Gothic"/>
                <a:ea typeface="Yu Gothic"/>
                <a:cs typeface="Yu Gothic"/>
              </a:rPr>
              <a:t>Claude</a:t>
            </a:r>
            <a:r>
              <a:rPr lang="ja-JP" altLang="en-US">
                <a:solidFill>
                  <a:srgbClr val="404040"/>
                </a:solidFill>
                <a:latin typeface="Yu Gothic"/>
                <a:ea typeface="Yu Gothic"/>
                <a:cs typeface="Yu Gothic"/>
              </a:rPr>
              <a:t>に自律的にターンを重ねさせる</a:t>
            </a:r>
          </a:p>
          <a:p>
            <a:pPr marL="548640" indent="0">
              <a:lnSpc>
                <a:spcPct val="113000"/>
              </a:lnSpc>
              <a:spcAft>
                <a:spcPts val="350"/>
              </a:spcAft>
            </a:pPr>
            <a:r>
              <a:rPr lang="en-US" altLang="ja-JP" dirty="0">
                <a:solidFill>
                  <a:srgbClr val="8C8C8C"/>
                </a:solidFill>
                <a:latin typeface="Yu Gothic"/>
                <a:ea typeface="Yu Gothic"/>
                <a:cs typeface="Yu Gothic"/>
              </a:rPr>
              <a:t>– </a:t>
            </a:r>
            <a:r>
              <a:rPr lang="ja-JP" altLang="en-US">
                <a:solidFill>
                  <a:srgbClr val="404040"/>
                </a:solidFill>
                <a:latin typeface="Yu Gothic"/>
                <a:ea typeface="Yu Gothic"/>
                <a:cs typeface="Yu Gothic"/>
              </a:rPr>
              <a:t>例：</a:t>
            </a:r>
            <a:r>
              <a:rPr lang="en-US" altLang="ja-JP" dirty="0">
                <a:solidFill>
                  <a:srgbClr val="404040"/>
                </a:solidFill>
                <a:latin typeface="Yu Gothic"/>
                <a:ea typeface="Yu Gothic"/>
                <a:cs typeface="Yu Gothic"/>
              </a:rPr>
              <a:t>/</a:t>
            </a:r>
            <a:r>
              <a:rPr lang="en" altLang="ja-JP" dirty="0">
                <a:solidFill>
                  <a:srgbClr val="404040"/>
                </a:solidFill>
                <a:latin typeface="Yu Gothic"/>
                <a:ea typeface="Yu Gothic"/>
                <a:cs typeface="Yu Gothic"/>
              </a:rPr>
              <a:t>goal test/ </a:t>
            </a:r>
            <a:r>
              <a:rPr lang="ja-JP" altLang="en-US">
                <a:solidFill>
                  <a:srgbClr val="404040"/>
                </a:solidFill>
                <a:latin typeface="Yu Gothic"/>
                <a:ea typeface="Yu Gothic"/>
                <a:cs typeface="Yu Gothic"/>
              </a:rPr>
              <a:t>配下のすべてのテストが通り、かつ</a:t>
            </a:r>
            <a:r>
              <a:rPr lang="en" altLang="ja-JP" dirty="0">
                <a:solidFill>
                  <a:srgbClr val="404040"/>
                </a:solidFill>
                <a:latin typeface="Yu Gothic"/>
                <a:ea typeface="Yu Gothic"/>
                <a:cs typeface="Yu Gothic"/>
              </a:rPr>
              <a:t>lint</a:t>
            </a:r>
            <a:r>
              <a:rPr lang="ja-JP" altLang="en-US">
                <a:solidFill>
                  <a:srgbClr val="404040"/>
                </a:solidFill>
                <a:latin typeface="Yu Gothic"/>
                <a:ea typeface="Yu Gothic"/>
                <a:cs typeface="Yu Gothic"/>
              </a:rPr>
              <a:t>エラーが</a:t>
            </a:r>
            <a:r>
              <a:rPr lang="en-US" altLang="ja-JP" dirty="0">
                <a:solidFill>
                  <a:srgbClr val="404040"/>
                </a:solidFill>
                <a:latin typeface="Yu Gothic"/>
                <a:ea typeface="Yu Gothic"/>
                <a:cs typeface="Yu Gothic"/>
              </a:rPr>
              <a:t>0</a:t>
            </a:r>
            <a:r>
              <a:rPr lang="ja-JP" altLang="en-US">
                <a:solidFill>
                  <a:srgbClr val="404040"/>
                </a:solidFill>
                <a:latin typeface="Yu Gothic"/>
                <a:ea typeface="Yu Gothic"/>
                <a:cs typeface="Yu Gothic"/>
              </a:rPr>
              <a:t>件であること</a:t>
            </a:r>
          </a:p>
          <a:p>
            <a:pPr marL="548640" indent="0">
              <a:lnSpc>
                <a:spcPct val="113000"/>
              </a:lnSpc>
              <a:spcAft>
                <a:spcPts val="350"/>
              </a:spcAft>
            </a:pPr>
            <a:endParaRPr lang="ja-JP" altLang="en-US">
              <a:solidFill>
                <a:srgbClr val="404040"/>
              </a:solidFill>
              <a:latin typeface="Yu Gothic"/>
              <a:ea typeface="Yu Gothic"/>
              <a:cs typeface="Yu Gothic"/>
            </a:endParaRPr>
          </a:p>
          <a:p>
            <a:pPr>
              <a:lnSpc>
                <a:spcPct val="110000"/>
              </a:lnSpc>
              <a:spcBef>
                <a:spcPts val="0"/>
              </a:spcBef>
              <a:spcAft>
                <a:spcPts val="300"/>
              </a:spcAft>
            </a:pPr>
            <a:r>
              <a:rPr lang="ja-JP" altLang="en-US" sz="2000" b="1">
                <a:solidFill>
                  <a:srgbClr val="085041"/>
                </a:solidFill>
                <a:highlight>
                  <a:srgbClr val="E1F5EE"/>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E1F5EE"/>
                </a:highlight>
                <a:latin typeface="Yu Gothic" panose="020B0400000000000000" pitchFamily="34" charset="-128"/>
                <a:ea typeface="Yu Gothic" panose="020B0400000000000000" pitchFamily="34" charset="-128"/>
                <a:cs typeface="Meiryo"/>
              </a:rPr>
              <a:t>ポイント・注意点</a:t>
            </a:r>
            <a:r>
              <a:rPr lang="en-US" altLang="ja-JP" sz="1000" b="1" dirty="0">
                <a:solidFill>
                  <a:srgbClr val="E2F5EE"/>
                </a:solidFill>
                <a:highlight>
                  <a:srgbClr val="E1F5EE"/>
                </a:highlight>
                <a:latin typeface="Yu Gothic" panose="020B0400000000000000" pitchFamily="34" charset="-128"/>
                <a:ea typeface="Yu Gothic" panose="020B0400000000000000" pitchFamily="34" charset="-128"/>
                <a:cs typeface="Meiryo"/>
              </a:rPr>
              <a:t>a</a:t>
            </a:r>
            <a:r>
              <a:rPr lang="ja-JP" altLang="en-US" sz="2000" b="1">
                <a:solidFill>
                  <a:srgbClr val="085041"/>
                </a:solidFill>
                <a:highlight>
                  <a:srgbClr val="E1F5EE"/>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人がすべてを目視確認するのではなく、自動テストや検証ステップを</a:t>
            </a:r>
            <a:r>
              <a:rPr lang="en" altLang="ja-JP" dirty="0">
                <a:solidFill>
                  <a:srgbClr val="404040"/>
                </a:solidFill>
                <a:latin typeface="Yu Gothic"/>
                <a:ea typeface="Yu Gothic"/>
                <a:cs typeface="Yu Gothic"/>
              </a:rPr>
              <a:t>AI</a:t>
            </a:r>
            <a:r>
              <a:rPr lang="ja-JP" altLang="en-US">
                <a:solidFill>
                  <a:srgbClr val="404040"/>
                </a:solidFill>
                <a:latin typeface="Yu Gothic"/>
                <a:ea typeface="Yu Gothic"/>
                <a:cs typeface="Yu Gothic"/>
              </a:rPr>
              <a:t>自身に担わせることで手戻りを減らせる</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80" y="530352"/>
            <a:ext cx="11064240" cy="584775"/>
          </a:xfrm>
          <a:prstGeom prst="rect">
            <a:avLst/>
          </a:prstGeom>
          <a:noFill/>
        </p:spPr>
        <p:txBody>
          <a:bodyPr wrap="square">
            <a:spAutoFit/>
          </a:bodyPr>
          <a:lstStyle/>
          <a:p>
            <a:r>
              <a:rPr lang="en-US" altLang="ja-JP" sz="3200" b="1" dirty="0">
                <a:latin typeface="Yu Gothic" panose="020B0400000000000000" pitchFamily="34" charset="-128"/>
                <a:ea typeface="Yu Gothic" panose="020B0400000000000000" pitchFamily="34" charset="-128"/>
                <a:cs typeface="Meiryo"/>
              </a:rPr>
              <a:t>⑧</a:t>
            </a:r>
            <a:r>
              <a:rPr sz="3200" b="1" dirty="0">
                <a:latin typeface="Yu Gothic" panose="020B0400000000000000" pitchFamily="34" charset="-128"/>
                <a:ea typeface="Yu Gothic" panose="020B0400000000000000" pitchFamily="34" charset="-128"/>
                <a:cs typeface="Meiryo"/>
              </a:rPr>
              <a:t> </a:t>
            </a:r>
            <a:r>
              <a:rPr sz="3200" b="1" dirty="0" err="1">
                <a:latin typeface="Yu Gothic" panose="020B0400000000000000" pitchFamily="34" charset="-128"/>
                <a:ea typeface="Yu Gothic" panose="020B0400000000000000" pitchFamily="34" charset="-128"/>
                <a:cs typeface="Meiryo"/>
              </a:rPr>
              <a:t>成果物を別セッションでレビューする</a:t>
            </a:r>
            <a:endParaRPr sz="3200" b="1" dirty="0">
              <a:latin typeface="Yu Gothic" panose="020B0400000000000000" pitchFamily="34" charset="-128"/>
              <a:ea typeface="Yu Gothic" panose="020B0400000000000000" pitchFamily="34" charset="-128"/>
              <a:cs typeface="Meiryo"/>
            </a:endParaRPr>
          </a:p>
        </p:txBody>
      </p:sp>
      <p:sp>
        <p:nvSpPr>
          <p:cNvPr id="4" name="Rectangle 3"/>
          <p:cNvSpPr/>
          <p:nvPr/>
        </p:nvSpPr>
        <p:spPr>
          <a:xfrm>
            <a:off x="676656" y="1225296"/>
            <a:ext cx="1097280" cy="4445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76656" y="1481328"/>
            <a:ext cx="10881360" cy="5012654"/>
          </a:xfrm>
          <a:prstGeom prst="rect">
            <a:avLst/>
          </a:prstGeom>
          <a:noFill/>
        </p:spPr>
        <p:txBody>
          <a:bodyPr wrap="square">
            <a:spAutoFit/>
          </a:bodyPr>
          <a:lstStyle/>
          <a:p>
            <a:pPr>
              <a:lnSpc>
                <a:spcPct val="110000"/>
              </a:lnSpc>
              <a:spcBef>
                <a:spcPts val="0"/>
              </a:spcBef>
              <a:spcAft>
                <a:spcPts val="300"/>
              </a:spcAft>
            </a:pPr>
            <a:r>
              <a:rPr lang="ja-JP" altLang="en-US" sz="2000" b="1">
                <a:solidFill>
                  <a:srgbClr val="FBECE8"/>
                </a:solidFill>
                <a:highlight>
                  <a:srgbClr val="FAECE7"/>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FAECE7"/>
                </a:highlight>
                <a:latin typeface="Yu Gothic" panose="020B0400000000000000" pitchFamily="34" charset="-128"/>
                <a:ea typeface="Yu Gothic" panose="020B0400000000000000" pitchFamily="34" charset="-128"/>
                <a:cs typeface="Meiryo"/>
              </a:rPr>
              <a:t>課題</a:t>
            </a:r>
            <a:r>
              <a:rPr lang="en-US" altLang="ja-JP" sz="1000" b="1" dirty="0">
                <a:solidFill>
                  <a:srgbClr val="FBECE8"/>
                </a:solidFill>
                <a:highlight>
                  <a:srgbClr val="FAECE7"/>
                </a:highlight>
                <a:latin typeface="Yu Gothic" panose="020B0400000000000000" pitchFamily="34" charset="-128"/>
                <a:ea typeface="Yu Gothic" panose="020B0400000000000000" pitchFamily="34" charset="-128"/>
                <a:cs typeface="Meiryo"/>
              </a:rPr>
              <a:t>a</a:t>
            </a:r>
            <a:r>
              <a:rPr lang="ja-JP" altLang="en-US" sz="2000" b="1">
                <a:solidFill>
                  <a:srgbClr val="712B13"/>
                </a:solidFill>
                <a:highlight>
                  <a:srgbClr val="FAECE7"/>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同じセッションの中で自己レビューさせると、直前の会話の流れに引きずられ評価が甘くなりやすい</a:t>
            </a:r>
          </a:p>
          <a:p>
            <a:pPr marL="274320" indent="0">
              <a:lnSpc>
                <a:spcPct val="113000"/>
              </a:lnSpc>
              <a:spcAft>
                <a:spcPts val="350"/>
              </a:spcAft>
            </a:pPr>
            <a:endParaRPr lang="ja-JP" altLang="en-US">
              <a:solidFill>
                <a:srgbClr val="404040"/>
              </a:solidFill>
              <a:latin typeface="Yu Gothic"/>
              <a:ea typeface="Yu Gothic"/>
              <a:cs typeface="Yu Gothic"/>
            </a:endParaRPr>
          </a:p>
          <a:p>
            <a:pPr>
              <a:lnSpc>
                <a:spcPct val="110000"/>
              </a:lnSpc>
              <a:spcBef>
                <a:spcPts val="0"/>
              </a:spcBef>
              <a:spcAft>
                <a:spcPts val="300"/>
              </a:spcAft>
            </a:pPr>
            <a:r>
              <a:rPr lang="ja-JP" altLang="en-US" sz="2000" b="1">
                <a:solidFill>
                  <a:srgbClr val="0C447C"/>
                </a:solidFill>
                <a:highlight>
                  <a:srgbClr val="E6F1FB"/>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E6F1FB"/>
                </a:highlight>
                <a:latin typeface="Yu Gothic" panose="020B0400000000000000" pitchFamily="34" charset="-128"/>
                <a:ea typeface="Yu Gothic" panose="020B0400000000000000" pitchFamily="34" charset="-128"/>
                <a:cs typeface="Meiryo"/>
              </a:rPr>
              <a:t>活用方法</a:t>
            </a:r>
            <a:r>
              <a:rPr lang="en-US" altLang="ja-JP" sz="1000" b="1" dirty="0">
                <a:solidFill>
                  <a:srgbClr val="E7F2FC"/>
                </a:solidFill>
                <a:highlight>
                  <a:srgbClr val="E6F1FB"/>
                </a:highlight>
                <a:latin typeface="Yu Gothic" panose="020B0400000000000000" pitchFamily="34" charset="-128"/>
                <a:ea typeface="Yu Gothic" panose="020B0400000000000000" pitchFamily="34" charset="-128"/>
                <a:cs typeface="Meiryo"/>
              </a:rPr>
              <a:t>a</a:t>
            </a:r>
            <a:r>
              <a:rPr lang="ja-JP" altLang="en-US" sz="2000" b="1">
                <a:solidFill>
                  <a:srgbClr val="0C447C"/>
                </a:solidFill>
                <a:highlight>
                  <a:srgbClr val="E6F1FB"/>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成果物を作ったセッションとは別のセッションを立ち上げ、まっさらな状態で客観的にレビューさせる</a:t>
            </a:r>
          </a:p>
          <a:p>
            <a:pPr marL="274320" indent="0">
              <a:lnSpc>
                <a:spcPct val="113000"/>
              </a:lnSpc>
              <a:spcAft>
                <a:spcPts val="350"/>
              </a:spcAft>
            </a:pPr>
            <a:r>
              <a:rPr lang="ja-JP" altLang="en-US">
                <a:solidFill>
                  <a:srgbClr val="8C8C8C"/>
                </a:solidFill>
                <a:latin typeface="Yu Gothic"/>
                <a:ea typeface="Yu Gothic"/>
                <a:cs typeface="Yu Gothic"/>
              </a:rPr>
              <a:t>    </a:t>
            </a:r>
            <a:r>
              <a:rPr lang="en-US" altLang="ja-JP" dirty="0">
                <a:solidFill>
                  <a:srgbClr val="8C8C8C"/>
                </a:solidFill>
                <a:latin typeface="Yu Gothic"/>
                <a:ea typeface="Yu Gothic"/>
                <a:cs typeface="Yu Gothic"/>
              </a:rPr>
              <a:t>–</a:t>
            </a:r>
            <a:r>
              <a:rPr lang="ja-JP" altLang="en-US">
                <a:solidFill>
                  <a:srgbClr val="2E74B5"/>
                </a:solidFill>
                <a:latin typeface="Yu Gothic"/>
                <a:ea typeface="Yu Gothic"/>
                <a:cs typeface="Yu Gothic"/>
              </a:rPr>
              <a:t> </a:t>
            </a:r>
            <a:r>
              <a:rPr lang="ja-JP" altLang="en-US">
                <a:solidFill>
                  <a:srgbClr val="404040"/>
                </a:solidFill>
                <a:latin typeface="Yu Gothic"/>
                <a:ea typeface="Yu Gothic"/>
                <a:cs typeface="Yu Gothic"/>
              </a:rPr>
              <a:t>成果物を別セッションで読み込ませてレビューさせる</a:t>
            </a:r>
          </a:p>
          <a:p>
            <a:pPr marL="274320" indent="0">
              <a:lnSpc>
                <a:spcPct val="113000"/>
              </a:lnSpc>
              <a:spcAft>
                <a:spcPts val="350"/>
              </a:spcAft>
            </a:pPr>
            <a:r>
              <a:rPr lang="ja-JP" altLang="en-US">
                <a:solidFill>
                  <a:srgbClr val="8C8C8C"/>
                </a:solidFill>
                <a:latin typeface="Yu Gothic"/>
                <a:ea typeface="Yu Gothic"/>
                <a:cs typeface="Yu Gothic"/>
              </a:rPr>
              <a:t>    </a:t>
            </a:r>
            <a:r>
              <a:rPr lang="en-US" altLang="ja-JP" dirty="0">
                <a:solidFill>
                  <a:srgbClr val="8C8C8C"/>
                </a:solidFill>
                <a:latin typeface="Yu Gothic"/>
                <a:ea typeface="Yu Gothic"/>
                <a:cs typeface="Yu Gothic"/>
              </a:rPr>
              <a:t>–</a:t>
            </a:r>
            <a:r>
              <a:rPr lang="ja-JP" altLang="en-US">
                <a:solidFill>
                  <a:srgbClr val="2E74B5"/>
                </a:solidFill>
                <a:latin typeface="Yu Gothic"/>
                <a:ea typeface="Yu Gothic"/>
                <a:cs typeface="Yu Gothic"/>
              </a:rPr>
              <a:t> </a:t>
            </a:r>
            <a:r>
              <a:rPr lang="en" altLang="ja-JP" dirty="0" err="1">
                <a:solidFill>
                  <a:srgbClr val="404040"/>
                </a:solidFill>
                <a:latin typeface="Yu Gothic"/>
                <a:ea typeface="Yu Gothic"/>
                <a:cs typeface="Yu Gothic"/>
              </a:rPr>
              <a:t>SendMessage</a:t>
            </a:r>
            <a:r>
              <a:rPr lang="ja-JP" altLang="en-US">
                <a:solidFill>
                  <a:srgbClr val="404040"/>
                </a:solidFill>
                <a:latin typeface="Yu Gothic"/>
                <a:ea typeface="Yu Gothic"/>
                <a:cs typeface="Yu Gothic"/>
              </a:rPr>
              <a:t>ツールを使ってセッション間でやり取りさせ、レビューさせる</a:t>
            </a:r>
          </a:p>
          <a:p>
            <a:pPr marL="274320" indent="0">
              <a:lnSpc>
                <a:spcPct val="113000"/>
              </a:lnSpc>
              <a:spcAft>
                <a:spcPts val="350"/>
              </a:spcAft>
            </a:pPr>
            <a:endParaRPr lang="ja-JP" altLang="en-US">
              <a:solidFill>
                <a:srgbClr val="404040"/>
              </a:solidFill>
              <a:latin typeface="Yu Gothic"/>
              <a:ea typeface="Yu Gothic"/>
              <a:cs typeface="Yu Gothic"/>
            </a:endParaRPr>
          </a:p>
          <a:p>
            <a:pPr>
              <a:lnSpc>
                <a:spcPct val="110000"/>
              </a:lnSpc>
              <a:spcBef>
                <a:spcPts val="0"/>
              </a:spcBef>
              <a:spcAft>
                <a:spcPts val="300"/>
              </a:spcAft>
            </a:pPr>
            <a:r>
              <a:rPr lang="ja-JP" altLang="en-US" sz="2000" b="1">
                <a:solidFill>
                  <a:srgbClr val="085041"/>
                </a:solidFill>
                <a:highlight>
                  <a:srgbClr val="E1F5EE"/>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E1F5EE"/>
                </a:highlight>
                <a:latin typeface="Yu Gothic" panose="020B0400000000000000" pitchFamily="34" charset="-128"/>
                <a:ea typeface="Yu Gothic" panose="020B0400000000000000" pitchFamily="34" charset="-128"/>
                <a:cs typeface="Meiryo"/>
              </a:rPr>
              <a:t>ポイント・注意点</a:t>
            </a:r>
            <a:r>
              <a:rPr lang="en-US" altLang="ja-JP" sz="1000" b="1" dirty="0">
                <a:solidFill>
                  <a:srgbClr val="E2F5EE"/>
                </a:solidFill>
                <a:highlight>
                  <a:srgbClr val="E1F5EE"/>
                </a:highlight>
                <a:latin typeface="Yu Gothic" panose="020B0400000000000000" pitchFamily="34" charset="-128"/>
                <a:ea typeface="Yu Gothic" panose="020B0400000000000000" pitchFamily="34" charset="-128"/>
                <a:cs typeface="Meiryo"/>
              </a:rPr>
              <a:t>a</a:t>
            </a:r>
            <a:r>
              <a:rPr lang="ja-JP" altLang="en-US" sz="2000" b="1">
                <a:solidFill>
                  <a:srgbClr val="085041"/>
                </a:solidFill>
                <a:highlight>
                  <a:srgbClr val="E1F5EE"/>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en-US" altLang="ja-JP" dirty="0">
                <a:solidFill>
                  <a:srgbClr val="404040"/>
                </a:solidFill>
                <a:latin typeface="Yu Gothic"/>
                <a:ea typeface="Yu Gothic"/>
                <a:cs typeface="Yu Gothic"/>
              </a:rPr>
              <a:t>①</a:t>
            </a:r>
            <a:r>
              <a:rPr lang="ja-JP" altLang="en-US">
                <a:solidFill>
                  <a:srgbClr val="404040"/>
                </a:solidFill>
                <a:latin typeface="Yu Gothic"/>
                <a:ea typeface="Yu Gothic"/>
                <a:cs typeface="Yu Gothic"/>
              </a:rPr>
              <a:t>セッション分割・</a:t>
            </a:r>
            <a:r>
              <a:rPr lang="en-US" altLang="ja-JP" dirty="0">
                <a:solidFill>
                  <a:srgbClr val="404040"/>
                </a:solidFill>
                <a:latin typeface="Yu Gothic"/>
                <a:ea typeface="Yu Gothic"/>
                <a:cs typeface="Yu Gothic"/>
              </a:rPr>
              <a:t>②</a:t>
            </a:r>
            <a:r>
              <a:rPr lang="en" altLang="ja-JP" dirty="0">
                <a:solidFill>
                  <a:srgbClr val="404040"/>
                </a:solidFill>
                <a:latin typeface="Yu Gothic"/>
                <a:ea typeface="Yu Gothic"/>
                <a:cs typeface="Yu Gothic"/>
              </a:rPr>
              <a:t>Markdown</a:t>
            </a:r>
            <a:r>
              <a:rPr lang="ja-JP" altLang="en-US">
                <a:solidFill>
                  <a:srgbClr val="404040"/>
                </a:solidFill>
                <a:latin typeface="Yu Gothic"/>
                <a:ea typeface="Yu Gothic"/>
                <a:cs typeface="Yu Gothic"/>
              </a:rPr>
              <a:t>出力・</a:t>
            </a:r>
            <a:r>
              <a:rPr lang="en-US" altLang="ja-JP" dirty="0">
                <a:solidFill>
                  <a:srgbClr val="404040"/>
                </a:solidFill>
                <a:latin typeface="Yu Gothic"/>
                <a:ea typeface="Yu Gothic"/>
                <a:cs typeface="Yu Gothic"/>
              </a:rPr>
              <a:t>⑦</a:t>
            </a:r>
            <a:r>
              <a:rPr lang="ja-JP" altLang="en-US">
                <a:solidFill>
                  <a:srgbClr val="404040"/>
                </a:solidFill>
                <a:latin typeface="Yu Gothic"/>
                <a:ea typeface="Yu Gothic"/>
                <a:cs typeface="Yu Gothic"/>
              </a:rPr>
              <a:t>検証ループの組み合わせ</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作成時の会話コンテキストを一度完全にリセットすることで、</a:t>
            </a:r>
            <a:r>
              <a:rPr lang="en" altLang="ja-JP" dirty="0">
                <a:solidFill>
                  <a:srgbClr val="404040"/>
                </a:solidFill>
                <a:latin typeface="Yu Gothic"/>
                <a:ea typeface="Yu Gothic"/>
                <a:cs typeface="Yu Gothic"/>
              </a:rPr>
              <a:t>AI</a:t>
            </a:r>
            <a:r>
              <a:rPr lang="ja-JP" altLang="en-US">
                <a:solidFill>
                  <a:srgbClr val="404040"/>
                </a:solidFill>
                <a:latin typeface="Yu Gothic"/>
                <a:ea typeface="Yu Gothic"/>
                <a:cs typeface="Yu Gothic"/>
              </a:rPr>
              <a:t>自身の思い込みや甘さを排除した厳密なレビューが可能になる</a:t>
            </a:r>
          </a:p>
        </p:txBody>
      </p:sp>
      <p:sp>
        <p:nvSpPr>
          <p:cNvPr id="7" name="TextBox 1">
            <a:extLst>
              <a:ext uri="{FF2B5EF4-FFF2-40B4-BE49-F238E27FC236}">
                <a16:creationId xmlns:a16="http://schemas.microsoft.com/office/drawing/2014/main" id="{C1F09150-F0E7-772E-85DF-EDC7DAB32416}"/>
              </a:ext>
            </a:extLst>
          </p:cNvPr>
          <p:cNvSpPr txBox="1"/>
          <p:nvPr/>
        </p:nvSpPr>
        <p:spPr>
          <a:xfrm>
            <a:off x="658368" y="274320"/>
            <a:ext cx="2635658" cy="307777"/>
          </a:xfrm>
          <a:prstGeom prst="rect">
            <a:avLst/>
          </a:prstGeom>
          <a:noFill/>
        </p:spPr>
        <p:txBody>
          <a:bodyPr wrap="none">
            <a:spAutoFit/>
          </a:bodyPr>
          <a:lstStyle/>
          <a:p>
            <a:r>
              <a:rPr lang="en-US" sz="1400" dirty="0">
                <a:solidFill>
                  <a:schemeClr val="bg1">
                    <a:lumMod val="65000"/>
                  </a:schemeClr>
                </a:solidFill>
                <a:latin typeface="Yu Gothic" panose="020B0400000000000000" pitchFamily="34" charset="-128"/>
                <a:ea typeface="Yu Gothic" panose="020B0400000000000000" pitchFamily="34" charset="-128"/>
                <a:cs typeface="Meiryo"/>
              </a:rPr>
              <a:t>03</a:t>
            </a:r>
            <a:r>
              <a:rPr sz="1400" dirty="0">
                <a:solidFill>
                  <a:schemeClr val="bg1">
                    <a:lumMod val="65000"/>
                  </a:schemeClr>
                </a:solidFill>
                <a:latin typeface="Yu Gothic" panose="020B0400000000000000" pitchFamily="34" charset="-128"/>
                <a:ea typeface="Yu Gothic" panose="020B0400000000000000" pitchFamily="34" charset="-128"/>
                <a:cs typeface="Meiryo"/>
              </a:rPr>
              <a:t>. </a:t>
            </a:r>
            <a:r>
              <a:rPr sz="1400" dirty="0" err="1">
                <a:solidFill>
                  <a:schemeClr val="bg1">
                    <a:lumMod val="65000"/>
                  </a:schemeClr>
                </a:solidFill>
                <a:latin typeface="Yu Gothic" panose="020B0400000000000000" pitchFamily="34" charset="-128"/>
                <a:ea typeface="Yu Gothic" panose="020B0400000000000000" pitchFamily="34" charset="-128"/>
                <a:cs typeface="Meiryo"/>
              </a:rPr>
              <a:t>検証のループをどう回すか</a:t>
            </a:r>
            <a:endParaRPr sz="1400" dirty="0">
              <a:solidFill>
                <a:schemeClr val="bg1">
                  <a:lumMod val="65000"/>
                </a:schemeClr>
              </a:solidFill>
              <a:latin typeface="Yu Gothic" panose="020B0400000000000000" pitchFamily="34" charset="-128"/>
              <a:ea typeface="Yu Gothic" panose="020B0400000000000000" pitchFamily="34" charset="-128"/>
              <a:cs typeface="Meiry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5800" y="822960"/>
            <a:ext cx="3657600" cy="2377440"/>
          </a:xfrm>
          <a:prstGeom prst="rect">
            <a:avLst/>
          </a:prstGeom>
          <a:noFill/>
          <a:ln/>
        </p:spPr>
        <p:txBody>
          <a:bodyPr wrap="square" rtlCol="0" anchor="ctr"/>
          <a:lstStyle/>
          <a:p>
            <a:pPr marL="0" indent="0">
              <a:buNone/>
            </a:pPr>
            <a:r>
              <a:rPr lang="en-US" sz="13000" b="1" dirty="0">
                <a:solidFill>
                  <a:srgbClr val="C1613F"/>
                </a:solidFill>
                <a:latin typeface="Yu Gothic" pitchFamily="34" charset="0"/>
                <a:ea typeface="Yu Gothic" pitchFamily="34" charset="-122"/>
                <a:cs typeface="Yu Gothic" pitchFamily="34" charset="-120"/>
              </a:rPr>
              <a:t>04</a:t>
            </a:r>
            <a:endParaRPr lang="en-US" sz="13000" dirty="0"/>
          </a:p>
        </p:txBody>
      </p:sp>
      <p:sp>
        <p:nvSpPr>
          <p:cNvPr id="3" name="Text 1"/>
          <p:cNvSpPr/>
          <p:nvPr/>
        </p:nvSpPr>
        <p:spPr>
          <a:xfrm>
            <a:off x="777240" y="3246120"/>
            <a:ext cx="9875520" cy="914400"/>
          </a:xfrm>
          <a:prstGeom prst="rect">
            <a:avLst/>
          </a:prstGeom>
          <a:noFill/>
          <a:ln/>
        </p:spPr>
        <p:txBody>
          <a:bodyPr wrap="square" rtlCol="0" anchor="ctr"/>
          <a:lstStyle/>
          <a:p>
            <a:pPr marL="0" indent="0">
              <a:buNone/>
            </a:pPr>
            <a:r>
              <a:rPr lang="en-US" sz="3400" b="1" dirty="0">
                <a:solidFill>
                  <a:srgbClr val="3B322B"/>
                </a:solidFill>
                <a:latin typeface="Yu Gothic" pitchFamily="34" charset="0"/>
                <a:ea typeface="Yu Gothic" pitchFamily="34" charset="-122"/>
                <a:cs typeface="Yu Gothic" pitchFamily="34" charset="-120"/>
              </a:rPr>
              <a:t>セッションを超えてどう設計するか</a:t>
            </a:r>
            <a:endParaRPr lang="en-US" sz="3400" dirty="0"/>
          </a:p>
        </p:txBody>
      </p:sp>
      <p:sp>
        <p:nvSpPr>
          <p:cNvPr id="4" name="Text 2"/>
          <p:cNvSpPr/>
          <p:nvPr/>
        </p:nvSpPr>
        <p:spPr>
          <a:xfrm>
            <a:off x="822960" y="4096512"/>
            <a:ext cx="9601200" cy="1097280"/>
          </a:xfrm>
          <a:prstGeom prst="rect">
            <a:avLst/>
          </a:prstGeom>
          <a:noFill/>
          <a:ln/>
        </p:spPr>
        <p:txBody>
          <a:bodyPr wrap="square" rtlCol="0" anchor="t"/>
          <a:lstStyle/>
          <a:p>
            <a:pPr marL="0" indent="0">
              <a:buNone/>
            </a:pPr>
            <a:r>
              <a:rPr lang="en-US" sz="1700" dirty="0">
                <a:solidFill>
                  <a:srgbClr val="8C8074"/>
                </a:solidFill>
                <a:latin typeface="Yu Gothic" pitchFamily="34" charset="0"/>
                <a:ea typeface="Yu Gothic" pitchFamily="34" charset="-122"/>
                <a:cs typeface="Yu Gothic" pitchFamily="34" charset="-120"/>
              </a:rPr>
              <a:t>1セッション内で最適化しても、作業がぶつ切りになると文脈のつながりや全体の進捗が見失われやすいものです。</a:t>
            </a:r>
            <a:endParaRPr lang="en-US" sz="1700" dirty="0"/>
          </a:p>
          <a:p>
            <a:pPr marL="0" indent="0">
              <a:buNone/>
            </a:pPr>
            <a:r>
              <a:rPr lang="en-US" sz="1700" dirty="0">
                <a:solidFill>
                  <a:srgbClr val="8C8074"/>
                </a:solidFill>
                <a:latin typeface="Yu Gothic" pitchFamily="34" charset="0"/>
                <a:ea typeface="Yu Gothic" pitchFamily="34" charset="-122"/>
                <a:cs typeface="Yu Gothic" pitchFamily="34" charset="-120"/>
              </a:rPr>
              <a:t>単発のタスクで終わらせず、複数セッションや一連の工程をどう束ねて設計するかという視座への転換が必要です。</a:t>
            </a:r>
            <a:endParaRPr lang="en-US" sz="1700" dirty="0"/>
          </a:p>
        </p:txBody>
      </p:sp>
      <p:sp>
        <p:nvSpPr>
          <p:cNvPr id="5" name="Shape 3"/>
          <p:cNvSpPr/>
          <p:nvPr/>
        </p:nvSpPr>
        <p:spPr>
          <a:xfrm>
            <a:off x="822960" y="5394960"/>
            <a:ext cx="2743200" cy="530352"/>
          </a:xfrm>
          <a:prstGeom prst="roundRect">
            <a:avLst>
              <a:gd name="adj" fmla="val 50000"/>
            </a:avLst>
          </a:prstGeom>
          <a:solidFill>
            <a:srgbClr val="FBEEE7"/>
          </a:solidFill>
          <a:ln/>
        </p:spPr>
      </p:sp>
      <p:sp>
        <p:nvSpPr>
          <p:cNvPr id="6" name="Text 4"/>
          <p:cNvSpPr/>
          <p:nvPr/>
        </p:nvSpPr>
        <p:spPr>
          <a:xfrm>
            <a:off x="822960" y="5394960"/>
            <a:ext cx="2743200" cy="530352"/>
          </a:xfrm>
          <a:prstGeom prst="rect">
            <a:avLst/>
          </a:prstGeom>
          <a:noFill/>
          <a:ln/>
        </p:spPr>
        <p:txBody>
          <a:bodyPr wrap="square" rtlCol="0" anchor="ctr"/>
          <a:lstStyle/>
          <a:p>
            <a:pPr marL="0" indent="0" algn="ctr">
              <a:buNone/>
            </a:pPr>
            <a:r>
              <a:rPr lang="en-US" sz="1450" b="1" dirty="0" err="1">
                <a:solidFill>
                  <a:srgbClr val="C1613F"/>
                </a:solidFill>
                <a:latin typeface="Yu Gothic" pitchFamily="34" charset="0"/>
                <a:ea typeface="Yu Gothic" pitchFamily="34" charset="-122"/>
                <a:cs typeface="Yu Gothic" pitchFamily="34" charset="-120"/>
              </a:rPr>
              <a:t>工夫</a:t>
            </a:r>
            <a:r>
              <a:rPr lang="en-US" sz="1450" b="1" dirty="0">
                <a:solidFill>
                  <a:srgbClr val="C1613F"/>
                </a:solidFill>
                <a:latin typeface="Yu Gothic" pitchFamily="34" charset="0"/>
                <a:ea typeface="Yu Gothic" pitchFamily="34" charset="-122"/>
                <a:cs typeface="Yu Gothic" pitchFamily="34" charset="-120"/>
              </a:rPr>
              <a:t> ⑨〜⑪</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274320"/>
            <a:ext cx="3353803" cy="307777"/>
          </a:xfrm>
          <a:prstGeom prst="rect">
            <a:avLst/>
          </a:prstGeom>
          <a:noFill/>
        </p:spPr>
        <p:txBody>
          <a:bodyPr wrap="none">
            <a:spAutoFit/>
          </a:bodyPr>
          <a:lstStyle/>
          <a:p>
            <a:r>
              <a:rPr lang="en-US" sz="1400" dirty="0">
                <a:solidFill>
                  <a:schemeClr val="bg1">
                    <a:lumMod val="65000"/>
                  </a:schemeClr>
                </a:solidFill>
                <a:latin typeface="Yu Gothic" panose="020B0400000000000000" pitchFamily="34" charset="-128"/>
                <a:ea typeface="Yu Gothic" panose="020B0400000000000000" pitchFamily="34" charset="-128"/>
                <a:cs typeface="Meiryo"/>
              </a:rPr>
              <a:t>04</a:t>
            </a:r>
            <a:r>
              <a:rPr sz="1400" dirty="0">
                <a:solidFill>
                  <a:schemeClr val="bg1">
                    <a:lumMod val="65000"/>
                  </a:schemeClr>
                </a:solidFill>
                <a:latin typeface="Yu Gothic" panose="020B0400000000000000" pitchFamily="34" charset="-128"/>
                <a:ea typeface="Yu Gothic" panose="020B0400000000000000" pitchFamily="34" charset="-128"/>
                <a:cs typeface="Meiryo"/>
              </a:rPr>
              <a:t>. </a:t>
            </a:r>
            <a:r>
              <a:rPr sz="1400" dirty="0" err="1">
                <a:solidFill>
                  <a:schemeClr val="bg1">
                    <a:lumMod val="65000"/>
                  </a:schemeClr>
                </a:solidFill>
                <a:latin typeface="Yu Gothic" panose="020B0400000000000000" pitchFamily="34" charset="-128"/>
                <a:ea typeface="Yu Gothic" panose="020B0400000000000000" pitchFamily="34" charset="-128"/>
                <a:cs typeface="Meiryo"/>
              </a:rPr>
              <a:t>セッションを超えてどう設計するか</a:t>
            </a:r>
            <a:endParaRPr sz="1400" dirty="0">
              <a:solidFill>
                <a:schemeClr val="bg1">
                  <a:lumMod val="65000"/>
                </a:schemeClr>
              </a:solidFill>
              <a:latin typeface="Yu Gothic" panose="020B0400000000000000" pitchFamily="34" charset="-128"/>
              <a:ea typeface="Yu Gothic" panose="020B0400000000000000" pitchFamily="34" charset="-128"/>
              <a:cs typeface="Meiryo"/>
            </a:endParaRPr>
          </a:p>
        </p:txBody>
      </p:sp>
      <p:sp>
        <p:nvSpPr>
          <p:cNvPr id="3" name="TextBox 2"/>
          <p:cNvSpPr txBox="1"/>
          <p:nvPr/>
        </p:nvSpPr>
        <p:spPr>
          <a:xfrm>
            <a:off x="640080" y="530352"/>
            <a:ext cx="11064240" cy="584775"/>
          </a:xfrm>
          <a:prstGeom prst="rect">
            <a:avLst/>
          </a:prstGeom>
          <a:noFill/>
        </p:spPr>
        <p:txBody>
          <a:bodyPr wrap="square">
            <a:spAutoFit/>
          </a:bodyPr>
          <a:lstStyle/>
          <a:p>
            <a:r>
              <a:rPr lang="en-US" altLang="ja-JP" sz="3200" b="1" dirty="0">
                <a:latin typeface="Yu Gothic" panose="020B0400000000000000" pitchFamily="34" charset="-128"/>
                <a:ea typeface="Yu Gothic" panose="020B0400000000000000" pitchFamily="34" charset="-128"/>
                <a:cs typeface="Meiryo"/>
              </a:rPr>
              <a:t>⑨</a:t>
            </a:r>
            <a:r>
              <a:rPr sz="3200" b="1" dirty="0">
                <a:latin typeface="Yu Gothic" panose="020B0400000000000000" pitchFamily="34" charset="-128"/>
                <a:ea typeface="Yu Gothic" panose="020B0400000000000000" pitchFamily="34" charset="-128"/>
                <a:cs typeface="Meiryo"/>
              </a:rPr>
              <a:t> dynamic </a:t>
            </a:r>
            <a:r>
              <a:rPr sz="3200" b="1" dirty="0" err="1">
                <a:latin typeface="Yu Gothic" panose="020B0400000000000000" pitchFamily="34" charset="-128"/>
                <a:ea typeface="Yu Gothic" panose="020B0400000000000000" pitchFamily="34" charset="-128"/>
                <a:cs typeface="Meiryo"/>
              </a:rPr>
              <a:t>workflowsで並列作業を効率化させる</a:t>
            </a:r>
            <a:endParaRPr sz="3200" b="1" dirty="0">
              <a:latin typeface="Yu Gothic" panose="020B0400000000000000" pitchFamily="34" charset="-128"/>
              <a:ea typeface="Yu Gothic" panose="020B0400000000000000" pitchFamily="34" charset="-128"/>
              <a:cs typeface="Meiryo"/>
            </a:endParaRPr>
          </a:p>
        </p:txBody>
      </p:sp>
      <p:sp>
        <p:nvSpPr>
          <p:cNvPr id="4" name="Rectangle 3"/>
          <p:cNvSpPr/>
          <p:nvPr/>
        </p:nvSpPr>
        <p:spPr>
          <a:xfrm>
            <a:off x="676656" y="1225296"/>
            <a:ext cx="1097280" cy="4445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76656" y="1481328"/>
            <a:ext cx="10881360" cy="4961358"/>
          </a:xfrm>
          <a:prstGeom prst="rect">
            <a:avLst/>
          </a:prstGeom>
          <a:noFill/>
        </p:spPr>
        <p:txBody>
          <a:bodyPr wrap="square">
            <a:spAutoFit/>
          </a:bodyPr>
          <a:lstStyle/>
          <a:p>
            <a:pPr>
              <a:lnSpc>
                <a:spcPct val="110000"/>
              </a:lnSpc>
              <a:spcBef>
                <a:spcPts val="0"/>
              </a:spcBef>
              <a:spcAft>
                <a:spcPts val="300"/>
              </a:spcAft>
            </a:pPr>
            <a:r>
              <a:rPr lang="ja-JP" altLang="en-US" sz="2000" b="1">
                <a:solidFill>
                  <a:srgbClr val="FBECE8"/>
                </a:solidFill>
                <a:highlight>
                  <a:srgbClr val="FAECE7"/>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FAECE7"/>
                </a:highlight>
                <a:latin typeface="Yu Gothic" panose="020B0400000000000000" pitchFamily="34" charset="-128"/>
                <a:ea typeface="Yu Gothic" panose="020B0400000000000000" pitchFamily="34" charset="-128"/>
                <a:cs typeface="Meiryo"/>
              </a:rPr>
              <a:t>課題</a:t>
            </a:r>
            <a:r>
              <a:rPr lang="en-US" altLang="ja-JP" sz="1000" b="1" dirty="0">
                <a:solidFill>
                  <a:srgbClr val="FBECE8"/>
                </a:solidFill>
                <a:highlight>
                  <a:srgbClr val="FAECE7"/>
                </a:highlight>
                <a:latin typeface="Yu Gothic" panose="020B0400000000000000" pitchFamily="34" charset="-128"/>
                <a:ea typeface="Yu Gothic" panose="020B0400000000000000" pitchFamily="34" charset="-128"/>
                <a:cs typeface="Meiryo"/>
              </a:rPr>
              <a:t>a</a:t>
            </a:r>
            <a:r>
              <a:rPr lang="ja-JP" altLang="en-US" sz="2000" b="1">
                <a:solidFill>
                  <a:srgbClr val="712B13"/>
                </a:solidFill>
                <a:highlight>
                  <a:srgbClr val="FAECE7"/>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リポジトリ全体の一括監査や大規模移行など、大量のサブタスクがある作業を通常通りに進めるとコンテキスト肥大化とトークン消費が激しくなる</a:t>
            </a:r>
          </a:p>
          <a:p>
            <a:pPr marL="274320" indent="0">
              <a:lnSpc>
                <a:spcPct val="113000"/>
              </a:lnSpc>
              <a:spcAft>
                <a:spcPts val="350"/>
              </a:spcAft>
            </a:pPr>
            <a:endParaRPr lang="ja-JP" altLang="en-US">
              <a:solidFill>
                <a:srgbClr val="404040"/>
              </a:solidFill>
              <a:latin typeface="Yu Gothic"/>
              <a:ea typeface="Yu Gothic"/>
              <a:cs typeface="Yu Gothic"/>
            </a:endParaRPr>
          </a:p>
          <a:p>
            <a:pPr>
              <a:lnSpc>
                <a:spcPct val="110000"/>
              </a:lnSpc>
              <a:spcBef>
                <a:spcPts val="0"/>
              </a:spcBef>
              <a:spcAft>
                <a:spcPts val="300"/>
              </a:spcAft>
            </a:pPr>
            <a:r>
              <a:rPr lang="ja-JP" altLang="en-US" sz="2000" b="1">
                <a:solidFill>
                  <a:srgbClr val="0C447C"/>
                </a:solidFill>
                <a:highlight>
                  <a:srgbClr val="E6F1FB"/>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E6F1FB"/>
                </a:highlight>
                <a:latin typeface="Yu Gothic" panose="020B0400000000000000" pitchFamily="34" charset="-128"/>
                <a:ea typeface="Yu Gothic" panose="020B0400000000000000" pitchFamily="34" charset="-128"/>
                <a:cs typeface="Meiryo"/>
              </a:rPr>
              <a:t>活用方法</a:t>
            </a:r>
            <a:r>
              <a:rPr lang="en-US" altLang="ja-JP" sz="1000" b="1" dirty="0">
                <a:solidFill>
                  <a:srgbClr val="E7F2FC"/>
                </a:solidFill>
                <a:highlight>
                  <a:srgbClr val="E6F1FB"/>
                </a:highlight>
                <a:latin typeface="Yu Gothic" panose="020B0400000000000000" pitchFamily="34" charset="-128"/>
                <a:ea typeface="Yu Gothic" panose="020B0400000000000000" pitchFamily="34" charset="-128"/>
                <a:cs typeface="Meiryo"/>
              </a:rPr>
              <a:t>a</a:t>
            </a:r>
            <a:r>
              <a:rPr lang="ja-JP" altLang="en-US" sz="2000" b="1">
                <a:solidFill>
                  <a:srgbClr val="0C447C"/>
                </a:solidFill>
                <a:highlight>
                  <a:srgbClr val="E6F1FB"/>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プロンプトで「</a:t>
            </a:r>
            <a:r>
              <a:rPr lang="en" altLang="ja-JP" dirty="0" err="1">
                <a:solidFill>
                  <a:srgbClr val="404040"/>
                </a:solidFill>
                <a:latin typeface="Yu Gothic"/>
                <a:ea typeface="Yu Gothic"/>
                <a:cs typeface="Yu Gothic"/>
              </a:rPr>
              <a:t>ultracode</a:t>
            </a:r>
            <a:r>
              <a:rPr lang="ja-JP" altLang="en-US">
                <a:solidFill>
                  <a:srgbClr val="404040"/>
                </a:solidFill>
                <a:latin typeface="Yu Gothic"/>
                <a:ea typeface="Yu Gothic"/>
                <a:cs typeface="Yu Gothic"/>
              </a:rPr>
              <a:t>を使って」と指示するか</a:t>
            </a:r>
            <a:r>
              <a:rPr lang="en" altLang="ja-JP" dirty="0">
                <a:solidFill>
                  <a:srgbClr val="404040"/>
                </a:solidFill>
                <a:latin typeface="Yu Gothic"/>
                <a:ea typeface="Yu Gothic"/>
                <a:cs typeface="Yu Gothic"/>
              </a:rPr>
              <a:t>effort</a:t>
            </a:r>
            <a:r>
              <a:rPr lang="ja-JP" altLang="en-US">
                <a:solidFill>
                  <a:srgbClr val="404040"/>
                </a:solidFill>
                <a:latin typeface="Yu Gothic"/>
                <a:ea typeface="Yu Gothic"/>
                <a:cs typeface="Yu Gothic"/>
              </a:rPr>
              <a:t>で</a:t>
            </a:r>
            <a:r>
              <a:rPr lang="en" altLang="ja-JP" dirty="0" err="1">
                <a:solidFill>
                  <a:srgbClr val="404040"/>
                </a:solidFill>
                <a:latin typeface="Yu Gothic"/>
                <a:ea typeface="Yu Gothic"/>
                <a:cs typeface="Yu Gothic"/>
              </a:rPr>
              <a:t>ultracode</a:t>
            </a:r>
            <a:r>
              <a:rPr lang="ja-JP" altLang="en-US">
                <a:solidFill>
                  <a:srgbClr val="404040"/>
                </a:solidFill>
                <a:latin typeface="Yu Gothic"/>
                <a:ea typeface="Yu Gothic"/>
                <a:cs typeface="Yu Gothic"/>
              </a:rPr>
              <a:t>指定で、</a:t>
            </a:r>
            <a:r>
              <a:rPr lang="en" altLang="ja-JP" dirty="0">
                <a:solidFill>
                  <a:srgbClr val="404040"/>
                </a:solidFill>
                <a:latin typeface="Yu Gothic"/>
                <a:ea typeface="Yu Gothic"/>
                <a:cs typeface="Yu Gothic"/>
              </a:rPr>
              <a:t>dynamic workflows</a:t>
            </a:r>
            <a:r>
              <a:rPr lang="ja-JP" altLang="en-US">
                <a:solidFill>
                  <a:srgbClr val="404040"/>
                </a:solidFill>
                <a:latin typeface="Yu Gothic"/>
                <a:ea typeface="Yu Gothic"/>
                <a:cs typeface="Yu Gothic"/>
              </a:rPr>
              <a:t>を起動する</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効果を発揮する例：リポジトリ全体の一括監査、大規模な実装作業、複数観点からのクロスチェックなど</a:t>
            </a:r>
          </a:p>
          <a:p>
            <a:pPr marL="274320" indent="0">
              <a:lnSpc>
                <a:spcPct val="113000"/>
              </a:lnSpc>
              <a:spcAft>
                <a:spcPts val="350"/>
              </a:spcAft>
            </a:pPr>
            <a:endParaRPr lang="ja-JP" altLang="en-US">
              <a:solidFill>
                <a:srgbClr val="404040"/>
              </a:solidFill>
              <a:latin typeface="Yu Gothic"/>
              <a:ea typeface="Yu Gothic"/>
              <a:cs typeface="Yu Gothic"/>
            </a:endParaRPr>
          </a:p>
          <a:p>
            <a:pPr>
              <a:lnSpc>
                <a:spcPct val="110000"/>
              </a:lnSpc>
              <a:spcBef>
                <a:spcPts val="0"/>
              </a:spcBef>
              <a:spcAft>
                <a:spcPts val="300"/>
              </a:spcAft>
            </a:pPr>
            <a:r>
              <a:rPr lang="ja-JP" altLang="en-US" sz="2000" b="1">
                <a:solidFill>
                  <a:srgbClr val="085041"/>
                </a:solidFill>
                <a:highlight>
                  <a:srgbClr val="E1F5EE"/>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E1F5EE"/>
                </a:highlight>
                <a:latin typeface="Yu Gothic" panose="020B0400000000000000" pitchFamily="34" charset="-128"/>
                <a:ea typeface="Yu Gothic" panose="020B0400000000000000" pitchFamily="34" charset="-128"/>
                <a:cs typeface="Meiryo"/>
              </a:rPr>
              <a:t>ポイント・注意点</a:t>
            </a:r>
            <a:r>
              <a:rPr lang="en-US" altLang="ja-JP" sz="1000" b="1" dirty="0">
                <a:solidFill>
                  <a:srgbClr val="E2F5EE"/>
                </a:solidFill>
                <a:highlight>
                  <a:srgbClr val="E1F5EE"/>
                </a:highlight>
                <a:latin typeface="Yu Gothic" panose="020B0400000000000000" pitchFamily="34" charset="-128"/>
                <a:ea typeface="Yu Gothic" panose="020B0400000000000000" pitchFamily="34" charset="-128"/>
                <a:cs typeface="Meiryo"/>
              </a:rPr>
              <a:t>a</a:t>
            </a:r>
            <a:r>
              <a:rPr lang="ja-JP" altLang="en-US" sz="2000" b="1">
                <a:solidFill>
                  <a:srgbClr val="085041"/>
                </a:solidFill>
                <a:highlight>
                  <a:srgbClr val="E1F5EE"/>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latin typeface="Yu Gothic"/>
                <a:ea typeface="Yu Gothic"/>
                <a:cs typeface="Yu Gothic"/>
              </a:rPr>
              <a:t>大量の</a:t>
            </a:r>
            <a:r>
              <a:rPr lang="ja-JP" altLang="en-US">
                <a:solidFill>
                  <a:srgbClr val="404040"/>
                </a:solidFill>
                <a:latin typeface="Yu Gothic"/>
                <a:ea typeface="Yu Gothic"/>
                <a:cs typeface="Yu Gothic"/>
              </a:rPr>
              <a:t>サブエージェント呼び出しが必要なスキルや作業において、</a:t>
            </a:r>
            <a:r>
              <a:rPr lang="en" altLang="ja-JP" dirty="0">
                <a:solidFill>
                  <a:srgbClr val="404040"/>
                </a:solidFill>
                <a:latin typeface="Yu Gothic"/>
                <a:ea typeface="Yu Gothic"/>
                <a:cs typeface="Yu Gothic"/>
              </a:rPr>
              <a:t>dynamic workflows</a:t>
            </a:r>
            <a:r>
              <a:rPr lang="ja-JP" altLang="en-US">
                <a:solidFill>
                  <a:srgbClr val="404040"/>
                </a:solidFill>
                <a:latin typeface="Yu Gothic"/>
                <a:ea typeface="Yu Gothic"/>
                <a:cs typeface="Yu Gothic"/>
              </a:rPr>
              <a:t>で並列実行させることでトークン消費を効率化できる</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逆に、通常の作業で使うとトークン消費が非常に激しくなるため注意が必要</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80" y="530352"/>
            <a:ext cx="11064240" cy="584775"/>
          </a:xfrm>
          <a:prstGeom prst="rect">
            <a:avLst/>
          </a:prstGeom>
          <a:noFill/>
        </p:spPr>
        <p:txBody>
          <a:bodyPr wrap="square">
            <a:spAutoFit/>
          </a:bodyPr>
          <a:lstStyle/>
          <a:p>
            <a:r>
              <a:rPr lang="en-US" altLang="ja-JP" sz="3200" b="1" dirty="0">
                <a:latin typeface="Yu Gothic" panose="020B0400000000000000" pitchFamily="34" charset="-128"/>
                <a:ea typeface="Yu Gothic" panose="020B0400000000000000" pitchFamily="34" charset="-128"/>
                <a:cs typeface="Meiryo"/>
              </a:rPr>
              <a:t>⑩</a:t>
            </a:r>
            <a:r>
              <a:rPr sz="3200" b="1" dirty="0">
                <a:latin typeface="Yu Gothic" panose="020B0400000000000000" pitchFamily="34" charset="-128"/>
                <a:ea typeface="Yu Gothic" panose="020B0400000000000000" pitchFamily="34" charset="-128"/>
                <a:cs typeface="Meiryo"/>
              </a:rPr>
              <a:t> </a:t>
            </a:r>
            <a:r>
              <a:rPr sz="3200" b="1" dirty="0" err="1">
                <a:latin typeface="Yu Gothic" panose="020B0400000000000000" pitchFamily="34" charset="-128"/>
                <a:ea typeface="Yu Gothic" panose="020B0400000000000000" pitchFamily="34" charset="-128"/>
                <a:cs typeface="Meiryo"/>
              </a:rPr>
              <a:t>作業を一気通貫で行わせる</a:t>
            </a:r>
            <a:endParaRPr sz="3200" b="1" dirty="0">
              <a:latin typeface="Yu Gothic" panose="020B0400000000000000" pitchFamily="34" charset="-128"/>
              <a:ea typeface="Yu Gothic" panose="020B0400000000000000" pitchFamily="34" charset="-128"/>
              <a:cs typeface="Meiryo"/>
            </a:endParaRPr>
          </a:p>
        </p:txBody>
      </p:sp>
      <p:sp>
        <p:nvSpPr>
          <p:cNvPr id="4" name="Rectangle 3"/>
          <p:cNvSpPr/>
          <p:nvPr/>
        </p:nvSpPr>
        <p:spPr>
          <a:xfrm>
            <a:off x="676656" y="1225296"/>
            <a:ext cx="1097280" cy="4445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76656" y="1481328"/>
            <a:ext cx="10881360" cy="5012654"/>
          </a:xfrm>
          <a:prstGeom prst="rect">
            <a:avLst/>
          </a:prstGeom>
          <a:noFill/>
        </p:spPr>
        <p:txBody>
          <a:bodyPr wrap="square">
            <a:spAutoFit/>
          </a:bodyPr>
          <a:lstStyle/>
          <a:p>
            <a:pPr>
              <a:lnSpc>
                <a:spcPct val="110000"/>
              </a:lnSpc>
              <a:spcBef>
                <a:spcPts val="0"/>
              </a:spcBef>
              <a:spcAft>
                <a:spcPts val="300"/>
              </a:spcAft>
            </a:pPr>
            <a:r>
              <a:rPr lang="ja-JP" altLang="en-US" sz="2000" b="1">
                <a:solidFill>
                  <a:srgbClr val="FBECE8"/>
                </a:solidFill>
                <a:highlight>
                  <a:srgbClr val="FAECE7"/>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FAECE7"/>
                </a:highlight>
                <a:latin typeface="Yu Gothic" panose="020B0400000000000000" pitchFamily="34" charset="-128"/>
                <a:ea typeface="Yu Gothic" panose="020B0400000000000000" pitchFamily="34" charset="-128"/>
                <a:cs typeface="Meiryo"/>
              </a:rPr>
              <a:t>課題</a:t>
            </a:r>
            <a:r>
              <a:rPr lang="en-US" altLang="ja-JP" sz="1000" b="1" dirty="0">
                <a:solidFill>
                  <a:srgbClr val="FBECE8"/>
                </a:solidFill>
                <a:highlight>
                  <a:srgbClr val="FAECE7"/>
                </a:highlight>
                <a:latin typeface="Yu Gothic" panose="020B0400000000000000" pitchFamily="34" charset="-128"/>
                <a:ea typeface="Yu Gothic" panose="020B0400000000000000" pitchFamily="34" charset="-128"/>
                <a:cs typeface="Meiryo"/>
              </a:rPr>
              <a:t>a</a:t>
            </a:r>
            <a:r>
              <a:rPr lang="ja-JP" altLang="en-US" sz="2000" b="1">
                <a:solidFill>
                  <a:srgbClr val="712B13"/>
                </a:solidFill>
                <a:highlight>
                  <a:srgbClr val="FAECE7"/>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調査、設計、実装、レビューを毎回人間が手動でセッションを切り替えて指示していると、作業の引き継ぎ漏れや指示の手間が発生し、属人化しやすい</a:t>
            </a:r>
          </a:p>
          <a:p>
            <a:pPr marL="274320" indent="0">
              <a:lnSpc>
                <a:spcPct val="113000"/>
              </a:lnSpc>
              <a:spcAft>
                <a:spcPts val="350"/>
              </a:spcAft>
            </a:pPr>
            <a:endParaRPr lang="ja-JP" altLang="en-US">
              <a:solidFill>
                <a:srgbClr val="404040"/>
              </a:solidFill>
              <a:latin typeface="Yu Gothic"/>
              <a:ea typeface="Yu Gothic"/>
              <a:cs typeface="Yu Gothic"/>
            </a:endParaRPr>
          </a:p>
          <a:p>
            <a:pPr>
              <a:lnSpc>
                <a:spcPct val="110000"/>
              </a:lnSpc>
              <a:spcBef>
                <a:spcPts val="0"/>
              </a:spcBef>
              <a:spcAft>
                <a:spcPts val="300"/>
              </a:spcAft>
            </a:pPr>
            <a:r>
              <a:rPr lang="ja-JP" altLang="en-US" sz="2000" b="1">
                <a:solidFill>
                  <a:srgbClr val="0C447C"/>
                </a:solidFill>
                <a:highlight>
                  <a:srgbClr val="E6F1FB"/>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E6F1FB"/>
                </a:highlight>
                <a:latin typeface="Yu Gothic" panose="020B0400000000000000" pitchFamily="34" charset="-128"/>
                <a:ea typeface="Yu Gothic" panose="020B0400000000000000" pitchFamily="34" charset="-128"/>
                <a:cs typeface="Meiryo"/>
              </a:rPr>
              <a:t>活用方法</a:t>
            </a:r>
            <a:r>
              <a:rPr lang="en-US" altLang="ja-JP" sz="1000" b="1" dirty="0">
                <a:solidFill>
                  <a:srgbClr val="E7F2FC"/>
                </a:solidFill>
                <a:highlight>
                  <a:srgbClr val="E6F1FB"/>
                </a:highlight>
                <a:latin typeface="Yu Gothic" panose="020B0400000000000000" pitchFamily="34" charset="-128"/>
                <a:ea typeface="Yu Gothic" panose="020B0400000000000000" pitchFamily="34" charset="-128"/>
                <a:cs typeface="Meiryo"/>
              </a:rPr>
              <a:t>a</a:t>
            </a:r>
            <a:r>
              <a:rPr lang="ja-JP" altLang="en-US" sz="2000" b="1">
                <a:solidFill>
                  <a:srgbClr val="0C447C"/>
                </a:solidFill>
                <a:highlight>
                  <a:srgbClr val="E6F1FB"/>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スキルのパイプライン化</a:t>
            </a:r>
          </a:p>
          <a:p>
            <a:pPr marL="548640" indent="0">
              <a:lnSpc>
                <a:spcPct val="113000"/>
              </a:lnSpc>
              <a:spcAft>
                <a:spcPts val="350"/>
              </a:spcAft>
            </a:pPr>
            <a:r>
              <a:rPr lang="en-US" altLang="ja-JP" dirty="0">
                <a:solidFill>
                  <a:srgbClr val="8C8C8C"/>
                </a:solidFill>
                <a:latin typeface="Yu Gothic"/>
                <a:ea typeface="Yu Gothic"/>
                <a:cs typeface="Yu Gothic"/>
              </a:rPr>
              <a:t>– </a:t>
            </a:r>
            <a:r>
              <a:rPr lang="ja-JP" altLang="en-US">
                <a:solidFill>
                  <a:srgbClr val="404040"/>
                </a:solidFill>
                <a:latin typeface="Yu Gothic"/>
                <a:ea typeface="Yu Gothic"/>
                <a:cs typeface="Yu Gothic"/>
              </a:rPr>
              <a:t>一連の工程（課題理解 → 方針検討 → 実装計画 → 実装 → テスト</a:t>
            </a:r>
            <a:r>
              <a:rPr lang="en-US" altLang="ja-JP" dirty="0">
                <a:solidFill>
                  <a:srgbClr val="404040"/>
                </a:solidFill>
                <a:latin typeface="Yu Gothic"/>
                <a:ea typeface="Yu Gothic"/>
                <a:cs typeface="Yu Gothic"/>
              </a:rPr>
              <a:t>/</a:t>
            </a:r>
            <a:r>
              <a:rPr lang="ja-JP" altLang="en-US">
                <a:solidFill>
                  <a:srgbClr val="404040"/>
                </a:solidFill>
                <a:latin typeface="Yu Gothic"/>
                <a:ea typeface="Yu Gothic"/>
                <a:cs typeface="Yu Gothic"/>
              </a:rPr>
              <a:t>レビュー → </a:t>
            </a:r>
            <a:r>
              <a:rPr lang="en" altLang="ja-JP" dirty="0">
                <a:solidFill>
                  <a:srgbClr val="404040"/>
                </a:solidFill>
                <a:latin typeface="Yu Gothic"/>
                <a:ea typeface="Yu Gothic"/>
                <a:cs typeface="Yu Gothic"/>
              </a:rPr>
              <a:t>PR</a:t>
            </a:r>
            <a:r>
              <a:rPr lang="ja-JP" altLang="en-US">
                <a:solidFill>
                  <a:srgbClr val="404040"/>
                </a:solidFill>
                <a:latin typeface="Yu Gothic"/>
                <a:ea typeface="Yu Gothic"/>
                <a:cs typeface="Yu Gothic"/>
              </a:rPr>
              <a:t>作成）を連鎖的に実行する統合ワークフローを組む</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ゲート（確認ポイント）の設計</a:t>
            </a:r>
          </a:p>
          <a:p>
            <a:pPr marL="548640" indent="0">
              <a:lnSpc>
                <a:spcPct val="113000"/>
              </a:lnSpc>
              <a:spcAft>
                <a:spcPts val="350"/>
              </a:spcAft>
            </a:pPr>
            <a:r>
              <a:rPr lang="en-US" altLang="ja-JP" dirty="0">
                <a:solidFill>
                  <a:srgbClr val="8C8C8C"/>
                </a:solidFill>
                <a:latin typeface="Yu Gothic"/>
                <a:ea typeface="Yu Gothic"/>
                <a:cs typeface="Yu Gothic"/>
              </a:rPr>
              <a:t>– </a:t>
            </a:r>
            <a:r>
              <a:rPr lang="ja-JP" altLang="en-US">
                <a:solidFill>
                  <a:srgbClr val="404040"/>
                </a:solidFill>
                <a:latin typeface="Yu Gothic"/>
                <a:ea typeface="Yu Gothic"/>
                <a:cs typeface="Yu Gothic"/>
              </a:rPr>
              <a:t>「方針検討が終わったら人間に確認」「判断が必要なレビュー指摘は人間に確認」のように、要所にチェックポイントを設けて自律実行させる</a:t>
            </a:r>
          </a:p>
          <a:p>
            <a:pPr marL="548640" indent="0">
              <a:lnSpc>
                <a:spcPct val="113000"/>
              </a:lnSpc>
              <a:spcAft>
                <a:spcPts val="350"/>
              </a:spcAft>
            </a:pPr>
            <a:endParaRPr lang="ja-JP" altLang="en-US">
              <a:solidFill>
                <a:srgbClr val="404040"/>
              </a:solidFill>
              <a:latin typeface="Yu Gothic"/>
              <a:ea typeface="Yu Gothic"/>
              <a:cs typeface="Yu Gothic"/>
            </a:endParaRPr>
          </a:p>
          <a:p>
            <a:pPr>
              <a:lnSpc>
                <a:spcPct val="110000"/>
              </a:lnSpc>
              <a:spcBef>
                <a:spcPts val="0"/>
              </a:spcBef>
              <a:spcAft>
                <a:spcPts val="300"/>
              </a:spcAft>
            </a:pPr>
            <a:r>
              <a:rPr lang="ja-JP" altLang="en-US" sz="2000" b="1">
                <a:solidFill>
                  <a:srgbClr val="085041"/>
                </a:solidFill>
                <a:highlight>
                  <a:srgbClr val="E1F5EE"/>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E1F5EE"/>
                </a:highlight>
                <a:latin typeface="Yu Gothic" panose="020B0400000000000000" pitchFamily="34" charset="-128"/>
                <a:ea typeface="Yu Gothic" panose="020B0400000000000000" pitchFamily="34" charset="-128"/>
                <a:cs typeface="Meiryo"/>
              </a:rPr>
              <a:t>ポイント・注意点</a:t>
            </a:r>
            <a:r>
              <a:rPr lang="en-US" altLang="ja-JP" sz="1000" b="1" dirty="0">
                <a:solidFill>
                  <a:srgbClr val="E2F5EE"/>
                </a:solidFill>
                <a:highlight>
                  <a:srgbClr val="E1F5EE"/>
                </a:highlight>
                <a:latin typeface="Yu Gothic" panose="020B0400000000000000" pitchFamily="34" charset="-128"/>
                <a:ea typeface="Yu Gothic" panose="020B0400000000000000" pitchFamily="34" charset="-128"/>
                <a:cs typeface="Meiryo"/>
              </a:rPr>
              <a:t>a</a:t>
            </a:r>
            <a:r>
              <a:rPr lang="ja-JP" altLang="en-US" sz="2000" b="1">
                <a:solidFill>
                  <a:srgbClr val="085041"/>
                </a:solidFill>
                <a:highlight>
                  <a:srgbClr val="E1F5EE"/>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チーム内で開発手順の標準化ができ、メンバー間の品質のばらつきも防止できる</a:t>
            </a:r>
          </a:p>
        </p:txBody>
      </p:sp>
      <p:sp>
        <p:nvSpPr>
          <p:cNvPr id="7" name="TextBox 1">
            <a:extLst>
              <a:ext uri="{FF2B5EF4-FFF2-40B4-BE49-F238E27FC236}">
                <a16:creationId xmlns:a16="http://schemas.microsoft.com/office/drawing/2014/main" id="{7076F404-EE40-DEC6-8483-B0AF463B80FA}"/>
              </a:ext>
            </a:extLst>
          </p:cNvPr>
          <p:cNvSpPr txBox="1"/>
          <p:nvPr/>
        </p:nvSpPr>
        <p:spPr>
          <a:xfrm>
            <a:off x="658368" y="274320"/>
            <a:ext cx="3353803" cy="307777"/>
          </a:xfrm>
          <a:prstGeom prst="rect">
            <a:avLst/>
          </a:prstGeom>
          <a:noFill/>
        </p:spPr>
        <p:txBody>
          <a:bodyPr wrap="none">
            <a:spAutoFit/>
          </a:bodyPr>
          <a:lstStyle/>
          <a:p>
            <a:r>
              <a:rPr lang="en-US" sz="1400" dirty="0">
                <a:solidFill>
                  <a:schemeClr val="bg1">
                    <a:lumMod val="65000"/>
                  </a:schemeClr>
                </a:solidFill>
                <a:latin typeface="Yu Gothic" panose="020B0400000000000000" pitchFamily="34" charset="-128"/>
                <a:ea typeface="Yu Gothic" panose="020B0400000000000000" pitchFamily="34" charset="-128"/>
                <a:cs typeface="Meiryo"/>
              </a:rPr>
              <a:t>04</a:t>
            </a:r>
            <a:r>
              <a:rPr sz="1400" dirty="0">
                <a:solidFill>
                  <a:schemeClr val="bg1">
                    <a:lumMod val="65000"/>
                  </a:schemeClr>
                </a:solidFill>
                <a:latin typeface="Yu Gothic" panose="020B0400000000000000" pitchFamily="34" charset="-128"/>
                <a:ea typeface="Yu Gothic" panose="020B0400000000000000" pitchFamily="34" charset="-128"/>
                <a:cs typeface="Meiryo"/>
              </a:rPr>
              <a:t>. </a:t>
            </a:r>
            <a:r>
              <a:rPr sz="1400" dirty="0" err="1">
                <a:solidFill>
                  <a:schemeClr val="bg1">
                    <a:lumMod val="65000"/>
                  </a:schemeClr>
                </a:solidFill>
                <a:latin typeface="Yu Gothic" panose="020B0400000000000000" pitchFamily="34" charset="-128"/>
                <a:ea typeface="Yu Gothic" panose="020B0400000000000000" pitchFamily="34" charset="-128"/>
                <a:cs typeface="Meiryo"/>
              </a:rPr>
              <a:t>セッションを超えてどう設計するか</a:t>
            </a:r>
            <a:endParaRPr sz="1400" dirty="0">
              <a:solidFill>
                <a:schemeClr val="bg1">
                  <a:lumMod val="65000"/>
                </a:schemeClr>
              </a:solidFill>
              <a:latin typeface="Yu Gothic" panose="020B0400000000000000" pitchFamily="34" charset="-128"/>
              <a:ea typeface="Yu Gothic" panose="020B0400000000000000" pitchFamily="34" charset="-128"/>
              <a:cs typeface="Meiry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0080" y="530352"/>
            <a:ext cx="11064240" cy="584775"/>
          </a:xfrm>
          <a:prstGeom prst="rect">
            <a:avLst/>
          </a:prstGeom>
          <a:noFill/>
        </p:spPr>
        <p:txBody>
          <a:bodyPr wrap="square">
            <a:spAutoFit/>
          </a:bodyPr>
          <a:lstStyle/>
          <a:p>
            <a:r>
              <a:rPr lang="en-US" altLang="ja-JP" sz="3200" b="1" dirty="0">
                <a:latin typeface="Yu Gothic" panose="020B0400000000000000" pitchFamily="34" charset="-128"/>
                <a:ea typeface="Yu Gothic" panose="020B0400000000000000" pitchFamily="34" charset="-128"/>
                <a:cs typeface="Meiryo"/>
              </a:rPr>
              <a:t>⑪</a:t>
            </a:r>
            <a:r>
              <a:rPr sz="3200" b="1" dirty="0">
                <a:latin typeface="Yu Gothic" panose="020B0400000000000000" pitchFamily="34" charset="-128"/>
                <a:ea typeface="Yu Gothic" panose="020B0400000000000000" pitchFamily="34" charset="-128"/>
                <a:cs typeface="Meiryo"/>
              </a:rPr>
              <a:t> </a:t>
            </a:r>
            <a:r>
              <a:rPr sz="3200" b="1" dirty="0" err="1">
                <a:latin typeface="Yu Gothic" panose="020B0400000000000000" pitchFamily="34" charset="-128"/>
                <a:ea typeface="Yu Gothic" panose="020B0400000000000000" pitchFamily="34" charset="-128"/>
                <a:cs typeface="Meiryo"/>
              </a:rPr>
              <a:t>作業記録と進捗を一括管理する</a:t>
            </a:r>
            <a:endParaRPr sz="3200" b="1" dirty="0">
              <a:latin typeface="Yu Gothic" panose="020B0400000000000000" pitchFamily="34" charset="-128"/>
              <a:ea typeface="Yu Gothic" panose="020B0400000000000000" pitchFamily="34" charset="-128"/>
              <a:cs typeface="Meiryo"/>
            </a:endParaRPr>
          </a:p>
        </p:txBody>
      </p:sp>
      <p:sp>
        <p:nvSpPr>
          <p:cNvPr id="4" name="Rectangle 3"/>
          <p:cNvSpPr/>
          <p:nvPr/>
        </p:nvSpPr>
        <p:spPr>
          <a:xfrm>
            <a:off x="676656" y="1225296"/>
            <a:ext cx="1097280" cy="4445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76656" y="1481328"/>
            <a:ext cx="10881360" cy="5115246"/>
          </a:xfrm>
          <a:prstGeom prst="rect">
            <a:avLst/>
          </a:prstGeom>
          <a:noFill/>
        </p:spPr>
        <p:txBody>
          <a:bodyPr wrap="square">
            <a:spAutoFit/>
          </a:bodyPr>
          <a:lstStyle/>
          <a:p>
            <a:pPr>
              <a:lnSpc>
                <a:spcPct val="110000"/>
              </a:lnSpc>
              <a:spcBef>
                <a:spcPts val="0"/>
              </a:spcBef>
              <a:spcAft>
                <a:spcPts val="300"/>
              </a:spcAft>
            </a:pPr>
            <a:r>
              <a:rPr lang="ja-JP" altLang="en-US" sz="2000" b="1">
                <a:solidFill>
                  <a:srgbClr val="FBECE8"/>
                </a:solidFill>
                <a:highlight>
                  <a:srgbClr val="FAECE7"/>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FAECE7"/>
                </a:highlight>
                <a:latin typeface="Yu Gothic" panose="020B0400000000000000" pitchFamily="34" charset="-128"/>
                <a:ea typeface="Yu Gothic" panose="020B0400000000000000" pitchFamily="34" charset="-128"/>
                <a:cs typeface="Meiryo"/>
              </a:rPr>
              <a:t>課題</a:t>
            </a:r>
            <a:r>
              <a:rPr lang="en-US" altLang="ja-JP" sz="1000" b="1" dirty="0">
                <a:solidFill>
                  <a:srgbClr val="FBECE8"/>
                </a:solidFill>
                <a:highlight>
                  <a:srgbClr val="FAECE7"/>
                </a:highlight>
                <a:latin typeface="Yu Gothic" panose="020B0400000000000000" pitchFamily="34" charset="-128"/>
                <a:ea typeface="Yu Gothic" panose="020B0400000000000000" pitchFamily="34" charset="-128"/>
                <a:cs typeface="Meiryo"/>
              </a:rPr>
              <a:t>a</a:t>
            </a:r>
            <a:r>
              <a:rPr lang="ja-JP" altLang="en-US" sz="2000" b="1">
                <a:solidFill>
                  <a:srgbClr val="712B13"/>
                </a:solidFill>
                <a:highlight>
                  <a:srgbClr val="FAECE7"/>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セッションを分けて</a:t>
            </a:r>
            <a:r>
              <a:rPr lang="en" altLang="ja-JP" dirty="0">
                <a:solidFill>
                  <a:srgbClr val="404040"/>
                </a:solidFill>
                <a:latin typeface="Yu Gothic"/>
                <a:ea typeface="Yu Gothic"/>
                <a:cs typeface="Yu Gothic"/>
              </a:rPr>
              <a:t>Markdown</a:t>
            </a:r>
            <a:r>
              <a:rPr lang="ja-JP" altLang="en-US">
                <a:solidFill>
                  <a:srgbClr val="404040"/>
                </a:solidFill>
                <a:latin typeface="Yu Gothic"/>
                <a:ea typeface="Yu Gothic"/>
                <a:cs typeface="Yu Gothic"/>
              </a:rPr>
              <a:t>を量産していくと、情報が散乱し、後からの追跡が困難になる</a:t>
            </a:r>
          </a:p>
          <a:p>
            <a:pPr marL="274320" indent="0">
              <a:lnSpc>
                <a:spcPct val="113000"/>
              </a:lnSpc>
              <a:spcAft>
                <a:spcPts val="350"/>
              </a:spcAft>
            </a:pPr>
            <a:endParaRPr lang="ja-JP" altLang="en-US">
              <a:solidFill>
                <a:srgbClr val="404040"/>
              </a:solidFill>
              <a:latin typeface="Yu Gothic"/>
              <a:ea typeface="Yu Gothic"/>
              <a:cs typeface="Yu Gothic"/>
            </a:endParaRPr>
          </a:p>
          <a:p>
            <a:pPr>
              <a:lnSpc>
                <a:spcPct val="110000"/>
              </a:lnSpc>
              <a:spcBef>
                <a:spcPts val="0"/>
              </a:spcBef>
              <a:spcAft>
                <a:spcPts val="300"/>
              </a:spcAft>
            </a:pPr>
            <a:r>
              <a:rPr lang="ja-JP" altLang="en-US" sz="2000" b="1">
                <a:solidFill>
                  <a:srgbClr val="0C447C"/>
                </a:solidFill>
                <a:highlight>
                  <a:srgbClr val="E6F1FB"/>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E6F1FB"/>
                </a:highlight>
                <a:latin typeface="Yu Gothic" panose="020B0400000000000000" pitchFamily="34" charset="-128"/>
                <a:ea typeface="Yu Gothic" panose="020B0400000000000000" pitchFamily="34" charset="-128"/>
                <a:cs typeface="Meiryo"/>
              </a:rPr>
              <a:t>活用方法</a:t>
            </a:r>
            <a:r>
              <a:rPr lang="en-US" altLang="ja-JP" sz="1000" b="1" dirty="0">
                <a:solidFill>
                  <a:srgbClr val="E7F2FC"/>
                </a:solidFill>
                <a:highlight>
                  <a:srgbClr val="E6F1FB"/>
                </a:highlight>
                <a:latin typeface="Yu Gothic" panose="020B0400000000000000" pitchFamily="34" charset="-128"/>
                <a:ea typeface="Yu Gothic" panose="020B0400000000000000" pitchFamily="34" charset="-128"/>
                <a:cs typeface="Meiryo"/>
              </a:rPr>
              <a:t>a</a:t>
            </a:r>
            <a:r>
              <a:rPr lang="ja-JP" altLang="en-US" sz="2000" b="1">
                <a:solidFill>
                  <a:srgbClr val="0C447C"/>
                </a:solidFill>
                <a:highlight>
                  <a:srgbClr val="E6F1FB"/>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チケット単位のディレクトリ標準化</a:t>
            </a:r>
          </a:p>
          <a:p>
            <a:pPr marL="548640" indent="0">
              <a:lnSpc>
                <a:spcPct val="113000"/>
              </a:lnSpc>
              <a:spcAft>
                <a:spcPts val="350"/>
              </a:spcAft>
            </a:pPr>
            <a:r>
              <a:rPr lang="en-US" altLang="ja-JP" dirty="0">
                <a:solidFill>
                  <a:srgbClr val="8C8C8C"/>
                </a:solidFill>
                <a:latin typeface="Yu Gothic"/>
                <a:ea typeface="Yu Gothic"/>
                <a:cs typeface="Yu Gothic"/>
              </a:rPr>
              <a:t>– </a:t>
            </a:r>
            <a:r>
              <a:rPr lang="ja-JP" altLang="en-US">
                <a:solidFill>
                  <a:srgbClr val="404040"/>
                </a:solidFill>
                <a:latin typeface="Yu Gothic"/>
                <a:ea typeface="Yu Gothic"/>
                <a:cs typeface="Yu Gothic"/>
              </a:rPr>
              <a:t>課題のチケット番号ごとに専用フォルダ（例：</a:t>
            </a:r>
            <a:r>
              <a:rPr lang="en" altLang="ja-JP" dirty="0">
                <a:solidFill>
                  <a:srgbClr val="404040"/>
                </a:solidFill>
                <a:latin typeface="Yu Gothic"/>
                <a:ea typeface="Yu Gothic"/>
                <a:cs typeface="Yu Gothic"/>
              </a:rPr>
              <a:t>docs/tickets/PROJ-1234/</a:t>
            </a:r>
            <a:r>
              <a:rPr lang="ja-JP" altLang="en">
                <a:solidFill>
                  <a:srgbClr val="404040"/>
                </a:solidFill>
                <a:latin typeface="Yu Gothic"/>
                <a:ea typeface="Yu Gothic"/>
                <a:cs typeface="Yu Gothic"/>
              </a:rPr>
              <a:t>）</a:t>
            </a:r>
            <a:r>
              <a:rPr lang="ja-JP" altLang="en-US">
                <a:solidFill>
                  <a:srgbClr val="404040"/>
                </a:solidFill>
                <a:latin typeface="Yu Gothic"/>
                <a:ea typeface="Yu Gothic"/>
                <a:cs typeface="Yu Gothic"/>
              </a:rPr>
              <a:t>を用意</a:t>
            </a:r>
          </a:p>
          <a:p>
            <a:pPr marL="548640" indent="0">
              <a:lnSpc>
                <a:spcPct val="113000"/>
              </a:lnSpc>
              <a:spcAft>
                <a:spcPts val="350"/>
              </a:spcAft>
            </a:pPr>
            <a:r>
              <a:rPr lang="en-US" altLang="ja-JP" dirty="0">
                <a:solidFill>
                  <a:srgbClr val="8C8C8C"/>
                </a:solidFill>
                <a:latin typeface="Yu Gothic"/>
                <a:ea typeface="Yu Gothic"/>
                <a:cs typeface="Yu Gothic"/>
              </a:rPr>
              <a:t>– </a:t>
            </a:r>
            <a:r>
              <a:rPr lang="en-US" altLang="ja-JP" dirty="0">
                <a:solidFill>
                  <a:srgbClr val="404040"/>
                </a:solidFill>
                <a:latin typeface="Yu Gothic"/>
                <a:ea typeface="Yu Gothic"/>
                <a:cs typeface="Yu Gothic"/>
              </a:rPr>
              <a:t>01_</a:t>
            </a:r>
            <a:r>
              <a:rPr lang="ja-JP" altLang="en-US">
                <a:solidFill>
                  <a:srgbClr val="404040"/>
                </a:solidFill>
                <a:latin typeface="Yu Gothic"/>
                <a:ea typeface="Yu Gothic"/>
                <a:cs typeface="Yu Gothic"/>
              </a:rPr>
              <a:t>調査</a:t>
            </a:r>
            <a:r>
              <a:rPr lang="en-US" altLang="ja-JP" dirty="0">
                <a:solidFill>
                  <a:srgbClr val="404040"/>
                </a:solidFill>
                <a:latin typeface="Yu Gothic"/>
                <a:ea typeface="Yu Gothic"/>
                <a:cs typeface="Yu Gothic"/>
              </a:rPr>
              <a:t>.</a:t>
            </a:r>
            <a:r>
              <a:rPr lang="en" altLang="ja-JP" dirty="0">
                <a:solidFill>
                  <a:srgbClr val="404040"/>
                </a:solidFill>
                <a:latin typeface="Yu Gothic"/>
                <a:ea typeface="Yu Gothic"/>
                <a:cs typeface="Yu Gothic"/>
              </a:rPr>
              <a:t>md, 02_</a:t>
            </a:r>
            <a:r>
              <a:rPr lang="ja-JP" altLang="en-US">
                <a:solidFill>
                  <a:srgbClr val="404040"/>
                </a:solidFill>
                <a:latin typeface="Yu Gothic"/>
                <a:ea typeface="Yu Gothic"/>
                <a:cs typeface="Yu Gothic"/>
              </a:rPr>
              <a:t>設計</a:t>
            </a:r>
            <a:r>
              <a:rPr lang="en-US" altLang="ja-JP" dirty="0">
                <a:solidFill>
                  <a:srgbClr val="404040"/>
                </a:solidFill>
                <a:latin typeface="Yu Gothic"/>
                <a:ea typeface="Yu Gothic"/>
                <a:cs typeface="Yu Gothic"/>
              </a:rPr>
              <a:t>.</a:t>
            </a:r>
            <a:r>
              <a:rPr lang="en" altLang="ja-JP" dirty="0">
                <a:solidFill>
                  <a:srgbClr val="404040"/>
                </a:solidFill>
                <a:latin typeface="Yu Gothic"/>
                <a:ea typeface="Yu Gothic"/>
                <a:cs typeface="Yu Gothic"/>
              </a:rPr>
              <a:t>md, </a:t>
            </a:r>
            <a:r>
              <a:rPr lang="ja-JP" altLang="en-US">
                <a:solidFill>
                  <a:srgbClr val="404040"/>
                </a:solidFill>
                <a:latin typeface="Yu Gothic"/>
                <a:ea typeface="Yu Gothic"/>
                <a:cs typeface="Yu Gothic"/>
              </a:rPr>
              <a:t>のように命名規則を固定して出力・集約させる</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進捗管理の運用</a:t>
            </a:r>
          </a:p>
          <a:p>
            <a:pPr marL="548640" indent="0">
              <a:lnSpc>
                <a:spcPct val="113000"/>
              </a:lnSpc>
              <a:spcAft>
                <a:spcPts val="350"/>
              </a:spcAft>
            </a:pPr>
            <a:r>
              <a:rPr lang="en-US" altLang="ja-JP" dirty="0">
                <a:solidFill>
                  <a:srgbClr val="8C8C8C"/>
                </a:solidFill>
                <a:latin typeface="Yu Gothic"/>
                <a:ea typeface="Yu Gothic"/>
                <a:cs typeface="Yu Gothic"/>
              </a:rPr>
              <a:t>– </a:t>
            </a:r>
            <a:r>
              <a:rPr lang="ja-JP" altLang="en-US">
                <a:solidFill>
                  <a:srgbClr val="404040"/>
                </a:solidFill>
                <a:latin typeface="Yu Gothic"/>
                <a:ea typeface="Yu Gothic"/>
                <a:cs typeface="Yu Gothic"/>
              </a:rPr>
              <a:t>現在の進捗状況・決定事項・残タスクをフォルダ内の進捗ドキュメントへ自動更新・記録させる</a:t>
            </a:r>
          </a:p>
          <a:p>
            <a:pPr marL="548640" indent="0">
              <a:lnSpc>
                <a:spcPct val="113000"/>
              </a:lnSpc>
              <a:spcAft>
                <a:spcPts val="350"/>
              </a:spcAft>
            </a:pPr>
            <a:endParaRPr lang="ja-JP" altLang="en-US">
              <a:solidFill>
                <a:srgbClr val="404040"/>
              </a:solidFill>
              <a:latin typeface="Yu Gothic"/>
              <a:ea typeface="Yu Gothic"/>
              <a:cs typeface="Yu Gothic"/>
            </a:endParaRPr>
          </a:p>
          <a:p>
            <a:pPr>
              <a:lnSpc>
                <a:spcPct val="110000"/>
              </a:lnSpc>
              <a:spcBef>
                <a:spcPts val="0"/>
              </a:spcBef>
              <a:spcAft>
                <a:spcPts val="300"/>
              </a:spcAft>
            </a:pPr>
            <a:r>
              <a:rPr lang="ja-JP" altLang="en-US" sz="2000" b="1">
                <a:solidFill>
                  <a:srgbClr val="085041"/>
                </a:solidFill>
                <a:highlight>
                  <a:srgbClr val="E1F5EE"/>
                </a:highlight>
                <a:latin typeface="Yu Gothic" panose="020B0400000000000000" pitchFamily="34" charset="-128"/>
                <a:ea typeface="Yu Gothic" panose="020B0400000000000000" pitchFamily="34" charset="-128"/>
                <a:cs typeface="Meiryo"/>
              </a:rPr>
              <a:t> </a:t>
            </a:r>
            <a:r>
              <a:rPr lang="ja-JP" altLang="en-US" sz="2000" b="1">
                <a:solidFill>
                  <a:schemeClr val="tx1">
                    <a:lumMod val="75000"/>
                    <a:lumOff val="25000"/>
                  </a:schemeClr>
                </a:solidFill>
                <a:highlight>
                  <a:srgbClr val="E1F5EE"/>
                </a:highlight>
                <a:latin typeface="Yu Gothic" panose="020B0400000000000000" pitchFamily="34" charset="-128"/>
                <a:ea typeface="Yu Gothic" panose="020B0400000000000000" pitchFamily="34" charset="-128"/>
                <a:cs typeface="Meiryo"/>
              </a:rPr>
              <a:t>ポイント・注意点</a:t>
            </a:r>
            <a:r>
              <a:rPr lang="en-US" altLang="ja-JP" sz="1000" b="1" dirty="0">
                <a:solidFill>
                  <a:srgbClr val="E2F5EE"/>
                </a:solidFill>
                <a:highlight>
                  <a:srgbClr val="E1F5EE"/>
                </a:highlight>
                <a:latin typeface="Yu Gothic" panose="020B0400000000000000" pitchFamily="34" charset="-128"/>
                <a:ea typeface="Yu Gothic" panose="020B0400000000000000" pitchFamily="34" charset="-128"/>
                <a:cs typeface="Meiryo"/>
              </a:rPr>
              <a:t>a</a:t>
            </a:r>
            <a:r>
              <a:rPr lang="ja-JP" altLang="en-US" sz="2000" b="1">
                <a:solidFill>
                  <a:srgbClr val="085041"/>
                </a:solidFill>
                <a:highlight>
                  <a:srgbClr val="E1F5EE"/>
                </a:highlight>
                <a:latin typeface="Yu Gothic" panose="020B0400000000000000" pitchFamily="34" charset="-128"/>
                <a:ea typeface="Yu Gothic" panose="020B0400000000000000" pitchFamily="34" charset="-128"/>
                <a:cs typeface="Meiryo"/>
              </a:rPr>
              <a:t> </a:t>
            </a:r>
          </a:p>
          <a:p>
            <a:pPr marL="274320" indent="0">
              <a:lnSpc>
                <a:spcPct val="113000"/>
              </a:lnSpc>
              <a:spcAft>
                <a:spcPts val="350"/>
              </a:spcAft>
            </a:pPr>
            <a:r>
              <a:rPr lang="en-US" altLang="ja-JP" dirty="0">
                <a:latin typeface="Yu Gothic"/>
                <a:ea typeface="Yu Gothic"/>
                <a:cs typeface="Yu Gothic"/>
              </a:rPr>
              <a:t>•</a:t>
            </a:r>
            <a:r>
              <a:rPr lang="en-US" altLang="ja-JP" dirty="0">
                <a:solidFill>
                  <a:srgbClr val="2E74B5"/>
                </a:solidFill>
                <a:latin typeface="Yu Gothic"/>
                <a:ea typeface="Yu Gothic"/>
                <a:cs typeface="Yu Gothic"/>
              </a:rPr>
              <a:t> </a:t>
            </a:r>
            <a:r>
              <a:rPr lang="ja-JP" altLang="en-US">
                <a:solidFill>
                  <a:srgbClr val="404040"/>
                </a:solidFill>
                <a:latin typeface="Yu Gothic"/>
                <a:ea typeface="Yu Gothic"/>
                <a:cs typeface="Yu Gothic"/>
              </a:rPr>
              <a:t>作業記録がそのまま「</a:t>
            </a:r>
            <a:r>
              <a:rPr lang="en" altLang="ja-JP" dirty="0">
                <a:solidFill>
                  <a:srgbClr val="404040"/>
                </a:solidFill>
                <a:latin typeface="Yu Gothic"/>
                <a:ea typeface="Yu Gothic"/>
                <a:cs typeface="Yu Gothic"/>
              </a:rPr>
              <a:t>PR</a:t>
            </a:r>
            <a:r>
              <a:rPr lang="ja-JP" altLang="en-US">
                <a:solidFill>
                  <a:srgbClr val="404040"/>
                </a:solidFill>
                <a:latin typeface="Yu Gothic"/>
                <a:ea typeface="Yu Gothic"/>
                <a:cs typeface="Yu Gothic"/>
              </a:rPr>
              <a:t>の説明文」や「チームへの引き継ぎ資料」として使えるため、ドキュメント作成コストが少なくなる</a:t>
            </a:r>
          </a:p>
          <a:p>
            <a:pPr marL="274320">
              <a:lnSpc>
                <a:spcPct val="113000"/>
              </a:lnSpc>
              <a:spcAft>
                <a:spcPts val="350"/>
              </a:spcAft>
            </a:pPr>
            <a:r>
              <a:rPr lang="en-US" altLang="ja-JP" dirty="0">
                <a:latin typeface="Yu Gothic"/>
                <a:ea typeface="Yu Gothic"/>
                <a:cs typeface="Yu Gothic"/>
              </a:rPr>
              <a:t>• </a:t>
            </a:r>
            <a:r>
              <a:rPr lang="ja-JP" altLang="en-US">
                <a:solidFill>
                  <a:srgbClr val="404040"/>
                </a:solidFill>
                <a:latin typeface="Yu Gothic"/>
                <a:ea typeface="Yu Gothic"/>
                <a:cs typeface="Yu Gothic"/>
              </a:rPr>
              <a:t>スキルやレビュー観点の改善にも生かしやすい</a:t>
            </a:r>
          </a:p>
        </p:txBody>
      </p:sp>
      <p:sp>
        <p:nvSpPr>
          <p:cNvPr id="7" name="TextBox 1">
            <a:extLst>
              <a:ext uri="{FF2B5EF4-FFF2-40B4-BE49-F238E27FC236}">
                <a16:creationId xmlns:a16="http://schemas.microsoft.com/office/drawing/2014/main" id="{FD9AE718-1A4F-3CBB-19BA-E30DA9406EB9}"/>
              </a:ext>
            </a:extLst>
          </p:cNvPr>
          <p:cNvSpPr txBox="1"/>
          <p:nvPr/>
        </p:nvSpPr>
        <p:spPr>
          <a:xfrm>
            <a:off x="658368" y="274320"/>
            <a:ext cx="3353803" cy="307777"/>
          </a:xfrm>
          <a:prstGeom prst="rect">
            <a:avLst/>
          </a:prstGeom>
          <a:noFill/>
        </p:spPr>
        <p:txBody>
          <a:bodyPr wrap="none">
            <a:spAutoFit/>
          </a:bodyPr>
          <a:lstStyle/>
          <a:p>
            <a:r>
              <a:rPr lang="en-US" sz="1400" dirty="0">
                <a:solidFill>
                  <a:schemeClr val="bg1">
                    <a:lumMod val="65000"/>
                  </a:schemeClr>
                </a:solidFill>
                <a:latin typeface="Yu Gothic" panose="020B0400000000000000" pitchFamily="34" charset="-128"/>
                <a:ea typeface="Yu Gothic" panose="020B0400000000000000" pitchFamily="34" charset="-128"/>
                <a:cs typeface="Meiryo"/>
              </a:rPr>
              <a:t>04</a:t>
            </a:r>
            <a:r>
              <a:rPr sz="1400" dirty="0">
                <a:solidFill>
                  <a:schemeClr val="bg1">
                    <a:lumMod val="65000"/>
                  </a:schemeClr>
                </a:solidFill>
                <a:latin typeface="Yu Gothic" panose="020B0400000000000000" pitchFamily="34" charset="-128"/>
                <a:ea typeface="Yu Gothic" panose="020B0400000000000000" pitchFamily="34" charset="-128"/>
                <a:cs typeface="Meiryo"/>
              </a:rPr>
              <a:t>. </a:t>
            </a:r>
            <a:r>
              <a:rPr sz="1400" dirty="0" err="1">
                <a:solidFill>
                  <a:schemeClr val="bg1">
                    <a:lumMod val="65000"/>
                  </a:schemeClr>
                </a:solidFill>
                <a:latin typeface="Yu Gothic" panose="020B0400000000000000" pitchFamily="34" charset="-128"/>
                <a:ea typeface="Yu Gothic" panose="020B0400000000000000" pitchFamily="34" charset="-128"/>
                <a:cs typeface="Meiryo"/>
              </a:rPr>
              <a:t>セッションを超えてどう設計するか</a:t>
            </a:r>
            <a:endParaRPr sz="1400" dirty="0">
              <a:solidFill>
                <a:schemeClr val="bg1">
                  <a:lumMod val="65000"/>
                </a:schemeClr>
              </a:solidFill>
              <a:latin typeface="Yu Gothic" panose="020B0400000000000000" pitchFamily="34" charset="-128"/>
              <a:ea typeface="Yu Gothic" panose="020B0400000000000000" pitchFamily="34" charset="-128"/>
              <a:cs typeface="Meiry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457200"/>
            <a:ext cx="8229600" cy="685800"/>
          </a:xfrm>
          <a:prstGeom prst="rect">
            <a:avLst/>
          </a:prstGeom>
          <a:noFill/>
          <a:ln/>
        </p:spPr>
        <p:txBody>
          <a:bodyPr wrap="square" rtlCol="0" anchor="ctr"/>
          <a:lstStyle/>
          <a:p>
            <a:pPr marL="0" indent="0">
              <a:buNone/>
            </a:pPr>
            <a:r>
              <a:rPr lang="en-US" sz="3200" b="1" dirty="0" err="1">
                <a:solidFill>
                  <a:srgbClr val="3B322B"/>
                </a:solidFill>
                <a:latin typeface="Yu Gothic" pitchFamily="34" charset="0"/>
                <a:ea typeface="Yu Gothic" pitchFamily="34" charset="-122"/>
              </a:rPr>
              <a:t>まとめ</a:t>
            </a:r>
            <a:endParaRPr lang="en-US" sz="3200" dirty="0"/>
          </a:p>
        </p:txBody>
      </p:sp>
      <p:sp>
        <p:nvSpPr>
          <p:cNvPr id="3" name="Shape 1"/>
          <p:cNvSpPr/>
          <p:nvPr/>
        </p:nvSpPr>
        <p:spPr>
          <a:xfrm>
            <a:off x="640080" y="1591056"/>
            <a:ext cx="54864" cy="585216"/>
          </a:xfrm>
          <a:prstGeom prst="rect">
            <a:avLst/>
          </a:prstGeom>
          <a:solidFill>
            <a:srgbClr val="C1613F"/>
          </a:solidFill>
          <a:ln/>
        </p:spPr>
      </p:sp>
      <p:sp>
        <p:nvSpPr>
          <p:cNvPr id="4" name="Text 2"/>
          <p:cNvSpPr/>
          <p:nvPr/>
        </p:nvSpPr>
        <p:spPr>
          <a:xfrm>
            <a:off x="914400" y="1463040"/>
            <a:ext cx="548640" cy="841248"/>
          </a:xfrm>
          <a:prstGeom prst="rect">
            <a:avLst/>
          </a:prstGeom>
          <a:noFill/>
          <a:ln/>
        </p:spPr>
        <p:txBody>
          <a:bodyPr wrap="square" rtlCol="0" anchor="ctr"/>
          <a:lstStyle/>
          <a:p>
            <a:pPr marL="0" indent="0" algn="l">
              <a:buNone/>
            </a:pPr>
            <a:r>
              <a:rPr lang="en-US" sz="2400" b="1" dirty="0">
                <a:solidFill>
                  <a:srgbClr val="C1613F"/>
                </a:solidFill>
                <a:latin typeface="Yu Gothic" pitchFamily="34" charset="0"/>
                <a:ea typeface="Yu Gothic" pitchFamily="34" charset="-122"/>
                <a:cs typeface="Yu Gothic" pitchFamily="34" charset="-120"/>
              </a:rPr>
              <a:t>01</a:t>
            </a:r>
            <a:endParaRPr lang="en-US" sz="2400" dirty="0"/>
          </a:p>
        </p:txBody>
      </p:sp>
      <p:sp>
        <p:nvSpPr>
          <p:cNvPr id="5" name="Text 3"/>
          <p:cNvSpPr/>
          <p:nvPr/>
        </p:nvSpPr>
        <p:spPr>
          <a:xfrm>
            <a:off x="1600200" y="1463040"/>
            <a:ext cx="2011680" cy="841248"/>
          </a:xfrm>
          <a:prstGeom prst="rect">
            <a:avLst/>
          </a:prstGeom>
          <a:noFill/>
          <a:ln/>
        </p:spPr>
        <p:txBody>
          <a:bodyPr wrap="square" rtlCol="0" anchor="ctr"/>
          <a:lstStyle/>
          <a:p>
            <a:pPr marL="0" indent="0">
              <a:buNone/>
            </a:pPr>
            <a:r>
              <a:rPr lang="en-US" sz="1550" b="1" dirty="0">
                <a:solidFill>
                  <a:srgbClr val="3B322B"/>
                </a:solidFill>
                <a:latin typeface="Yu Gothic" pitchFamily="34" charset="0"/>
                <a:ea typeface="Yu Gothic" pitchFamily="34" charset="-122"/>
                <a:cs typeface="Yu Gothic" pitchFamily="34" charset="-120"/>
              </a:rPr>
              <a:t>コンテキスト</a:t>
            </a:r>
            <a:endParaRPr lang="en-US" sz="1550" dirty="0"/>
          </a:p>
        </p:txBody>
      </p:sp>
      <p:sp>
        <p:nvSpPr>
          <p:cNvPr id="6" name="Text 4"/>
          <p:cNvSpPr/>
          <p:nvPr/>
        </p:nvSpPr>
        <p:spPr>
          <a:xfrm>
            <a:off x="3703320" y="1463040"/>
            <a:ext cx="7635240" cy="841248"/>
          </a:xfrm>
          <a:prstGeom prst="rect">
            <a:avLst/>
          </a:prstGeom>
          <a:noFill/>
          <a:ln/>
        </p:spPr>
        <p:txBody>
          <a:bodyPr wrap="square" rtlCol="0" anchor="ctr"/>
          <a:lstStyle/>
          <a:p>
            <a:pPr marL="0" indent="0">
              <a:buNone/>
            </a:pPr>
            <a:r>
              <a:rPr lang="en-US" sz="1350" dirty="0">
                <a:solidFill>
                  <a:srgbClr val="3B322B"/>
                </a:solidFill>
                <a:latin typeface="Yu Gothic" pitchFamily="34" charset="0"/>
                <a:ea typeface="Yu Gothic" pitchFamily="34" charset="-122"/>
                <a:cs typeface="Yu Gothic" pitchFamily="34" charset="-120"/>
              </a:rPr>
              <a:t>①セッション分割（/clear）　②Markdownファイル出力　③MEMORY.mdで個別最適化</a:t>
            </a:r>
            <a:endParaRPr lang="en-US" sz="1350" dirty="0"/>
          </a:p>
        </p:txBody>
      </p:sp>
      <p:sp>
        <p:nvSpPr>
          <p:cNvPr id="7" name="Shape 5"/>
          <p:cNvSpPr/>
          <p:nvPr/>
        </p:nvSpPr>
        <p:spPr>
          <a:xfrm>
            <a:off x="640080" y="2304288"/>
            <a:ext cx="10881360" cy="0"/>
          </a:xfrm>
          <a:prstGeom prst="line">
            <a:avLst/>
          </a:prstGeom>
          <a:noFill/>
          <a:ln w="12700">
            <a:solidFill>
              <a:srgbClr val="E7E1DA"/>
            </a:solidFill>
            <a:prstDash val="solid"/>
          </a:ln>
        </p:spPr>
      </p:sp>
      <p:sp>
        <p:nvSpPr>
          <p:cNvPr id="8" name="Shape 6"/>
          <p:cNvSpPr/>
          <p:nvPr/>
        </p:nvSpPr>
        <p:spPr>
          <a:xfrm>
            <a:off x="640080" y="2432304"/>
            <a:ext cx="54864" cy="585216"/>
          </a:xfrm>
          <a:prstGeom prst="rect">
            <a:avLst/>
          </a:prstGeom>
          <a:solidFill>
            <a:srgbClr val="C1613F"/>
          </a:solidFill>
          <a:ln/>
        </p:spPr>
      </p:sp>
      <p:sp>
        <p:nvSpPr>
          <p:cNvPr id="9" name="Text 7"/>
          <p:cNvSpPr/>
          <p:nvPr/>
        </p:nvSpPr>
        <p:spPr>
          <a:xfrm>
            <a:off x="914400" y="2304288"/>
            <a:ext cx="548640" cy="841248"/>
          </a:xfrm>
          <a:prstGeom prst="rect">
            <a:avLst/>
          </a:prstGeom>
          <a:noFill/>
          <a:ln/>
        </p:spPr>
        <p:txBody>
          <a:bodyPr wrap="square" rtlCol="0" anchor="ctr"/>
          <a:lstStyle/>
          <a:p>
            <a:pPr marL="0" indent="0" algn="l">
              <a:buNone/>
            </a:pPr>
            <a:r>
              <a:rPr lang="en-US" sz="2400" b="1" dirty="0">
                <a:solidFill>
                  <a:srgbClr val="C1613F"/>
                </a:solidFill>
                <a:latin typeface="Yu Gothic" pitchFamily="34" charset="0"/>
                <a:ea typeface="Yu Gothic" pitchFamily="34" charset="-122"/>
                <a:cs typeface="Yu Gothic" pitchFamily="34" charset="-120"/>
              </a:rPr>
              <a:t>02</a:t>
            </a:r>
            <a:endParaRPr lang="en-US" sz="2400" dirty="0"/>
          </a:p>
        </p:txBody>
      </p:sp>
      <p:sp>
        <p:nvSpPr>
          <p:cNvPr id="10" name="Text 8"/>
          <p:cNvSpPr/>
          <p:nvPr/>
        </p:nvSpPr>
        <p:spPr>
          <a:xfrm>
            <a:off x="1600200" y="2304288"/>
            <a:ext cx="2011680" cy="841248"/>
          </a:xfrm>
          <a:prstGeom prst="rect">
            <a:avLst/>
          </a:prstGeom>
          <a:noFill/>
          <a:ln/>
        </p:spPr>
        <p:txBody>
          <a:bodyPr wrap="square" rtlCol="0" anchor="ctr"/>
          <a:lstStyle/>
          <a:p>
            <a:pPr marL="0" indent="0">
              <a:buNone/>
            </a:pPr>
            <a:r>
              <a:rPr lang="en-US" sz="1550" b="1" dirty="0">
                <a:solidFill>
                  <a:srgbClr val="3B322B"/>
                </a:solidFill>
                <a:latin typeface="Yu Gothic" pitchFamily="34" charset="0"/>
                <a:ea typeface="Yu Gothic" pitchFamily="34" charset="-122"/>
                <a:cs typeface="Yu Gothic" pitchFamily="34" charset="-120"/>
              </a:rPr>
              <a:t>環境・道具</a:t>
            </a:r>
            <a:endParaRPr lang="en-US" sz="1550" dirty="0"/>
          </a:p>
        </p:txBody>
      </p:sp>
      <p:sp>
        <p:nvSpPr>
          <p:cNvPr id="11" name="Text 9"/>
          <p:cNvSpPr/>
          <p:nvPr/>
        </p:nvSpPr>
        <p:spPr>
          <a:xfrm>
            <a:off x="3703320" y="2304288"/>
            <a:ext cx="7635240" cy="841248"/>
          </a:xfrm>
          <a:prstGeom prst="rect">
            <a:avLst/>
          </a:prstGeom>
          <a:noFill/>
          <a:ln/>
        </p:spPr>
        <p:txBody>
          <a:bodyPr wrap="square" rtlCol="0" anchor="ctr"/>
          <a:lstStyle/>
          <a:p>
            <a:r>
              <a:rPr lang="en-US" altLang="ja-JP" sz="1350" dirty="0">
                <a:solidFill>
                  <a:srgbClr val="3B322B"/>
                </a:solidFill>
                <a:latin typeface="Yu Gothic" pitchFamily="34" charset="0"/>
                <a:ea typeface="Yu Gothic" pitchFamily="34" charset="-122"/>
                <a:cs typeface="Yu Gothic" pitchFamily="34" charset="-120"/>
              </a:rPr>
              <a:t>④ </a:t>
            </a:r>
            <a:r>
              <a:rPr lang="en-US" sz="1350" dirty="0">
                <a:solidFill>
                  <a:srgbClr val="3B322B"/>
                </a:solidFill>
                <a:latin typeface="Yu Gothic" pitchFamily="34" charset="0"/>
                <a:ea typeface="Yu Gothic" pitchFamily="34" charset="-122"/>
                <a:cs typeface="Yu Gothic" pitchFamily="34" charset="-120"/>
              </a:rPr>
              <a:t>output style　</a:t>
            </a:r>
            <a:r>
              <a:rPr lang="en-US" altLang="ja-JP" sz="1350" dirty="0">
                <a:solidFill>
                  <a:srgbClr val="3B322B"/>
                </a:solidFill>
                <a:latin typeface="Yu Gothic" pitchFamily="34" charset="0"/>
                <a:ea typeface="Yu Gothic" pitchFamily="34" charset="-122"/>
                <a:cs typeface="Yu Gothic" pitchFamily="34" charset="-120"/>
              </a:rPr>
              <a:t>⑤ </a:t>
            </a:r>
            <a:r>
              <a:rPr lang="en-US" sz="1350" dirty="0">
                <a:solidFill>
                  <a:srgbClr val="3B322B"/>
                </a:solidFill>
                <a:latin typeface="Yu Gothic" pitchFamily="34" charset="0"/>
                <a:ea typeface="Yu Gothic" pitchFamily="34" charset="-122"/>
                <a:cs typeface="Yu Gothic" pitchFamily="34" charset="-120"/>
              </a:rPr>
              <a:t>advisor　</a:t>
            </a:r>
            <a:r>
              <a:rPr lang="en-US" altLang="ja-JP" sz="1350" dirty="0">
                <a:solidFill>
                  <a:srgbClr val="3B322B"/>
                </a:solidFill>
                <a:latin typeface="Yu Gothic" pitchFamily="34" charset="0"/>
                <a:ea typeface="Yu Gothic" pitchFamily="34" charset="-122"/>
                <a:cs typeface="Yu Gothic" pitchFamily="34" charset="-120"/>
              </a:rPr>
              <a:t>⑥ </a:t>
            </a:r>
            <a:r>
              <a:rPr lang="en-US" sz="1350" dirty="0" err="1">
                <a:solidFill>
                  <a:srgbClr val="3B322B"/>
                </a:solidFill>
                <a:latin typeface="Yu Gothic" pitchFamily="34" charset="0"/>
                <a:ea typeface="Yu Gothic" pitchFamily="34" charset="-122"/>
                <a:cs typeface="Yu Gothic" pitchFamily="34" charset="-120"/>
              </a:rPr>
              <a:t>スキル作成・改善</a:t>
            </a:r>
            <a:endParaRPr lang="en-US" sz="1350" dirty="0"/>
          </a:p>
        </p:txBody>
      </p:sp>
      <p:sp>
        <p:nvSpPr>
          <p:cNvPr id="12" name="Shape 10"/>
          <p:cNvSpPr/>
          <p:nvPr/>
        </p:nvSpPr>
        <p:spPr>
          <a:xfrm>
            <a:off x="640080" y="3145536"/>
            <a:ext cx="10881360" cy="0"/>
          </a:xfrm>
          <a:prstGeom prst="line">
            <a:avLst/>
          </a:prstGeom>
          <a:noFill/>
          <a:ln w="12700">
            <a:solidFill>
              <a:srgbClr val="E7E1DA"/>
            </a:solidFill>
            <a:prstDash val="solid"/>
          </a:ln>
        </p:spPr>
      </p:sp>
      <p:sp>
        <p:nvSpPr>
          <p:cNvPr id="13" name="Shape 11"/>
          <p:cNvSpPr/>
          <p:nvPr/>
        </p:nvSpPr>
        <p:spPr>
          <a:xfrm>
            <a:off x="640080" y="3273552"/>
            <a:ext cx="54864" cy="585216"/>
          </a:xfrm>
          <a:prstGeom prst="rect">
            <a:avLst/>
          </a:prstGeom>
          <a:solidFill>
            <a:srgbClr val="C1613F"/>
          </a:solidFill>
          <a:ln/>
        </p:spPr>
      </p:sp>
      <p:sp>
        <p:nvSpPr>
          <p:cNvPr id="14" name="Text 12"/>
          <p:cNvSpPr/>
          <p:nvPr/>
        </p:nvSpPr>
        <p:spPr>
          <a:xfrm>
            <a:off x="914400" y="3145536"/>
            <a:ext cx="548640" cy="841248"/>
          </a:xfrm>
          <a:prstGeom prst="rect">
            <a:avLst/>
          </a:prstGeom>
          <a:noFill/>
          <a:ln/>
        </p:spPr>
        <p:txBody>
          <a:bodyPr wrap="square" rtlCol="0" anchor="ctr"/>
          <a:lstStyle/>
          <a:p>
            <a:pPr marL="0" indent="0" algn="l">
              <a:buNone/>
            </a:pPr>
            <a:r>
              <a:rPr lang="en-US" sz="2400" b="1" dirty="0">
                <a:solidFill>
                  <a:srgbClr val="C1613F"/>
                </a:solidFill>
                <a:latin typeface="Yu Gothic" pitchFamily="34" charset="0"/>
                <a:ea typeface="Yu Gothic" pitchFamily="34" charset="-122"/>
                <a:cs typeface="Yu Gothic" pitchFamily="34" charset="-120"/>
              </a:rPr>
              <a:t>03</a:t>
            </a:r>
            <a:endParaRPr lang="en-US" sz="2400" dirty="0"/>
          </a:p>
        </p:txBody>
      </p:sp>
      <p:sp>
        <p:nvSpPr>
          <p:cNvPr id="15" name="Text 13"/>
          <p:cNvSpPr/>
          <p:nvPr/>
        </p:nvSpPr>
        <p:spPr>
          <a:xfrm>
            <a:off x="1600200" y="3145536"/>
            <a:ext cx="2011680" cy="841248"/>
          </a:xfrm>
          <a:prstGeom prst="rect">
            <a:avLst/>
          </a:prstGeom>
          <a:noFill/>
          <a:ln/>
        </p:spPr>
        <p:txBody>
          <a:bodyPr wrap="square" rtlCol="0" anchor="ctr"/>
          <a:lstStyle/>
          <a:p>
            <a:pPr marL="0" indent="0">
              <a:buNone/>
            </a:pPr>
            <a:r>
              <a:rPr lang="en-US" sz="1550" b="1" dirty="0">
                <a:solidFill>
                  <a:srgbClr val="3B322B"/>
                </a:solidFill>
                <a:latin typeface="Yu Gothic" pitchFamily="34" charset="0"/>
                <a:ea typeface="Yu Gothic" pitchFamily="34" charset="-122"/>
                <a:cs typeface="Yu Gothic" pitchFamily="34" charset="-120"/>
              </a:rPr>
              <a:t>検証ループ</a:t>
            </a:r>
            <a:endParaRPr lang="en-US" sz="1550" dirty="0"/>
          </a:p>
        </p:txBody>
      </p:sp>
      <p:sp>
        <p:nvSpPr>
          <p:cNvPr id="16" name="Text 14"/>
          <p:cNvSpPr/>
          <p:nvPr/>
        </p:nvSpPr>
        <p:spPr>
          <a:xfrm>
            <a:off x="3703320" y="3145536"/>
            <a:ext cx="7635240" cy="841248"/>
          </a:xfrm>
          <a:prstGeom prst="rect">
            <a:avLst/>
          </a:prstGeom>
          <a:noFill/>
          <a:ln/>
        </p:spPr>
        <p:txBody>
          <a:bodyPr wrap="square" rtlCol="0" anchor="ctr"/>
          <a:lstStyle/>
          <a:p>
            <a:r>
              <a:rPr lang="en-US" altLang="ja-JP" sz="1350" dirty="0">
                <a:solidFill>
                  <a:srgbClr val="3B322B"/>
                </a:solidFill>
                <a:latin typeface="Yu Gothic" pitchFamily="34" charset="0"/>
                <a:ea typeface="Yu Gothic" pitchFamily="34" charset="-122"/>
                <a:cs typeface="Yu Gothic" pitchFamily="34" charset="-120"/>
              </a:rPr>
              <a:t>⑦ </a:t>
            </a:r>
            <a:r>
              <a:rPr lang="en-US" sz="1350" dirty="0" err="1">
                <a:solidFill>
                  <a:srgbClr val="3B322B"/>
                </a:solidFill>
                <a:latin typeface="Yu Gothic" pitchFamily="34" charset="0"/>
                <a:ea typeface="Yu Gothic" pitchFamily="34" charset="-122"/>
                <a:cs typeface="Yu Gothic" pitchFamily="34" charset="-120"/>
              </a:rPr>
              <a:t>検証ループ</a:t>
            </a:r>
            <a:r>
              <a:rPr lang="en-US" sz="1350" dirty="0">
                <a:solidFill>
                  <a:srgbClr val="3B322B"/>
                </a:solidFill>
                <a:latin typeface="Yu Gothic" pitchFamily="34" charset="0"/>
                <a:ea typeface="Yu Gothic" pitchFamily="34" charset="-122"/>
                <a:cs typeface="Yu Gothic" pitchFamily="34" charset="-120"/>
              </a:rPr>
              <a:t>（/goal）　</a:t>
            </a:r>
            <a:r>
              <a:rPr lang="en-US" altLang="ja-JP" sz="1350" dirty="0">
                <a:solidFill>
                  <a:srgbClr val="3B322B"/>
                </a:solidFill>
                <a:latin typeface="Yu Gothic" pitchFamily="34" charset="0"/>
                <a:ea typeface="Yu Gothic" pitchFamily="34" charset="-122"/>
                <a:cs typeface="Yu Gothic" pitchFamily="34" charset="-120"/>
              </a:rPr>
              <a:t>⑧ </a:t>
            </a:r>
            <a:r>
              <a:rPr lang="en-US" sz="1350" dirty="0" err="1">
                <a:solidFill>
                  <a:srgbClr val="3B322B"/>
                </a:solidFill>
                <a:latin typeface="Yu Gothic" pitchFamily="34" charset="0"/>
                <a:ea typeface="Yu Gothic" pitchFamily="34" charset="-122"/>
                <a:cs typeface="Yu Gothic" pitchFamily="34" charset="-120"/>
              </a:rPr>
              <a:t>別セッションレビュ</a:t>
            </a:r>
            <a:r>
              <a:rPr lang="en-US" sz="1350" dirty="0">
                <a:solidFill>
                  <a:srgbClr val="3B322B"/>
                </a:solidFill>
                <a:latin typeface="Yu Gothic" pitchFamily="34" charset="0"/>
                <a:ea typeface="Yu Gothic" pitchFamily="34" charset="-122"/>
                <a:cs typeface="Yu Gothic" pitchFamily="34" charset="-120"/>
              </a:rPr>
              <a:t>ー</a:t>
            </a:r>
            <a:endParaRPr lang="en-US" sz="1350" dirty="0"/>
          </a:p>
        </p:txBody>
      </p:sp>
      <p:sp>
        <p:nvSpPr>
          <p:cNvPr id="17" name="Shape 15"/>
          <p:cNvSpPr/>
          <p:nvPr/>
        </p:nvSpPr>
        <p:spPr>
          <a:xfrm>
            <a:off x="640080" y="3986784"/>
            <a:ext cx="10881360" cy="0"/>
          </a:xfrm>
          <a:prstGeom prst="line">
            <a:avLst/>
          </a:prstGeom>
          <a:noFill/>
          <a:ln w="12700">
            <a:solidFill>
              <a:srgbClr val="E7E1DA"/>
            </a:solidFill>
            <a:prstDash val="solid"/>
          </a:ln>
        </p:spPr>
      </p:sp>
      <p:sp>
        <p:nvSpPr>
          <p:cNvPr id="18" name="Shape 16"/>
          <p:cNvSpPr/>
          <p:nvPr/>
        </p:nvSpPr>
        <p:spPr>
          <a:xfrm>
            <a:off x="640080" y="4114800"/>
            <a:ext cx="54864" cy="585216"/>
          </a:xfrm>
          <a:prstGeom prst="rect">
            <a:avLst/>
          </a:prstGeom>
          <a:solidFill>
            <a:srgbClr val="C1613F"/>
          </a:solidFill>
          <a:ln/>
        </p:spPr>
      </p:sp>
      <p:sp>
        <p:nvSpPr>
          <p:cNvPr id="19" name="Text 17"/>
          <p:cNvSpPr/>
          <p:nvPr/>
        </p:nvSpPr>
        <p:spPr>
          <a:xfrm>
            <a:off x="914400" y="3986784"/>
            <a:ext cx="548640" cy="841248"/>
          </a:xfrm>
          <a:prstGeom prst="rect">
            <a:avLst/>
          </a:prstGeom>
          <a:noFill/>
          <a:ln/>
        </p:spPr>
        <p:txBody>
          <a:bodyPr wrap="square" rtlCol="0" anchor="ctr"/>
          <a:lstStyle/>
          <a:p>
            <a:pPr marL="0" indent="0" algn="l">
              <a:buNone/>
            </a:pPr>
            <a:r>
              <a:rPr lang="en-US" sz="2400" b="1" dirty="0">
                <a:solidFill>
                  <a:srgbClr val="C1613F"/>
                </a:solidFill>
                <a:latin typeface="Yu Gothic" pitchFamily="34" charset="0"/>
                <a:ea typeface="Yu Gothic" pitchFamily="34" charset="-122"/>
                <a:cs typeface="Yu Gothic" pitchFamily="34" charset="-120"/>
              </a:rPr>
              <a:t>04</a:t>
            </a:r>
            <a:endParaRPr lang="en-US" sz="2400" dirty="0"/>
          </a:p>
        </p:txBody>
      </p:sp>
      <p:sp>
        <p:nvSpPr>
          <p:cNvPr id="20" name="Text 18"/>
          <p:cNvSpPr/>
          <p:nvPr/>
        </p:nvSpPr>
        <p:spPr>
          <a:xfrm>
            <a:off x="1600200" y="3986784"/>
            <a:ext cx="2011680" cy="841248"/>
          </a:xfrm>
          <a:prstGeom prst="rect">
            <a:avLst/>
          </a:prstGeom>
          <a:noFill/>
          <a:ln/>
        </p:spPr>
        <p:txBody>
          <a:bodyPr wrap="square" rtlCol="0" anchor="ctr"/>
          <a:lstStyle/>
          <a:p>
            <a:pPr marL="0" indent="0">
              <a:buNone/>
            </a:pPr>
            <a:r>
              <a:rPr lang="en-US" sz="1550" b="1" dirty="0" err="1">
                <a:solidFill>
                  <a:srgbClr val="3B322B"/>
                </a:solidFill>
                <a:latin typeface="Yu Gothic" pitchFamily="34" charset="0"/>
                <a:ea typeface="Yu Gothic" pitchFamily="34" charset="-122"/>
              </a:rPr>
              <a:t>ワークフロー設計</a:t>
            </a:r>
            <a:endParaRPr lang="en-US" sz="1550" dirty="0"/>
          </a:p>
        </p:txBody>
      </p:sp>
      <p:sp>
        <p:nvSpPr>
          <p:cNvPr id="21" name="Text 19"/>
          <p:cNvSpPr/>
          <p:nvPr/>
        </p:nvSpPr>
        <p:spPr>
          <a:xfrm>
            <a:off x="3703320" y="3986784"/>
            <a:ext cx="7635240" cy="841248"/>
          </a:xfrm>
          <a:prstGeom prst="rect">
            <a:avLst/>
          </a:prstGeom>
          <a:noFill/>
          <a:ln/>
        </p:spPr>
        <p:txBody>
          <a:bodyPr wrap="square" rtlCol="0" anchor="ctr"/>
          <a:lstStyle/>
          <a:p>
            <a:r>
              <a:rPr lang="en-US" altLang="ja-JP" sz="1350" dirty="0">
                <a:solidFill>
                  <a:srgbClr val="3B322B"/>
                </a:solidFill>
                <a:latin typeface="Yu Gothic" pitchFamily="34" charset="0"/>
                <a:ea typeface="Yu Gothic" pitchFamily="34" charset="-122"/>
                <a:cs typeface="Yu Gothic" pitchFamily="34" charset="-120"/>
              </a:rPr>
              <a:t>⑨ </a:t>
            </a:r>
            <a:r>
              <a:rPr lang="en-US" sz="1350" dirty="0">
                <a:solidFill>
                  <a:srgbClr val="3B322B"/>
                </a:solidFill>
                <a:latin typeface="Yu Gothic" pitchFamily="34" charset="0"/>
                <a:ea typeface="Yu Gothic" pitchFamily="34" charset="-122"/>
                <a:cs typeface="Yu Gothic" pitchFamily="34" charset="-120"/>
              </a:rPr>
              <a:t>dynamic </a:t>
            </a:r>
            <a:r>
              <a:rPr lang="en-US" sz="1350" dirty="0" err="1">
                <a:solidFill>
                  <a:srgbClr val="3B322B"/>
                </a:solidFill>
                <a:latin typeface="Yu Gothic" pitchFamily="34" charset="0"/>
                <a:ea typeface="Yu Gothic" pitchFamily="34" charset="-122"/>
                <a:cs typeface="Yu Gothic" pitchFamily="34" charset="-120"/>
              </a:rPr>
              <a:t>workflowsによる並列化</a:t>
            </a:r>
            <a:r>
              <a:rPr lang="en-US" sz="1350" dirty="0">
                <a:solidFill>
                  <a:srgbClr val="3B322B"/>
                </a:solidFill>
                <a:latin typeface="Yu Gothic" pitchFamily="34" charset="0"/>
                <a:ea typeface="Yu Gothic" pitchFamily="34" charset="-122"/>
                <a:cs typeface="Yu Gothic" pitchFamily="34" charset="-120"/>
              </a:rPr>
              <a:t>　</a:t>
            </a:r>
            <a:r>
              <a:rPr lang="en-US" altLang="ja-JP" sz="1350" dirty="0">
                <a:solidFill>
                  <a:srgbClr val="3B322B"/>
                </a:solidFill>
                <a:latin typeface="Yu Gothic" pitchFamily="34" charset="0"/>
                <a:ea typeface="Yu Gothic" pitchFamily="34" charset="-122"/>
                <a:cs typeface="Yu Gothic" pitchFamily="34" charset="-120"/>
              </a:rPr>
              <a:t>⑩ </a:t>
            </a:r>
            <a:r>
              <a:rPr lang="en-US" sz="1350" dirty="0" err="1">
                <a:solidFill>
                  <a:srgbClr val="3B322B"/>
                </a:solidFill>
                <a:latin typeface="Yu Gothic" pitchFamily="34" charset="0"/>
                <a:ea typeface="Yu Gothic" pitchFamily="34" charset="-122"/>
                <a:cs typeface="Yu Gothic" pitchFamily="34" charset="-120"/>
              </a:rPr>
              <a:t>一気通貫実行</a:t>
            </a:r>
            <a:r>
              <a:rPr lang="en-US" sz="1350" dirty="0">
                <a:solidFill>
                  <a:srgbClr val="3B322B"/>
                </a:solidFill>
                <a:latin typeface="Yu Gothic" pitchFamily="34" charset="0"/>
                <a:ea typeface="Yu Gothic" pitchFamily="34" charset="-122"/>
                <a:cs typeface="Yu Gothic" pitchFamily="34" charset="-120"/>
              </a:rPr>
              <a:t>　</a:t>
            </a:r>
            <a:r>
              <a:rPr lang="en-US" altLang="ja-JP" sz="1350" dirty="0">
                <a:solidFill>
                  <a:srgbClr val="3B322B"/>
                </a:solidFill>
                <a:latin typeface="Yu Gothic" pitchFamily="34" charset="0"/>
                <a:ea typeface="Yu Gothic" pitchFamily="34" charset="-122"/>
                <a:cs typeface="Yu Gothic" pitchFamily="34" charset="-120"/>
              </a:rPr>
              <a:t>⑪ </a:t>
            </a:r>
            <a:r>
              <a:rPr lang="en-US" sz="1350" dirty="0" err="1">
                <a:solidFill>
                  <a:srgbClr val="3B322B"/>
                </a:solidFill>
                <a:latin typeface="Yu Gothic" pitchFamily="34" charset="0"/>
                <a:ea typeface="Yu Gothic" pitchFamily="34" charset="-122"/>
                <a:cs typeface="Yu Gothic" pitchFamily="34" charset="-120"/>
              </a:rPr>
              <a:t>進捗の一括管理</a:t>
            </a:r>
            <a:endParaRPr lang="en-US" sz="1350" dirty="0"/>
          </a:p>
        </p:txBody>
      </p:sp>
      <p:sp>
        <p:nvSpPr>
          <p:cNvPr id="22" name="Text 20"/>
          <p:cNvSpPr/>
          <p:nvPr/>
        </p:nvSpPr>
        <p:spPr>
          <a:xfrm>
            <a:off x="640080" y="5029200"/>
            <a:ext cx="10881360" cy="1051560"/>
          </a:xfrm>
          <a:prstGeom prst="rect">
            <a:avLst/>
          </a:prstGeom>
          <a:noFill/>
          <a:ln/>
        </p:spPr>
        <p:txBody>
          <a:bodyPr wrap="square" rtlCol="0" anchor="t"/>
          <a:lstStyle/>
          <a:p>
            <a:pPr>
              <a:spcAft>
                <a:spcPts val="600"/>
              </a:spcAft>
              <a:buSzPct val="100000"/>
            </a:pPr>
            <a:r>
              <a:rPr lang="en-US" altLang="ja-JP" sz="1600" dirty="0">
                <a:latin typeface="Yu Gothic"/>
                <a:ea typeface="Yu Gothic"/>
                <a:cs typeface="Yu Gothic"/>
              </a:rPr>
              <a:t>• </a:t>
            </a:r>
            <a:r>
              <a:rPr lang="en-US" altLang="ja-JP" sz="1600" dirty="0" err="1">
                <a:solidFill>
                  <a:srgbClr val="3B322B"/>
                </a:solidFill>
                <a:latin typeface="Yu Gothic" pitchFamily="34" charset="0"/>
                <a:ea typeface="Yu Gothic" pitchFamily="34" charset="-122"/>
                <a:cs typeface="Yu Gothic" pitchFamily="34" charset="-120"/>
              </a:rPr>
              <a:t>それぞれの工夫は独立したものではなく、組み合わせて使うことで効果が何倍にも高まる</a:t>
            </a:r>
            <a:endParaRPr lang="en-US" altLang="ja-JP" sz="1600" dirty="0"/>
          </a:p>
          <a:p>
            <a:pPr>
              <a:spcAft>
                <a:spcPts val="600"/>
              </a:spcAft>
              <a:buSzPct val="100000"/>
            </a:pPr>
            <a:r>
              <a:rPr lang="en-US" altLang="ja-JP" sz="1600" dirty="0">
                <a:latin typeface="Yu Gothic"/>
                <a:ea typeface="Yu Gothic"/>
                <a:cs typeface="Yu Gothic"/>
              </a:rPr>
              <a:t>• </a:t>
            </a:r>
            <a:r>
              <a:rPr lang="en-US" altLang="ja-JP" sz="1600" dirty="0" err="1">
                <a:solidFill>
                  <a:srgbClr val="3B322B"/>
                </a:solidFill>
                <a:latin typeface="Yu Gothic" pitchFamily="34" charset="0"/>
                <a:ea typeface="Yu Gothic" pitchFamily="34" charset="-122"/>
                <a:cs typeface="Yu Gothic" pitchFamily="34" charset="-120"/>
              </a:rPr>
              <a:t>すべてを一度にやる必要はなく、自分のプロジェクトやタスクの特性に合わせて取捨選択</a:t>
            </a:r>
            <a:r>
              <a:rPr lang="ja-JP" altLang="en-US" sz="1600">
                <a:solidFill>
                  <a:srgbClr val="3B322B"/>
                </a:solidFill>
                <a:latin typeface="Yu Gothic" pitchFamily="34" charset="0"/>
                <a:ea typeface="Yu Gothic" pitchFamily="34" charset="-122"/>
                <a:cs typeface="Yu Gothic" pitchFamily="34" charset="-120"/>
              </a:rPr>
              <a:t>、</a:t>
            </a:r>
            <a:r>
              <a:rPr lang="en-US" altLang="ja-JP" sz="1600" dirty="0" err="1">
                <a:solidFill>
                  <a:srgbClr val="3B322B"/>
                </a:solidFill>
                <a:latin typeface="Yu Gothic" pitchFamily="34" charset="0"/>
                <a:ea typeface="Yu Gothic" pitchFamily="34" charset="-122"/>
                <a:cs typeface="Yu Gothic" pitchFamily="34" charset="-120"/>
              </a:rPr>
              <a:t>カスタマイズしていくことが大切</a:t>
            </a:r>
            <a:endParaRPr lang="en-US" altLang="ja-JP" sz="1600" dirty="0"/>
          </a:p>
        </p:txBody>
      </p:sp>
      <p:sp>
        <p:nvSpPr>
          <p:cNvPr id="25" name="Rectangle 3">
            <a:extLst>
              <a:ext uri="{FF2B5EF4-FFF2-40B4-BE49-F238E27FC236}">
                <a16:creationId xmlns:a16="http://schemas.microsoft.com/office/drawing/2014/main" id="{9DD5B68A-00A0-3FB6-11EE-AEE9A417FF4C}"/>
              </a:ext>
            </a:extLst>
          </p:cNvPr>
          <p:cNvSpPr/>
          <p:nvPr/>
        </p:nvSpPr>
        <p:spPr>
          <a:xfrm>
            <a:off x="676656" y="1225296"/>
            <a:ext cx="1097280" cy="4445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457200"/>
            <a:ext cx="8229600" cy="685800"/>
          </a:xfrm>
          <a:prstGeom prst="rect">
            <a:avLst/>
          </a:prstGeom>
          <a:noFill/>
          <a:ln/>
        </p:spPr>
        <p:txBody>
          <a:bodyPr wrap="square" rtlCol="0" anchor="ctr"/>
          <a:lstStyle/>
          <a:p>
            <a:pPr marL="0" indent="0">
              <a:buNone/>
            </a:pPr>
            <a:r>
              <a:rPr lang="en-US" sz="3200" b="1" dirty="0">
                <a:solidFill>
                  <a:srgbClr val="3B322B"/>
                </a:solidFill>
                <a:latin typeface="Yu Gothic" pitchFamily="34" charset="0"/>
                <a:ea typeface="Yu Gothic" pitchFamily="34" charset="-122"/>
                <a:cs typeface="Yu Gothic" pitchFamily="34" charset="-120"/>
              </a:rPr>
              <a:t>今日からできること</a:t>
            </a:r>
            <a:endParaRPr lang="en-US" sz="3200" dirty="0"/>
          </a:p>
        </p:txBody>
      </p:sp>
      <p:sp>
        <p:nvSpPr>
          <p:cNvPr id="3" name="Shape 1"/>
          <p:cNvSpPr/>
          <p:nvPr/>
        </p:nvSpPr>
        <p:spPr>
          <a:xfrm>
            <a:off x="640080" y="1417320"/>
            <a:ext cx="10881360" cy="1417320"/>
          </a:xfrm>
          <a:prstGeom prst="roundRect">
            <a:avLst>
              <a:gd name="adj" fmla="val 5806"/>
            </a:avLst>
          </a:prstGeom>
          <a:solidFill>
            <a:srgbClr val="FBEEE7"/>
          </a:solidFill>
          <a:ln/>
        </p:spPr>
      </p:sp>
      <p:sp>
        <p:nvSpPr>
          <p:cNvPr id="4" name="Shape 2"/>
          <p:cNvSpPr/>
          <p:nvPr/>
        </p:nvSpPr>
        <p:spPr>
          <a:xfrm>
            <a:off x="914400" y="1691640"/>
            <a:ext cx="822960" cy="822960"/>
          </a:xfrm>
          <a:prstGeom prst="ellipse">
            <a:avLst/>
          </a:prstGeom>
          <a:solidFill>
            <a:srgbClr val="C1613F"/>
          </a:solidFill>
          <a:ln/>
        </p:spPr>
      </p:sp>
      <p:sp>
        <p:nvSpPr>
          <p:cNvPr id="5" name="Text 3"/>
          <p:cNvSpPr/>
          <p:nvPr/>
        </p:nvSpPr>
        <p:spPr>
          <a:xfrm>
            <a:off x="914400" y="1691640"/>
            <a:ext cx="822960" cy="822960"/>
          </a:xfrm>
          <a:prstGeom prst="rect">
            <a:avLst/>
          </a:prstGeom>
          <a:noFill/>
          <a:ln/>
        </p:spPr>
        <p:txBody>
          <a:bodyPr wrap="square" rtlCol="0" anchor="ctr"/>
          <a:lstStyle/>
          <a:p>
            <a:pPr marL="0" indent="0" algn="ctr">
              <a:buNone/>
            </a:pPr>
            <a:r>
              <a:rPr lang="en-US" sz="2100" b="1" dirty="0">
                <a:solidFill>
                  <a:srgbClr val="FFFFFF"/>
                </a:solidFill>
                <a:latin typeface="Yu Gothic" pitchFamily="34" charset="0"/>
                <a:ea typeface="Yu Gothic" pitchFamily="34" charset="-122"/>
                <a:cs typeface="Yu Gothic" pitchFamily="34" charset="-120"/>
              </a:rPr>
              <a:t>1</a:t>
            </a:r>
            <a:endParaRPr lang="en-US" sz="2100" dirty="0"/>
          </a:p>
        </p:txBody>
      </p:sp>
      <p:sp>
        <p:nvSpPr>
          <p:cNvPr id="6" name="Text 4"/>
          <p:cNvSpPr/>
          <p:nvPr/>
        </p:nvSpPr>
        <p:spPr>
          <a:xfrm>
            <a:off x="1965960" y="1554480"/>
            <a:ext cx="3657600" cy="347472"/>
          </a:xfrm>
          <a:prstGeom prst="rect">
            <a:avLst/>
          </a:prstGeom>
          <a:noFill/>
          <a:ln/>
        </p:spPr>
        <p:txBody>
          <a:bodyPr wrap="square" rtlCol="0" anchor="ctr"/>
          <a:lstStyle/>
          <a:p>
            <a:pPr marL="0" indent="0">
              <a:buNone/>
            </a:pPr>
            <a:r>
              <a:rPr lang="en-US" sz="1300" b="1" dirty="0">
                <a:solidFill>
                  <a:srgbClr val="C1613F"/>
                </a:solidFill>
                <a:latin typeface="Yu Gothic" pitchFamily="34" charset="0"/>
                <a:ea typeface="Yu Gothic" pitchFamily="34" charset="-122"/>
                <a:cs typeface="Yu Gothic" pitchFamily="34" charset="-120"/>
              </a:rPr>
              <a:t>まずはここから</a:t>
            </a:r>
            <a:endParaRPr lang="en-US" sz="1300" dirty="0"/>
          </a:p>
        </p:txBody>
      </p:sp>
      <p:sp>
        <p:nvSpPr>
          <p:cNvPr id="7" name="Text 5"/>
          <p:cNvSpPr/>
          <p:nvPr/>
        </p:nvSpPr>
        <p:spPr>
          <a:xfrm>
            <a:off x="1965960" y="1856232"/>
            <a:ext cx="9052560" cy="438912"/>
          </a:xfrm>
          <a:prstGeom prst="rect">
            <a:avLst/>
          </a:prstGeom>
          <a:noFill/>
          <a:ln/>
        </p:spPr>
        <p:txBody>
          <a:bodyPr wrap="square" rtlCol="0" anchor="ctr"/>
          <a:lstStyle/>
          <a:p>
            <a:pPr marL="0" indent="0">
              <a:buNone/>
            </a:pPr>
            <a:r>
              <a:rPr lang="en-US" sz="1900" b="1" dirty="0">
                <a:solidFill>
                  <a:srgbClr val="3B322B"/>
                </a:solidFill>
                <a:latin typeface="Yu Gothic" pitchFamily="34" charset="0"/>
                <a:ea typeface="Yu Gothic" pitchFamily="34" charset="-122"/>
                <a:cs typeface="Yu Gothic" pitchFamily="34" charset="-120"/>
              </a:rPr>
              <a:t>①セッション分割（/clear）と②Markdownファイル出力</a:t>
            </a:r>
            <a:endParaRPr lang="en-US" sz="1900" dirty="0"/>
          </a:p>
        </p:txBody>
      </p:sp>
      <p:sp>
        <p:nvSpPr>
          <p:cNvPr id="8" name="Text 6"/>
          <p:cNvSpPr/>
          <p:nvPr/>
        </p:nvSpPr>
        <p:spPr>
          <a:xfrm>
            <a:off x="1965960" y="2331720"/>
            <a:ext cx="9052560" cy="365760"/>
          </a:xfrm>
          <a:prstGeom prst="rect">
            <a:avLst/>
          </a:prstGeom>
          <a:noFill/>
          <a:ln/>
        </p:spPr>
        <p:txBody>
          <a:bodyPr wrap="square" rtlCol="0" anchor="ctr"/>
          <a:lstStyle/>
          <a:p>
            <a:pPr marL="0" indent="0">
              <a:buNone/>
            </a:pPr>
            <a:r>
              <a:rPr lang="en-US" sz="1450" dirty="0">
                <a:solidFill>
                  <a:srgbClr val="8C8074"/>
                </a:solidFill>
                <a:latin typeface="Yu Gothic" pitchFamily="34" charset="0"/>
                <a:ea typeface="Yu Gothic" pitchFamily="34" charset="-122"/>
                <a:cs typeface="Yu Gothic" pitchFamily="34" charset="-120"/>
              </a:rPr>
              <a:t>すぐに始められて、効果を実感しやすい</a:t>
            </a:r>
            <a:endParaRPr lang="en-US" sz="1450" dirty="0"/>
          </a:p>
        </p:txBody>
      </p:sp>
      <p:sp>
        <p:nvSpPr>
          <p:cNvPr id="9" name="Shape 7"/>
          <p:cNvSpPr/>
          <p:nvPr/>
        </p:nvSpPr>
        <p:spPr>
          <a:xfrm>
            <a:off x="640080" y="3017520"/>
            <a:ext cx="10881360" cy="1051560"/>
          </a:xfrm>
          <a:prstGeom prst="roundRect">
            <a:avLst>
              <a:gd name="adj" fmla="val 6957"/>
            </a:avLst>
          </a:prstGeom>
          <a:solidFill>
            <a:srgbClr val="FFFFFF"/>
          </a:solidFill>
          <a:ln w="15240">
            <a:solidFill>
              <a:srgbClr val="E7E1DA"/>
            </a:solidFill>
            <a:prstDash val="solid"/>
          </a:ln>
        </p:spPr>
      </p:sp>
      <p:sp>
        <p:nvSpPr>
          <p:cNvPr id="10" name="Text 8"/>
          <p:cNvSpPr/>
          <p:nvPr/>
        </p:nvSpPr>
        <p:spPr>
          <a:xfrm>
            <a:off x="960120" y="3246120"/>
            <a:ext cx="594360" cy="594360"/>
          </a:xfrm>
          <a:prstGeom prst="rect">
            <a:avLst/>
          </a:prstGeom>
          <a:noFill/>
          <a:ln/>
        </p:spPr>
        <p:txBody>
          <a:bodyPr wrap="square" rtlCol="0" anchor="ctr"/>
          <a:lstStyle/>
          <a:p>
            <a:pPr marL="0" indent="0" algn="ctr">
              <a:buNone/>
            </a:pPr>
            <a:r>
              <a:rPr lang="en-US" sz="2800" b="1" dirty="0">
                <a:solidFill>
                  <a:srgbClr val="B4863E"/>
                </a:solidFill>
                <a:latin typeface="Yu Gothic" pitchFamily="34" charset="0"/>
                <a:ea typeface="Yu Gothic" pitchFamily="34" charset="-122"/>
                <a:cs typeface="Yu Gothic" pitchFamily="34" charset="-120"/>
              </a:rPr>
              <a:t>2</a:t>
            </a:r>
            <a:endParaRPr lang="en-US" sz="2800" dirty="0"/>
          </a:p>
        </p:txBody>
      </p:sp>
      <p:sp>
        <p:nvSpPr>
          <p:cNvPr id="11" name="Text 9"/>
          <p:cNvSpPr/>
          <p:nvPr/>
        </p:nvSpPr>
        <p:spPr>
          <a:xfrm>
            <a:off x="1783080" y="3108960"/>
            <a:ext cx="2743200" cy="292608"/>
          </a:xfrm>
          <a:prstGeom prst="rect">
            <a:avLst/>
          </a:prstGeom>
          <a:noFill/>
          <a:ln/>
        </p:spPr>
        <p:txBody>
          <a:bodyPr wrap="square" rtlCol="0" anchor="ctr"/>
          <a:lstStyle/>
          <a:p>
            <a:pPr marL="0" indent="0">
              <a:buNone/>
            </a:pPr>
            <a:r>
              <a:rPr lang="en-US" sz="1200" b="1" dirty="0">
                <a:solidFill>
                  <a:srgbClr val="B4863E"/>
                </a:solidFill>
                <a:latin typeface="Yu Gothic" pitchFamily="34" charset="0"/>
                <a:ea typeface="Yu Gothic" pitchFamily="34" charset="-122"/>
                <a:cs typeface="Yu Gothic" pitchFamily="34" charset="-120"/>
              </a:rPr>
              <a:t>さらに進んで</a:t>
            </a:r>
            <a:endParaRPr lang="en-US" sz="1200" dirty="0"/>
          </a:p>
        </p:txBody>
      </p:sp>
      <p:sp>
        <p:nvSpPr>
          <p:cNvPr id="12" name="Text 10"/>
          <p:cNvSpPr/>
          <p:nvPr/>
        </p:nvSpPr>
        <p:spPr>
          <a:xfrm>
            <a:off x="1783080" y="3383280"/>
            <a:ext cx="9509760" cy="457200"/>
          </a:xfrm>
          <a:prstGeom prst="rect">
            <a:avLst/>
          </a:prstGeom>
          <a:noFill/>
          <a:ln/>
        </p:spPr>
        <p:txBody>
          <a:bodyPr wrap="square" rtlCol="0" anchor="ctr"/>
          <a:lstStyle/>
          <a:p>
            <a:pPr marL="0" indent="0">
              <a:buNone/>
            </a:pPr>
            <a:r>
              <a:rPr lang="en-US" sz="1600" b="1" dirty="0">
                <a:solidFill>
                  <a:srgbClr val="3B322B"/>
                </a:solidFill>
                <a:latin typeface="Yu Gothic" pitchFamily="34" charset="0"/>
                <a:ea typeface="Yu Gothic" pitchFamily="34" charset="-122"/>
                <a:cs typeface="Yu Gothic" pitchFamily="34" charset="-120"/>
              </a:rPr>
              <a:t>⑥</a:t>
            </a:r>
            <a:r>
              <a:rPr lang="en-US" sz="1600" b="1" dirty="0" err="1">
                <a:solidFill>
                  <a:srgbClr val="3B322B"/>
                </a:solidFill>
                <a:latin typeface="Yu Gothic" pitchFamily="34" charset="0"/>
                <a:ea typeface="Yu Gothic" pitchFamily="34" charset="-122"/>
                <a:cs typeface="Yu Gothic" pitchFamily="34" charset="-120"/>
              </a:rPr>
              <a:t>スキル作成・改善</a:t>
            </a:r>
            <a:r>
              <a:rPr lang="en-US" sz="1600" b="1" dirty="0">
                <a:solidFill>
                  <a:srgbClr val="3B322B"/>
                </a:solidFill>
                <a:latin typeface="Yu Gothic" pitchFamily="34" charset="0"/>
                <a:ea typeface="Yu Gothic" pitchFamily="34" charset="-122"/>
                <a:cs typeface="Yu Gothic" pitchFamily="34" charset="-120"/>
              </a:rPr>
              <a:t>、⑦⑧</a:t>
            </a:r>
            <a:r>
              <a:rPr lang="en-US" sz="1600" b="1" dirty="0" err="1">
                <a:solidFill>
                  <a:srgbClr val="3B322B"/>
                </a:solidFill>
                <a:latin typeface="Yu Gothic" pitchFamily="34" charset="0"/>
                <a:ea typeface="Yu Gothic" pitchFamily="34" charset="-122"/>
                <a:cs typeface="Yu Gothic" pitchFamily="34" charset="-120"/>
              </a:rPr>
              <a:t>の検証ループへ</a:t>
            </a:r>
            <a:endParaRPr lang="en-US" sz="1600" dirty="0"/>
          </a:p>
        </p:txBody>
      </p:sp>
      <p:sp>
        <p:nvSpPr>
          <p:cNvPr id="16" name="Rectangle 3">
            <a:extLst>
              <a:ext uri="{FF2B5EF4-FFF2-40B4-BE49-F238E27FC236}">
                <a16:creationId xmlns:a16="http://schemas.microsoft.com/office/drawing/2014/main" id="{8E0373C4-2FB5-CF9E-FD58-AA8CED5EDA75}"/>
              </a:ext>
            </a:extLst>
          </p:cNvPr>
          <p:cNvSpPr/>
          <p:nvPr/>
        </p:nvSpPr>
        <p:spPr>
          <a:xfrm>
            <a:off x="676656" y="1225296"/>
            <a:ext cx="1097280" cy="44450"/>
          </a:xfrm>
          <a:prstGeom prst="rect">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822960" y="2461755"/>
            <a:ext cx="10515600" cy="914400"/>
          </a:xfrm>
          <a:prstGeom prst="rect">
            <a:avLst/>
          </a:prstGeom>
          <a:noFill/>
          <a:ln/>
        </p:spPr>
        <p:txBody>
          <a:bodyPr wrap="square" rtlCol="0" anchor="ctr"/>
          <a:lstStyle/>
          <a:p>
            <a:pPr marL="0" indent="0" algn="ctr">
              <a:buNone/>
            </a:pPr>
            <a:r>
              <a:rPr lang="en-US" sz="3600" b="1" dirty="0">
                <a:solidFill>
                  <a:srgbClr val="3B322B"/>
                </a:solidFill>
                <a:latin typeface="Yu Gothic" pitchFamily="34" charset="0"/>
                <a:ea typeface="Yu Gothic" pitchFamily="34" charset="-122"/>
                <a:cs typeface="Yu Gothic" pitchFamily="34" charset="-120"/>
              </a:rPr>
              <a:t>ご清聴ありがとうございました</a:t>
            </a:r>
            <a:endParaRPr lang="en-US" sz="3600" dirty="0"/>
          </a:p>
        </p:txBody>
      </p:sp>
      <p:sp>
        <p:nvSpPr>
          <p:cNvPr id="6" name="Text 4"/>
          <p:cNvSpPr/>
          <p:nvPr/>
        </p:nvSpPr>
        <p:spPr>
          <a:xfrm>
            <a:off x="822960" y="3266427"/>
            <a:ext cx="10515600" cy="457200"/>
          </a:xfrm>
          <a:prstGeom prst="rect">
            <a:avLst/>
          </a:prstGeom>
          <a:noFill/>
          <a:ln/>
        </p:spPr>
        <p:txBody>
          <a:bodyPr wrap="square" rtlCol="0" anchor="ctr"/>
          <a:lstStyle/>
          <a:p>
            <a:pPr marL="0" indent="0" algn="ctr">
              <a:buNone/>
            </a:pPr>
            <a:r>
              <a:rPr lang="en-US" sz="1400" dirty="0">
                <a:solidFill>
                  <a:srgbClr val="8C8074"/>
                </a:solidFill>
                <a:latin typeface="Yu Gothic" pitchFamily="34" charset="0"/>
                <a:ea typeface="Yu Gothic" pitchFamily="34" charset="-122"/>
                <a:cs typeface="Yu Gothic" pitchFamily="34" charset="-120"/>
              </a:rPr>
              <a:t>Claude Codeの活用方法　〜使い始めた人が、次の一歩を踏み出すために〜</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2024</TotalTime>
  <Words>2111</Words>
  <Application>Microsoft Macintosh PowerPoint</Application>
  <PresentationFormat>ワイド画面</PresentationFormat>
  <Paragraphs>256</Paragraphs>
  <Slides>24</Slides>
  <Notes>11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24</vt:i4>
      </vt:variant>
    </vt:vector>
  </HeadingPairs>
  <TitlesOfParts>
    <vt:vector size="29" baseType="lpstr">
      <vt:lpstr>游ゴシック</vt:lpstr>
      <vt:lpstr>游ゴシック</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Codeの活用方法</dc:title>
  <dc:subject>社内勉強会 発表資料</dc:subject>
  <dc:creator/>
  <cp:keywords/>
  <dc:description>generated using python-pptx</dc:description>
  <cp:lastModifiedBy>裕樹 糸久</cp:lastModifiedBy>
  <cp:revision>41</cp:revision>
  <dcterms:created xsi:type="dcterms:W3CDTF">2013-01-27T09:14:16Z</dcterms:created>
  <dcterms:modified xsi:type="dcterms:W3CDTF">2026-09-06T05:06:02Z</dcterms:modified>
  <cp:category/>
</cp:coreProperties>
</file>